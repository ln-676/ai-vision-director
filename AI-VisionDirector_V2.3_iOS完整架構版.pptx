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7c987026204839" /><Relationship Type="http://schemas.openxmlformats.org/officeDocument/2006/relationships/extended-properties" Target="/docProps/app.xml" Id="Rfbdefce0758a46e1" /><Relationship Type="http://schemas.openxmlformats.org/officeDocument/2006/relationships/officeDocument" Target="/ppt/presentation.xml" Id="R7e84ab3f78b6440a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235ffbbbd6a44afe"/>
  </p:sldMasterIdLst>
  <p:notesMasterIdLst>
    <p:notesMasterId xmlns:r="http://schemas.openxmlformats.org/officeDocument/2006/relationships" r:id="Rb49093aa655c4058"/>
  </p:notesMasterIdLst>
  <p:sldIdLst>
    <p:sldId xmlns:r="http://schemas.openxmlformats.org/officeDocument/2006/relationships" id="256" r:id="Rb44845e395e4409b"/>
    <p:sldId xmlns:r="http://schemas.openxmlformats.org/officeDocument/2006/relationships" id="257" r:id="R1e706df0a2bb48b2"/>
    <p:sldId xmlns:r="http://schemas.openxmlformats.org/officeDocument/2006/relationships" id="258" r:id="R653f20fa3a634115"/>
    <p:sldId xmlns:r="http://schemas.openxmlformats.org/officeDocument/2006/relationships" id="259" r:id="R9ac840f0bd524e6b"/>
    <p:sldId xmlns:r="http://schemas.openxmlformats.org/officeDocument/2006/relationships" id="260" r:id="Rbcd80dee28d04188"/>
    <p:sldId xmlns:r="http://schemas.openxmlformats.org/officeDocument/2006/relationships" id="261" r:id="Rafa92ff090c445df"/>
    <p:sldId xmlns:r="http://schemas.openxmlformats.org/officeDocument/2006/relationships" id="262" r:id="Rdc005fbbb65446de"/>
    <p:sldId xmlns:r="http://schemas.openxmlformats.org/officeDocument/2006/relationships" id="263" r:id="Rc502c99ec3224420"/>
    <p:sldId xmlns:r="http://schemas.openxmlformats.org/officeDocument/2006/relationships" id="264" r:id="Rff2c58bbecdd41f1"/>
    <p:sldId xmlns:r="http://schemas.openxmlformats.org/officeDocument/2006/relationships" id="265" r:id="Rbc72a147c5c643e7"/>
    <p:sldId xmlns:r="http://schemas.openxmlformats.org/officeDocument/2006/relationships" id="266" r:id="Ref3340efc2b8436f"/>
    <p:sldId xmlns:r="http://schemas.openxmlformats.org/officeDocument/2006/relationships" id="267" r:id="R5798c366f9164460"/>
    <p:sldId xmlns:r="http://schemas.openxmlformats.org/officeDocument/2006/relationships" id="268" r:id="R5934d8a836034af6"/>
    <p:sldId xmlns:r="http://schemas.openxmlformats.org/officeDocument/2006/relationships" id="269" r:id="R2efd0a2bf78440c3"/>
    <p:sldId xmlns:r="http://schemas.openxmlformats.org/officeDocument/2006/relationships" id="270" r:id="Rfecc8158d4724f91"/>
    <p:sldId xmlns:r="http://schemas.openxmlformats.org/officeDocument/2006/relationships" id="271" r:id="R3225fa55f7744fca"/>
    <p:sldId xmlns:r="http://schemas.openxmlformats.org/officeDocument/2006/relationships" id="272" r:id="R3f92e2256938448b"/>
    <p:sldId xmlns:r="http://schemas.openxmlformats.org/officeDocument/2006/relationships" id="273" r:id="R579c8c0cc4cb4eac"/>
    <p:sldId xmlns:r="http://schemas.openxmlformats.org/officeDocument/2006/relationships" id="274" r:id="R44228043803244bb"/>
    <p:sldId xmlns:r="http://schemas.openxmlformats.org/officeDocument/2006/relationships" id="275" r:id="R882ca8bd29494926"/>
    <p:sldId xmlns:r="http://schemas.openxmlformats.org/officeDocument/2006/relationships" id="276" r:id="Rd9ed5af4d1d947cb"/>
    <p:sldId xmlns:r="http://schemas.openxmlformats.org/officeDocument/2006/relationships" id="277" r:id="R726c1d07b3fa4a9b"/>
    <p:sldId xmlns:r="http://schemas.openxmlformats.org/officeDocument/2006/relationships" id="278" r:id="Rb3f83219c4574aeb"/>
    <p:sldId xmlns:r="http://schemas.openxmlformats.org/officeDocument/2006/relationships" id="279" r:id="R76fafce2b1424052"/>
    <p:sldId xmlns:r="http://schemas.openxmlformats.org/officeDocument/2006/relationships" id="280" r:id="Re4c9f3de0e074a09"/>
    <p:sldId xmlns:r="http://schemas.openxmlformats.org/officeDocument/2006/relationships" id="281" r:id="Rf7db0d1dfea142f7"/>
    <p:sldId xmlns:r="http://schemas.openxmlformats.org/officeDocument/2006/relationships" id="282" r:id="R7d8d79957e594632"/>
  </p:sldIdLst>
  <p:sldSz cx="12191675" cy="6858000"/>
  <p:notesSz cx="6858000" cy="9144000"/>
  <p:embeddedFontLst>
    <p:embeddedFont>
      <p:font typeface="Play"/>
      <p:regular xmlns:r="http://schemas.openxmlformats.org/officeDocument/2006/relationships" r:id="R238416a73ef34b7b"/>
      <p:bold xmlns:r="http://schemas.openxmlformats.org/officeDocument/2006/relationships" r:id="Rf02fded93fb1492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1782b3eda14fcf" /><Relationship Type="http://schemas.openxmlformats.org/officeDocument/2006/relationships/slideMaster" Target="/ppt/slideMasters/slideMaster1.xml" Id="R235ffbbbd6a44afe" /><Relationship Type="http://schemas.openxmlformats.org/officeDocument/2006/relationships/notesMaster" Target="/ppt/notesMasters/notesMaster1.xml" Id="Rb49093aa655c4058" /><Relationship Type="http://schemas.openxmlformats.org/officeDocument/2006/relationships/presProps" Target="/ppt/presProps.xml" Id="Rd309661ea4bb4645" /><Relationship Type="http://schemas.openxmlformats.org/officeDocument/2006/relationships/tableStyles" Target="/ppt/tableStyles.xml" Id="R4ea2eab412a84ffc" /><Relationship Type="http://schemas.openxmlformats.org/officeDocument/2006/relationships/font" Target="/ppt/fonts/font.dat" Id="R238416a73ef34b7b" /><Relationship Type="http://schemas.openxmlformats.org/officeDocument/2006/relationships/font" Target="/ppt/fonts/font2.dat" Id="Rf02fded93fb14925" /><Relationship Type="http://schemas.openxmlformats.org/officeDocument/2006/relationships/slide" Target="/ppt/slides/slide1.xml" Id="Rb44845e395e4409b" /><Relationship Type="http://schemas.openxmlformats.org/officeDocument/2006/relationships/slide" Target="/ppt/slides/slide2.xml" Id="R1e706df0a2bb48b2" /><Relationship Type="http://schemas.openxmlformats.org/officeDocument/2006/relationships/slide" Target="/ppt/slides/slide3.xml" Id="R653f20fa3a634115" /><Relationship Type="http://schemas.openxmlformats.org/officeDocument/2006/relationships/slide" Target="/ppt/slides/slide4.xml" Id="R9ac840f0bd524e6b" /><Relationship Type="http://schemas.openxmlformats.org/officeDocument/2006/relationships/slide" Target="/ppt/slides/slide5.xml" Id="Rbcd80dee28d04188" /><Relationship Type="http://schemas.openxmlformats.org/officeDocument/2006/relationships/slide" Target="/ppt/slides/slide6.xml" Id="Rafa92ff090c445df" /><Relationship Type="http://schemas.openxmlformats.org/officeDocument/2006/relationships/slide" Target="/ppt/slides/slide7.xml" Id="Rdc005fbbb65446de" /><Relationship Type="http://schemas.openxmlformats.org/officeDocument/2006/relationships/slide" Target="/ppt/slides/slide8.xml" Id="Rc502c99ec3224420" /><Relationship Type="http://schemas.openxmlformats.org/officeDocument/2006/relationships/slide" Target="/ppt/slides/slide9.xml" Id="Rff2c58bbecdd41f1" /><Relationship Type="http://schemas.openxmlformats.org/officeDocument/2006/relationships/slide" Target="/ppt/slides/slide10.xml" Id="Rbc72a147c5c643e7" /><Relationship Type="http://schemas.openxmlformats.org/officeDocument/2006/relationships/slide" Target="/ppt/slides/slide11.xml" Id="Ref3340efc2b8436f" /><Relationship Type="http://schemas.openxmlformats.org/officeDocument/2006/relationships/slide" Target="/ppt/slides/slide12.xml" Id="R5798c366f9164460" /><Relationship Type="http://schemas.openxmlformats.org/officeDocument/2006/relationships/slide" Target="/ppt/slides/slide13.xml" Id="R5934d8a836034af6" /><Relationship Type="http://schemas.openxmlformats.org/officeDocument/2006/relationships/slide" Target="/ppt/slides/slide14.xml" Id="R2efd0a2bf78440c3" /><Relationship Type="http://schemas.openxmlformats.org/officeDocument/2006/relationships/slide" Target="/ppt/slides/slide15.xml" Id="Rfecc8158d4724f91" /><Relationship Type="http://schemas.openxmlformats.org/officeDocument/2006/relationships/slide" Target="/ppt/slides/slide16.xml" Id="R3225fa55f7744fca" /><Relationship Type="http://schemas.openxmlformats.org/officeDocument/2006/relationships/slide" Target="/ppt/slides/slide17.xml" Id="R3f92e2256938448b" /><Relationship Type="http://schemas.openxmlformats.org/officeDocument/2006/relationships/slide" Target="/ppt/slides/slide18.xml" Id="R579c8c0cc4cb4eac" /><Relationship Type="http://schemas.openxmlformats.org/officeDocument/2006/relationships/slide" Target="/ppt/slides/slide19.xml" Id="R44228043803244bb" /><Relationship Type="http://schemas.openxmlformats.org/officeDocument/2006/relationships/slide" Target="/ppt/slides/slide20.xml" Id="R882ca8bd29494926" /><Relationship Type="http://schemas.openxmlformats.org/officeDocument/2006/relationships/slide" Target="/ppt/slides/slide21.xml" Id="Rd9ed5af4d1d947cb" /><Relationship Type="http://schemas.openxmlformats.org/officeDocument/2006/relationships/slide" Target="/ppt/slides/slide22.xml" Id="R726c1d07b3fa4a9b" /><Relationship Type="http://schemas.openxmlformats.org/officeDocument/2006/relationships/slide" Target="/ppt/slides/slide23.xml" Id="Rb3f83219c4574aeb" /><Relationship Type="http://schemas.openxmlformats.org/officeDocument/2006/relationships/slide" Target="/ppt/slides/slide24.xml" Id="R76fafce2b1424052" /><Relationship Type="http://schemas.openxmlformats.org/officeDocument/2006/relationships/slide" Target="/ppt/slides/slide25.xml" Id="Re4c9f3de0e074a09" /><Relationship Type="http://schemas.openxmlformats.org/officeDocument/2006/relationships/slide" Target="/ppt/slides/slide26.xml" Id="Rf7db0d1dfea142f7" /><Relationship Type="http://schemas.openxmlformats.org/officeDocument/2006/relationships/slide" Target="/ppt/slides/slide27.xml" Id="R7d8d79957e5946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8a734dbc6449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5ED1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4e6510e51f4c6e" /><Relationship Type="http://schemas.openxmlformats.org/officeDocument/2006/relationships/notesMaster" Target="/ppt/notesMasters/notesMaster1.xml" Id="R86f6c4131fb947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93fc1279504398" /><Relationship Type="http://schemas.openxmlformats.org/officeDocument/2006/relationships/notesMaster" Target="/ppt/notesMasters/notesMaster1.xml" Id="R6d604246f6344b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5e061c61674ecc" /><Relationship Type="http://schemas.openxmlformats.org/officeDocument/2006/relationships/notesMaster" Target="/ppt/notesMasters/notesMaster1.xml" Id="Reab33f08d43441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a4db2285b5494b" /><Relationship Type="http://schemas.openxmlformats.org/officeDocument/2006/relationships/notesMaster" Target="/ppt/notesMasters/notesMaster1.xml" Id="R933f30d8505944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0507ceac884d0d" /><Relationship Type="http://schemas.openxmlformats.org/officeDocument/2006/relationships/notesMaster" Target="/ppt/notesMasters/notesMaster1.xml" Id="R8c7df06e26f043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64ba27ee7a48de" /><Relationship Type="http://schemas.openxmlformats.org/officeDocument/2006/relationships/notesMaster" Target="/ppt/notesMasters/notesMaster1.xml" Id="R167d4e9b860947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e0e55a702749bc" /><Relationship Type="http://schemas.openxmlformats.org/officeDocument/2006/relationships/notesMaster" Target="/ppt/notesMasters/notesMaster1.xml" Id="R03fbf13e2b8b41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4cebec3e6e4a56" /><Relationship Type="http://schemas.openxmlformats.org/officeDocument/2006/relationships/notesMaster" Target="/ppt/notesMasters/notesMaster1.xml" Id="Ra95f5e7dab304a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20f674bdfc42df" /><Relationship Type="http://schemas.openxmlformats.org/officeDocument/2006/relationships/notesMaster" Target="/ppt/notesMasters/notesMaster1.xml" Id="Rde8d16199b3a42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bc15740411424d" /><Relationship Type="http://schemas.openxmlformats.org/officeDocument/2006/relationships/notesMaster" Target="/ppt/notesMasters/notesMaster1.xml" Id="R171297795c4341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ceb4d005774faf" /><Relationship Type="http://schemas.openxmlformats.org/officeDocument/2006/relationships/notesMaster" Target="/ppt/notesMasters/notesMaster1.xml" Id="R21170e1bfb254b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eebe0f88f4433d" /><Relationship Type="http://schemas.openxmlformats.org/officeDocument/2006/relationships/notesMaster" Target="/ppt/notesMasters/notesMaster1.xml" Id="R4ace04809c104fd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fe134fe9f344a6" /><Relationship Type="http://schemas.openxmlformats.org/officeDocument/2006/relationships/notesMaster" Target="/ppt/notesMasters/notesMaster1.xml" Id="Rcd673275f04f4d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e10dbfa58b4053" /><Relationship Type="http://schemas.openxmlformats.org/officeDocument/2006/relationships/notesMaster" Target="/ppt/notesMasters/notesMaster1.xml" Id="R3d5e0b42266b44a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0f486681bec42b1" /><Relationship Type="http://schemas.openxmlformats.org/officeDocument/2006/relationships/notesMaster" Target="/ppt/notesMasters/notesMaster1.xml" Id="R583a1f66404946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b28be439ae042c1" /><Relationship Type="http://schemas.openxmlformats.org/officeDocument/2006/relationships/notesMaster" Target="/ppt/notesMasters/notesMaster1.xml" Id="R95993493c77745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0aeaf8dd4e432b" /><Relationship Type="http://schemas.openxmlformats.org/officeDocument/2006/relationships/notesMaster" Target="/ppt/notesMasters/notesMaster1.xml" Id="Rdc25cc8315d74d2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d4bd8d05caf47b6" /><Relationship Type="http://schemas.openxmlformats.org/officeDocument/2006/relationships/notesMaster" Target="/ppt/notesMasters/notesMaster1.xml" Id="Ra2095330bad846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5815edeb044c2d" /><Relationship Type="http://schemas.openxmlformats.org/officeDocument/2006/relationships/notesMaster" Target="/ppt/notesMasters/notesMaster1.xml" Id="Reb2fac8e6a9a47a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4b3372abc96400f" /><Relationship Type="http://schemas.openxmlformats.org/officeDocument/2006/relationships/notesMaster" Target="/ppt/notesMasters/notesMaster1.xml" Id="R8ca211bf3a77424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8db2fca7631469d" /><Relationship Type="http://schemas.openxmlformats.org/officeDocument/2006/relationships/notesMaster" Target="/ppt/notesMasters/notesMaster1.xml" Id="R8bd428bfc6f345f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15b8e3ca9c644d8" /><Relationship Type="http://schemas.openxmlformats.org/officeDocument/2006/relationships/notesMaster" Target="/ppt/notesMasters/notesMaster1.xml" Id="R84841a77ca8b49e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18a0a55d870426e" /><Relationship Type="http://schemas.openxmlformats.org/officeDocument/2006/relationships/notesMaster" Target="/ppt/notesMasters/notesMaster1.xml" Id="R77359fcc4219498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5a5a94e64124afe" /><Relationship Type="http://schemas.openxmlformats.org/officeDocument/2006/relationships/notesMaster" Target="/ppt/notesMasters/notesMaster1.xml" Id="R073d2aac49ba42a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35ee865631c480f" /><Relationship Type="http://schemas.openxmlformats.org/officeDocument/2006/relationships/notesMaster" Target="/ppt/notesMasters/notesMaster1.xml" Id="R9250d4cdd65c478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65542f35cb04b6a" /><Relationship Type="http://schemas.openxmlformats.org/officeDocument/2006/relationships/notesMaster" Target="/ppt/notesMasters/notesMaster1.xml" Id="Rd8746f99eea34ff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0a372b10c4f4bed" /><Relationship Type="http://schemas.openxmlformats.org/officeDocument/2006/relationships/notesMaster" Target="/ppt/notesMasters/notesMaster1.xml" Id="R02d5d13a6a2d41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開場：這是一個從攝影師工作現場痛點出發的個人化 AI 拍攝助理，不是要取代攝影師，而是把追車這類高重複、高疲勞的工作交給機器。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這頁用故事打開，不要先講技術。重點是：這個專案不是憑空想像，是從實際拍攝痛點開始。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這頁補上產業現況：多機直播需求存在，但人力、成本與穩定度是痛點。資料可引用公開服務頁面，避免只憑感覺。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承接前面：這裡明確提出痛點。強調問題在於長時間的人力穩定度與成本，而不是攝影師技術不夠。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這頁要把目標講清楚，避免觀眾誤解成替代攝影師。人做創意、判斷、控場；機器做重複追蹤。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ios/DockKitTester/README.md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DockKitTesterApp.swift and ContentView.swift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CameraSessionService.swift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V13NetworkClient.swift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GimbalControlService.swift and GimbalVelocity.swift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DockKitManager.swift and TrackingCommand.swift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ios/DockKitTester/README.md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DockKitTesterApp.swift and ContentView.swift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CameraSessionService.swift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V13NetworkClient.swift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GimbalControlService.swift and GimbalVelocity.swift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DockKitManager.swift and TrackingCommand.swift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ios/DockKitTester/README.md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DockKitTesterApp.swift and ContentView.swift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CameraSessionService.swift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V13NetworkClient.swift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GimbalControlService.swift and GimbalVelocity.swift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DockKitManager.swift and TrackingCommand.swift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這頁要用簡單語言講：YOLO 不差，它是偵測器；但專案真正的 know-how 是跨場景找回同一台車。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這頁把操作流程講成解決方案，讓評審知道 ReID 不是抽象名詞，而是有 UI 流程與資料庫。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這是技術簡報很重要的一頁，建議上台時一定要停一下講清楚。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這頁深入但不要太硬。重點是：ReID 資料庫不是亂存照片，而是要防止錯車資料污染。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Demo 頁：這裡留給你放圖或影片。建議不要只播影片，要搭配右側流程讓觀眾知道該看什麼。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Demo 頁：這裡留給你放圖或影片。建議不要只播影片，要搭配右側流程讓觀眾知道該看什麼。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Demo 頁：這裡留給你放圖或影片。建議不要只播影片，要搭配右側流程讓觀眾知道該看什麼。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這頁要誠實說明：目前是工程估算與測試目標，正式數字要由 demo 影片標註、統計 ID switch、reacquire success、tracking lost ratio 後確認。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這頁用數字呈現技術效果，讓觀眾覺得不是只有偵測，而是有處理直播畫面的細節。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Demo 頁：這裡留給你放圖或影片。建議不要只播影片，要搭配右側流程讓觀眾知道該看什麼。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這頁要把困難講成下一步規劃，不要像是專案失敗。重點是：我們知道問題在哪，也知道工程解法與 KPI。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這頁已依需求移除金額，只留下百分比。請上台時強調比例與工作量變化，不要停留在價格。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最後收斂成願景：不是只做賽車，而是以賽車作為高難度場景驗證，未來可擴展到更多直播和拍攝場景。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/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[Sources]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README.md (Desktop V2.3 / iOS V2.2 architecture and operation)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CHANGELOG.md (V2.3 current behavior)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docs/architecture/benchmark-center.md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docs/architecture/framing-engine.md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docs/architecture/camera-control-policy.md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docs/architecture/identity-components.md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docs/architecture/feature-gallery-components.md</a:t>
            </a: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- Local repository: docs/architecture/websocket-components.md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561b203f764d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c463acd3244e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c0b8ee242e49ff" /></Relationships>
</file>

<file path=ppt/slideLayouts/slideLayout1.xml><?xml version="1.0" encoding="utf-8"?>
<p:sldLayout xmlns:p="http://schemas.openxmlformats.org/presentationml/2006/main" matchingName="RACING">
  <p:cSld name="RACING"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Google Shape;12;p26"/>
          <p:cNvCxnSpPr/>
          <p:nvPr/>
        </p:nvCxnSpPr>
        <p:spPr>
          <a:xfrm xmlns:a="http://schemas.openxmlformats.org/drawingml/2006/main">
            <a:off x="0" y="0"/>
            <a:ext cx="12191695" cy="0"/>
          </a:xfrm>
          <a:prstGeom xmlns:a="http://schemas.openxmlformats.org/drawingml/2006/main" prst="straightConnector1">
            <a:avLst/>
          </a:prstGeom>
          <a:ln xmlns:a="http://schemas.openxmlformats.org/drawingml/2006/main" w="16500" cap="flat">
            <a:solidFill>
              <a:srgbClr val="FF4D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13;p26"/>
          <p:cNvCxnSpPr/>
          <p:nvPr/>
        </p:nvCxnSpPr>
        <p:spPr>
          <a:xfrm xmlns:a="http://schemas.openxmlformats.org/drawingml/2006/main">
            <a:off x="0" y="6784848"/>
            <a:ext cx="1219169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12D6DF">
                <a:alpha val="7490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6">
            <a:extLst xmlns:a="http://schemas.openxmlformats.org/drawingml/2006/main">
              <a:ext uri="{FF2B5EF4-FFF2-40B4-BE49-F238E27FC236}">
                <a16:creationId xmlns:a16="http://schemas.microsoft.com/office/drawing/2014/main" id="{25301934-E341-4267-8F20-C16F0F6D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6519672"/>
            <a:ext cx="173736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680"/>
              <a:buFont typeface="Microsoft JhengHei"/>
              <a:buNone/>
            </a:pPr>
            <a:r>
              <a:rPr sz="680" b="0" i="0" u="none" cap="none">
                <a:solidFill>
                  <a:srgbClr val="7C8A99"/>
                </a:solidFill>
                <a:latin typeface="Microsoft JhengHei"/>
                <a:ea typeface="Microsoft JhengHei"/>
                <a:cs typeface="Microsoft JhengHei"/>
              </a:rPr>
              <a:t>AI Vision Director V2.3</a:t>
            </a:r>
          </a:p>
        </p:txBody>
      </p:sp>
      <p:sp>
        <p:nvSpPr>
          <p:cNvPr id="15" name="Google Shape;15;p26">
            <a:extLst xmlns:a="http://schemas.openxmlformats.org/drawingml/2006/main">
              <a:ext uri="{FF2B5EF4-FFF2-40B4-BE49-F238E27FC236}">
                <a16:creationId xmlns:a16="http://schemas.microsoft.com/office/drawing/2014/main" id="{B896D374-DC65-47C6-9707-9DDD8D0909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e982794a3d46e6" /><Relationship Type="http://schemas.openxmlformats.org/officeDocument/2006/relationships/slideLayout" Target="/ppt/slideLayouts/slideLayout1.xml" Id="R11205bbe41ea46b5" /><Relationship Type="http://schemas.openxmlformats.org/officeDocument/2006/relationships/slideLayout" Target="/ppt/slideLayouts/slideLayout2.xml" Id="R492513797be94869" /><Relationship Type="http://schemas.openxmlformats.org/officeDocument/2006/relationships/slideLayout" Target="/ppt/slideLayouts/slideLayout3.xml" Id="Rb8f51d49f1be416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5">
            <a:extLst xmlns:a="http://schemas.openxmlformats.org/drawingml/2006/main">
              <a:ext uri="{FF2B5EF4-FFF2-40B4-BE49-F238E27FC236}">
                <a16:creationId xmlns:a16="http://schemas.microsoft.com/office/drawing/2014/main" id="{9978EE74-4CD9-4B43-BD05-542D8B86C9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  <a:def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205bbe41ea46b5"/>
    <p:sldLayoutId xmlns:r="http://schemas.openxmlformats.org/officeDocument/2006/relationships" id="2147483650" r:id="R492513797be94869"/>
    <p:sldLayoutId xmlns:r="http://schemas.openxmlformats.org/officeDocument/2006/relationships" id="2147483651" r:id="Rb8f51d49f1be416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5ED1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ed5c94da44981" /><Relationship Type="http://schemas.openxmlformats.org/officeDocument/2006/relationships/image" Target="/ppt/media/image.png" Id="Rfc1c0490aee043c0" /><Relationship Type="http://schemas.openxmlformats.org/officeDocument/2006/relationships/notesSlide" Target="/ppt/notesSlides/notesSlide1.xml" Id="R7cf6f62d7c6a4e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983e7917f4f19" /><Relationship Type="http://schemas.openxmlformats.org/officeDocument/2006/relationships/image" Target="/ppt/media/image.jpeg" Id="Raa08ca9290ce40bb" /><Relationship Type="http://schemas.openxmlformats.org/officeDocument/2006/relationships/image" Target="/ppt/media/image2.jpeg" Id="R86ccd8f2daa14901" /><Relationship Type="http://schemas.openxmlformats.org/officeDocument/2006/relationships/image" Target="/ppt/media/image2.png" Id="Ra788f8cbd3934d66" /><Relationship Type="http://schemas.openxmlformats.org/officeDocument/2006/relationships/notesSlide" Target="/ppt/notesSlides/notesSlide2.xml" Id="R519137637ce649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2970867ae4fad" /><Relationship Type="http://schemas.openxmlformats.org/officeDocument/2006/relationships/image" Target="/ppt/media/image3.png" Id="R0e6011602ad34afc" /><Relationship Type="http://schemas.openxmlformats.org/officeDocument/2006/relationships/image" Target="/ppt/media/image4.png" Id="Reafe1033fef74ba2" /><Relationship Type="http://schemas.openxmlformats.org/officeDocument/2006/relationships/image" Target="/ppt/media/image5.png" Id="Rd2a7a177d1d64163" /><Relationship Type="http://schemas.openxmlformats.org/officeDocument/2006/relationships/notesSlide" Target="/ppt/notesSlides/notesSlide3.xml" Id="Rff3878c4ca484b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b7142f5224156" /><Relationship Type="http://schemas.openxmlformats.org/officeDocument/2006/relationships/image" Target="/ppt/media/image6.png" Id="R36dbb183f1d34c41" /><Relationship Type="http://schemas.openxmlformats.org/officeDocument/2006/relationships/image" Target="/ppt/media/image7.png" Id="Rcd86280c6a1c425f" /><Relationship Type="http://schemas.openxmlformats.org/officeDocument/2006/relationships/image" Target="/ppt/media/image8.png" Id="R99fcc753699c4710" /><Relationship Type="http://schemas.openxmlformats.org/officeDocument/2006/relationships/notesSlide" Target="/ppt/notesSlides/notesSlide4.xml" Id="R38d41f7c95ae41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f7d43beb8406c" /><Relationship Type="http://schemas.openxmlformats.org/officeDocument/2006/relationships/image" Target="/ppt/media/image9.png" Id="R13998f289f7e4055" /><Relationship Type="http://schemas.openxmlformats.org/officeDocument/2006/relationships/image" Target="/ppt/media/image10.png" Id="Rbec8c6afbcdd42f3" /><Relationship Type="http://schemas.openxmlformats.org/officeDocument/2006/relationships/notesSlide" Target="/ppt/notesSlides/notesSlide5.xml" Id="R5f61edd01b1248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1172b24a1848e8" /><Relationship Type="http://schemas.openxmlformats.org/officeDocument/2006/relationships/image" Target="/ppt/media/image11.png" Id="Rfb5ebdeb1e274c7b" /><Relationship Type="http://schemas.openxmlformats.org/officeDocument/2006/relationships/image" Target="/ppt/media/image12.png" Id="R920d975b8323483c" /><Relationship Type="http://schemas.openxmlformats.org/officeDocument/2006/relationships/image" Target="/ppt/media/image13.png" Id="R28dba4708c714159" /><Relationship Type="http://schemas.openxmlformats.org/officeDocument/2006/relationships/notesSlide" Target="/ppt/notesSlides/notesSlide6.xml" Id="R3c37cb4fb2014a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8561b03ffd4b30" /><Relationship Type="http://schemas.openxmlformats.org/officeDocument/2006/relationships/notesSlide" Target="/ppt/notesSlides/notesSlide7.xml" Id="R0b1237a20fa448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9d13460cf24043" /><Relationship Type="http://schemas.openxmlformats.org/officeDocument/2006/relationships/notesSlide" Target="/ppt/notesSlides/notesSlide8.xml" Id="R381bdb5d037f48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829ce6ca304e5d" /><Relationship Type="http://schemas.openxmlformats.org/officeDocument/2006/relationships/notesSlide" Target="/ppt/notesSlides/notesSlide9.xml" Id="R13d462dd89d242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688744a6c34c84" /><Relationship Type="http://schemas.openxmlformats.org/officeDocument/2006/relationships/image" Target="/ppt/media/image3.jpeg" Id="R7f893b0f526e473a" /><Relationship Type="http://schemas.openxmlformats.org/officeDocument/2006/relationships/notesSlide" Target="/ppt/notesSlides/notesSlide10.xml" Id="R6b59102aaf1e42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98d0410d245d3" /><Relationship Type="http://schemas.openxmlformats.org/officeDocument/2006/relationships/image" Target="/ppt/media/image14.png" Id="Rc81b22d5d94e45f6" /><Relationship Type="http://schemas.openxmlformats.org/officeDocument/2006/relationships/image" Target="/ppt/media/image15.png" Id="Rf65096083b6c4c73" /><Relationship Type="http://schemas.openxmlformats.org/officeDocument/2006/relationships/notesSlide" Target="/ppt/notesSlides/notesSlide11.xml" Id="R2c065806a76b4c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96d2d65c74c95" /><Relationship Type="http://schemas.openxmlformats.org/officeDocument/2006/relationships/image" Target="/ppt/media/image16.png" Id="R503f0dc2111644ef" /><Relationship Type="http://schemas.openxmlformats.org/officeDocument/2006/relationships/image" Target="/ppt/media/image17.png" Id="R36b26ed0af604752" /><Relationship Type="http://schemas.openxmlformats.org/officeDocument/2006/relationships/image" Target="/ppt/media/image18.png" Id="R738728e9dcb84040" /><Relationship Type="http://schemas.openxmlformats.org/officeDocument/2006/relationships/notesSlide" Target="/ppt/notesSlides/notesSlide12.xml" Id="Rf6416904b6e848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181448d4e413d" /><Relationship Type="http://schemas.openxmlformats.org/officeDocument/2006/relationships/image" Target="/ppt/media/image19.png" Id="R98fc62e23df84938" /><Relationship Type="http://schemas.openxmlformats.org/officeDocument/2006/relationships/image" Target="/ppt/media/image20.png" Id="R84c7bc0854ce4ca4" /><Relationship Type="http://schemas.openxmlformats.org/officeDocument/2006/relationships/notesSlide" Target="/ppt/notesSlides/notesSlide13.xml" Id="Rd45f023acaf540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aa46c12f34be6" /><Relationship Type="http://schemas.openxmlformats.org/officeDocument/2006/relationships/image" Target="/ppt/media/image21.png" Id="Rca37eb6c51494515" /><Relationship Type="http://schemas.openxmlformats.org/officeDocument/2006/relationships/image" Target="/ppt/media/image22.png" Id="R5218cced206a4514" /><Relationship Type="http://schemas.openxmlformats.org/officeDocument/2006/relationships/image" Target="/ppt/media/image23.png" Id="Rea5da0c3f13c4bd2" /><Relationship Type="http://schemas.openxmlformats.org/officeDocument/2006/relationships/image" Target="/ppt/media/image24.png" Id="R96684750b7a24a62" /><Relationship Type="http://schemas.openxmlformats.org/officeDocument/2006/relationships/image" Target="/ppt/media/image25.png" Id="R1ce90737b1714f1b" /><Relationship Type="http://schemas.openxmlformats.org/officeDocument/2006/relationships/image" Target="/ppt/media/image26.png" Id="Rb35c62d33ffa4570" /><Relationship Type="http://schemas.openxmlformats.org/officeDocument/2006/relationships/notesSlide" Target="/ppt/notesSlides/notesSlide14.xml" Id="Ra64eb68835da4c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74f1c9fec409c" /><Relationship Type="http://schemas.openxmlformats.org/officeDocument/2006/relationships/image" Target="/ppt/media/image27.png" Id="R84c6a6e5ed934fa6" /><Relationship Type="http://schemas.openxmlformats.org/officeDocument/2006/relationships/notesSlide" Target="/ppt/notesSlides/notesSlide15.xml" Id="R5ff24f665122431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623ecbf054063" /><Relationship Type="http://schemas.openxmlformats.org/officeDocument/2006/relationships/image" Target="/ppt/media/image28.png" Id="R541e0d08efa840c9" /><Relationship Type="http://schemas.openxmlformats.org/officeDocument/2006/relationships/notesSlide" Target="/ppt/notesSlides/notesSlide16.xml" Id="R9b15db1e178941b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49a118354471c" /><Relationship Type="http://schemas.openxmlformats.org/officeDocument/2006/relationships/image" Target="/ppt/media/image4.jpeg" Id="Rbb9888c70a3c460c" /><Relationship Type="http://schemas.openxmlformats.org/officeDocument/2006/relationships/notesSlide" Target="/ppt/notesSlides/notesSlide17.xml" Id="Rb4d3b45c7e564f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af4fe7b0e44e1" /><Relationship Type="http://schemas.openxmlformats.org/officeDocument/2006/relationships/image" Target="/ppt/media/image22.png" Id="R2017789c82c14e1e" /><Relationship Type="http://schemas.openxmlformats.org/officeDocument/2006/relationships/image" Target="/ppt/media/image24.png" Id="R2f3d1b4926104396" /><Relationship Type="http://schemas.openxmlformats.org/officeDocument/2006/relationships/notesSlide" Target="/ppt/notesSlides/notesSlide18.xml" Id="R58794b609dad4d4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407465627b45af" /><Relationship Type="http://schemas.openxmlformats.org/officeDocument/2006/relationships/notesSlide" Target="/ppt/notesSlides/notesSlide19.xml" Id="R043c64397170472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4032164716494b" /><Relationship Type="http://schemas.openxmlformats.org/officeDocument/2006/relationships/image" Target="/ppt/media/image3.jpeg" Id="R0edc372a1c594fc5" /><Relationship Type="http://schemas.openxmlformats.org/officeDocument/2006/relationships/notesSlide" Target="/ppt/notesSlides/notesSlide20.xml" Id="Rcecda267afbb4db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2b8dd48ff4d9c" /><Relationship Type="http://schemas.openxmlformats.org/officeDocument/2006/relationships/notesSlide" Target="/ppt/notesSlides/notesSlide21.xml" Id="R3a7dbf15f55f49b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cc745abe943fd" /><Relationship Type="http://schemas.openxmlformats.org/officeDocument/2006/relationships/image" Target="/ppt/media/image5.jpeg" Id="R63bdfa03d0ae4f67" /><Relationship Type="http://schemas.openxmlformats.org/officeDocument/2006/relationships/notesSlide" Target="/ppt/notesSlides/notesSlide22.xml" Id="R9a41b44d372b421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a0d8c3cb63444b" /><Relationship Type="http://schemas.openxmlformats.org/officeDocument/2006/relationships/notesSlide" Target="/ppt/notesSlides/notesSlide23.xml" Id="R19255b5662604db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8adcaf97f49fb" /><Relationship Type="http://schemas.openxmlformats.org/officeDocument/2006/relationships/notesSlide" Target="/ppt/notesSlides/notesSlide24.xml" Id="R3db4be0edc9c444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75e8ee7e44be7" /><Relationship Type="http://schemas.openxmlformats.org/officeDocument/2006/relationships/notesSlide" Target="/ppt/notesSlides/notesSlide25.xml" Id="Rfda412a7a75841a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a5e0609754e38" /><Relationship Type="http://schemas.openxmlformats.org/officeDocument/2006/relationships/notesSlide" Target="/ppt/notesSlides/notesSlide26.xml" Id="Rf8e30c7df3814cb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ca895ca09c4213" /><Relationship Type="http://schemas.openxmlformats.org/officeDocument/2006/relationships/image" Target="/ppt/media/image29.png" Id="Rbf75619b784642ec" /><Relationship Type="http://schemas.openxmlformats.org/officeDocument/2006/relationships/image" Target="/ppt/media/image30.png" Id="R488c32bd82cb402b" /><Relationship Type="http://schemas.openxmlformats.org/officeDocument/2006/relationships/notesSlide" Target="/ppt/notesSlides/notesSlide27.xml" Id="R1d9936b87ade4f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1">
            <a:extLst xmlns:a="http://schemas.openxmlformats.org/drawingml/2006/main">
              <a:ext uri="{FF2B5EF4-FFF2-40B4-BE49-F238E27FC236}">
                <a16:creationId xmlns:a16="http://schemas.microsoft.com/office/drawing/2014/main" id="{FE51D5F4-9957-40E4-BEBD-1BA4EDC8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4"/>
          </a:solidFill>
          <a:ln xmlns:a="http://schemas.openxmlformats.org/drawingml/2006/main" w="12700" cmpd="sng">
            <a:solidFill>
              <a:srgbClr val="0B0F1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4" name="Google Shape;24;p1">
            <a:extLst xmlns:a="http://schemas.openxmlformats.org/drawingml/2006/main">
              <a:ext uri="{FF2B5EF4-FFF2-40B4-BE49-F238E27FC236}">
                <a16:creationId xmlns:a16="http://schemas.microsoft.com/office/drawing/2014/main" id="{8290FE4F-2CE8-490F-975B-BC758CAD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31520" y="5303520"/>
            <a:ext cx="2194560" cy="164592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45098"/>
            </a:srgbClr>
          </a:solidFill>
          <a:ln xmlns:a="http://schemas.openxmlformats.org/drawingml/2006/main" w="12700" cmpd="sng">
            <a:solidFill>
              <a:srgbClr val="0B0F14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5" name="Google Shape;25;p1">
            <a:extLst xmlns:a="http://schemas.openxmlformats.org/drawingml/2006/main">
              <a:ext uri="{FF2B5EF4-FFF2-40B4-BE49-F238E27FC236}">
                <a16:creationId xmlns:a16="http://schemas.microsoft.com/office/drawing/2014/main" id="{73449CE6-9692-41F9-BD96-2758594B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230368"/>
            <a:ext cx="2194560" cy="164592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5098"/>
            </a:srgbClr>
          </a:solidFill>
          <a:ln xmlns:a="http://schemas.openxmlformats.org/drawingml/2006/main" w="12700" cmpd="sng">
            <a:solidFill>
              <a:srgbClr val="0B0F14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6" name="Google Shape;26;p1">
            <a:extLst xmlns:a="http://schemas.openxmlformats.org/drawingml/2006/main">
              <a:ext uri="{FF2B5EF4-FFF2-40B4-BE49-F238E27FC236}">
                <a16:creationId xmlns:a16="http://schemas.microsoft.com/office/drawing/2014/main" id="{54B216AB-1579-4D38-8D84-66752343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5157216"/>
            <a:ext cx="2194560" cy="164592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45098"/>
            </a:srgbClr>
          </a:solidFill>
          <a:ln xmlns:a="http://schemas.openxmlformats.org/drawingml/2006/main" w="12700" cmpd="sng">
            <a:solidFill>
              <a:srgbClr val="0B0F14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7" name="Google Shape;27;p1">
            <a:extLst xmlns:a="http://schemas.openxmlformats.org/drawingml/2006/main">
              <a:ext uri="{FF2B5EF4-FFF2-40B4-BE49-F238E27FC236}">
                <a16:creationId xmlns:a16="http://schemas.microsoft.com/office/drawing/2014/main" id="{DF513DDA-1A68-439B-A044-052A2F6D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84064"/>
            <a:ext cx="2194560" cy="164592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5098"/>
            </a:srgbClr>
          </a:solidFill>
          <a:ln xmlns:a="http://schemas.openxmlformats.org/drawingml/2006/main" w="12700" cmpd="sng">
            <a:solidFill>
              <a:srgbClr val="0B0F14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8" name="Google Shape;28;p1">
            <a:extLst xmlns:a="http://schemas.openxmlformats.org/drawingml/2006/main">
              <a:ext uri="{FF2B5EF4-FFF2-40B4-BE49-F238E27FC236}">
                <a16:creationId xmlns:a16="http://schemas.microsoft.com/office/drawing/2014/main" id="{0BFD881C-3FD2-4B16-B217-200BA84A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5010912"/>
            <a:ext cx="2194560" cy="164592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45098"/>
            </a:srgbClr>
          </a:solidFill>
          <a:ln xmlns:a="http://schemas.openxmlformats.org/drawingml/2006/main" w="12700" cmpd="sng">
            <a:solidFill>
              <a:srgbClr val="0B0F14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9" name="Google Shape;29;p1">
            <a:extLst xmlns:a="http://schemas.openxmlformats.org/drawingml/2006/main">
              <a:ext uri="{FF2B5EF4-FFF2-40B4-BE49-F238E27FC236}">
                <a16:creationId xmlns:a16="http://schemas.microsoft.com/office/drawing/2014/main" id="{1C2CED10-33CC-4EC7-86D2-09F4D267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937760"/>
            <a:ext cx="2194560" cy="164592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5098"/>
            </a:srgbClr>
          </a:solidFill>
          <a:ln xmlns:a="http://schemas.openxmlformats.org/drawingml/2006/main" w="12700" cmpd="sng">
            <a:solidFill>
              <a:srgbClr val="0B0F14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0" name="Google Shape;30;p1">
            <a:extLst xmlns:a="http://schemas.openxmlformats.org/drawingml/2006/main">
              <a:ext uri="{FF2B5EF4-FFF2-40B4-BE49-F238E27FC236}">
                <a16:creationId xmlns:a16="http://schemas.microsoft.com/office/drawing/2014/main" id="{FC1807CC-E2D8-4FCF-991A-77B76196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864608"/>
            <a:ext cx="2194560" cy="164592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45098"/>
            </a:srgbClr>
          </a:solidFill>
          <a:ln xmlns:a="http://schemas.openxmlformats.org/drawingml/2006/main" w="12700" cmpd="sng">
            <a:solidFill>
              <a:srgbClr val="0B0F14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1" name="Google Shape;31;p1">
            <a:extLst xmlns:a="http://schemas.openxmlformats.org/drawingml/2006/main">
              <a:ext uri="{FF2B5EF4-FFF2-40B4-BE49-F238E27FC236}">
                <a16:creationId xmlns:a16="http://schemas.microsoft.com/office/drawing/2014/main" id="{A3DD8E18-8C49-4BD2-A3BF-1F9E1CEC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4791456"/>
            <a:ext cx="2194560" cy="164592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5098"/>
            </a:srgbClr>
          </a:solidFill>
          <a:ln xmlns:a="http://schemas.openxmlformats.org/drawingml/2006/main" w="12700" cmpd="sng">
            <a:solidFill>
              <a:srgbClr val="0B0F14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2" name="Google Shape;32;p1">
            <a:extLst xmlns:a="http://schemas.openxmlformats.org/drawingml/2006/main">
              <a:ext uri="{FF2B5EF4-FFF2-40B4-BE49-F238E27FC236}">
                <a16:creationId xmlns:a16="http://schemas.microsoft.com/office/drawing/2014/main" id="{0022F42E-FACB-4FC5-A2D5-00FFF3B6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718304"/>
            <a:ext cx="2194500" cy="1647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45098"/>
            </a:srgbClr>
          </a:solidFill>
          <a:ln xmlns:a="http://schemas.openxmlformats.org/drawingml/2006/main" w="12700" cmpd="sng">
            <a:solidFill>
              <a:srgbClr val="0B0F14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3" name="Google Shape;33;p1">
            <a:extLst xmlns:a="http://schemas.openxmlformats.org/drawingml/2006/main">
              <a:ext uri="{FF2B5EF4-FFF2-40B4-BE49-F238E27FC236}">
                <a16:creationId xmlns:a16="http://schemas.microsoft.com/office/drawing/2014/main" id="{B86A4000-1B29-4C11-A1CB-6C8821C8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1069848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3400"/>
              <a:buFont typeface="Microsoft JhengHei"/>
              <a:buNone/>
            </a:pPr>
            <a:r>
              <a:rPr sz="34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AI Vision Director V2.3</a:t>
            </a:r>
          </a:p>
        </p:txBody>
      </p:sp>
      <p:sp>
        <p:nvSpPr>
          <p:cNvPr id="34" name="Google Shape;34;p1">
            <a:extLst xmlns:a="http://schemas.openxmlformats.org/drawingml/2006/main">
              <a:ext uri="{FF2B5EF4-FFF2-40B4-BE49-F238E27FC236}">
                <a16:creationId xmlns:a16="http://schemas.microsoft.com/office/drawing/2014/main" id="{FA825934-115D-46C4-8CBC-C56DED00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99232"/>
            <a:ext cx="6858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600"/>
              <a:buFont typeface="Microsoft JhengHei"/>
              <a:buNone/>
            </a:pPr>
            <a:r>
              <a:rPr sz="1600" b="0" i="0" u="none" cap="none">
                <a:solidFill>
                  <a:srgbClr val="B7C0CA"/>
                </a:solidFill>
                <a:latin typeface="Microsoft JhengHei"/>
                <a:ea typeface="Microsoft JhengHei"/>
                <a:cs typeface="Microsoft JhengHei"/>
              </a:rPr>
              <a:t>組員｜林恩、游浩淼、許子沛、陳翰威</a:t>
            </a:r>
          </a:p>
        </p:txBody>
      </p:sp>
      <p:sp>
        <p:nvSpPr>
          <p:cNvPr id="35" name="Google Shape;35;p1">
            <a:extLst xmlns:a="http://schemas.openxmlformats.org/drawingml/2006/main">
              <a:ext uri="{FF2B5EF4-FFF2-40B4-BE49-F238E27FC236}">
                <a16:creationId xmlns:a16="http://schemas.microsoft.com/office/drawing/2014/main" id="{05036FD6-5F2C-4873-AF2D-F7400F1B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1100"/>
              <a:buFont typeface="Microsoft JhengHei"/>
              <a:buNone/>
            </a:pPr>
            <a:r>
              <a:rPr sz="1100" b="1" i="0" u="none" cap="none">
                <a:solidFill>
                  <a:srgbClr val="12D6DF"/>
                </a:solidFill>
                <a:latin typeface="Microsoft JhengHei"/>
                <a:ea typeface="Microsoft JhengHei"/>
                <a:cs typeface="Microsoft JhengHei"/>
              </a:rPr>
              <a:t>V2.3 專案提報</a:t>
            </a:r>
          </a:p>
        </p:txBody>
      </p:sp>
      <p:sp>
        <p:nvSpPr>
          <p:cNvPr id="36" name="Google Shape;36;p1">
            <a:extLst xmlns:a="http://schemas.openxmlformats.org/drawingml/2006/main">
              <a:ext uri="{FF2B5EF4-FFF2-40B4-BE49-F238E27FC236}">
                <a16:creationId xmlns:a16="http://schemas.microsoft.com/office/drawing/2014/main" id="{78120E12-5A02-4E5C-8907-0F3F98DCED3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pic>
        <p:nvPicPr>
          <p:cNvPr id="55" name="Google Shape;37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c1c0490aee043c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077" y="1398080"/>
            <a:ext cx="12185523" cy="4061841"/>
          </a:xfrm>
          <a:prstGeom xmlns:a="http://schemas.openxmlformats.org/drawingml/2006/main" prst="rect">
            <a:avLst/>
          </a:prstGeom>
          <a:ln xmlns:a="http://schemas.openxmlformats.org/drawingml/2006/main" w="12700" cap="flat" cmpd="sng">
            <a:solidFill>
              <a:srgbClr val="0B0F14"/>
            </a:solidFill>
            <a:prstDash val="solid"/>
            <a:round/>
          </a:ln>
        </p:spPr>
      </p:pic>
      <p:sp>
        <p:nvSpPr>
          <p:cNvPr id="38" name="Google Shape;38;p1">
            <a:extLst xmlns:a="http://schemas.openxmlformats.org/drawingml/2006/main">
              <a:ext uri="{FF2B5EF4-FFF2-40B4-BE49-F238E27FC236}">
                <a16:creationId xmlns:a16="http://schemas.microsoft.com/office/drawing/2014/main" id="{8F072589-39BD-403C-82FA-4281F0C3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875" y="6388575"/>
            <a:ext cx="4490100" cy="43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3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指導老師：Joseph老師、Alan老師、鮪魚老師</a:t>
            </a:r>
          </a:p>
        </p:txBody>
      </p:sp>
      <p:sp>
        <p:nvSpPr>
          <p:cNvPr id="39" name="Google Shape;39;p1">
            <a:extLst xmlns:a="http://schemas.openxmlformats.org/drawingml/2006/main">
              <a:ext uri="{FF2B5EF4-FFF2-40B4-BE49-F238E27FC236}">
                <a16:creationId xmlns:a16="http://schemas.microsoft.com/office/drawing/2014/main" id="{2A431854-687B-4EAC-8A1E-34D2A99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4125"/>
            <a:ext cx="4490100" cy="43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300" b="1">
                <a:solidFill>
                  <a:schemeClr val="lt1"/>
                </a:solidFill>
              </a:rPr>
              <a:t>開發者</a:t>
            </a:r>
            <a:r>
              <a:rPr sz="13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：</a:t>
            </a:r>
            <a:r>
              <a:rPr sz="1300" b="1">
                <a:solidFill>
                  <a:schemeClr val="lt1"/>
                </a:solidFill>
              </a:rPr>
              <a:t>林恩</a:t>
            </a:r>
          </a:p>
        </p:txBody>
      </p:sp>
    </p:spTree>
    <p:extLst>
      <p:ext uri="{BB962C8B-B14F-4D97-AF65-F5344CB8AC3E}">
        <p14:creationId xmlns:p14="http://schemas.microsoft.com/office/powerpoint/2010/main" val="14634021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2">
            <a:extLst xmlns:a="http://schemas.openxmlformats.org/drawingml/2006/main">
              <a:ext uri="{FF2B5EF4-FFF2-40B4-BE49-F238E27FC236}">
                <a16:creationId xmlns:a16="http://schemas.microsoft.com/office/drawing/2014/main" id="{334F804C-6666-418F-A29D-2F4FCC9A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6" name="Google Shape;46;p2">
            <a:extLst xmlns:a="http://schemas.openxmlformats.org/drawingml/2006/main">
              <a:ext uri="{FF2B5EF4-FFF2-40B4-BE49-F238E27FC236}">
                <a16:creationId xmlns:a16="http://schemas.microsoft.com/office/drawing/2014/main" id="{BBCF568B-4C3F-48C1-BFAB-26E708E7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7" name="Google Shape;47;p2">
            <a:extLst xmlns:a="http://schemas.openxmlformats.org/drawingml/2006/main">
              <a:ext uri="{FF2B5EF4-FFF2-40B4-BE49-F238E27FC236}">
                <a16:creationId xmlns:a16="http://schemas.microsoft.com/office/drawing/2014/main" id="{4D5621ED-5CD5-40F7-8FAE-42D8B4E1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8" name="Google Shape;48;p2">
            <a:extLst xmlns:a="http://schemas.openxmlformats.org/drawingml/2006/main">
              <a:ext uri="{FF2B5EF4-FFF2-40B4-BE49-F238E27FC236}">
                <a16:creationId xmlns:a16="http://schemas.microsoft.com/office/drawing/2014/main" id="{8C102802-D9E3-42F1-AE20-7BE88EE9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9" name="Google Shape;49;p2">
            <a:extLst xmlns:a="http://schemas.openxmlformats.org/drawingml/2006/main">
              <a:ext uri="{FF2B5EF4-FFF2-40B4-BE49-F238E27FC236}">
                <a16:creationId xmlns:a16="http://schemas.microsoft.com/office/drawing/2014/main" id="{63386677-C1D1-465D-B50A-97212682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50" name="Google Shape;50;p2">
            <a:extLst xmlns:a="http://schemas.openxmlformats.org/drawingml/2006/main">
              <a:ext uri="{FF2B5EF4-FFF2-40B4-BE49-F238E27FC236}">
                <a16:creationId xmlns:a16="http://schemas.microsoft.com/office/drawing/2014/main" id="{15A36A5E-F026-401B-9D35-9771508F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12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01 ORIGIN</a:t>
            </a:r>
          </a:p>
        </p:txBody>
      </p:sp>
      <p:sp>
        <p:nvSpPr>
          <p:cNvPr id="51" name="Google Shape;51;p2">
            <a:extLst xmlns:a="http://schemas.openxmlformats.org/drawingml/2006/main">
              <a:ext uri="{FF2B5EF4-FFF2-40B4-BE49-F238E27FC236}">
                <a16:creationId xmlns:a16="http://schemas.microsoft.com/office/drawing/2014/main" id="{E3B75653-93B8-412E-89A5-10C71891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2600"/>
              <a:buFont typeface="Microsoft JhengHei"/>
              <a:buNone/>
            </a:pPr>
            <a:r>
              <a:rPr sz="228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發想起點：讓 AI 接手最疲勞的追車動作</a:t>
            </a:r>
          </a:p>
        </p:txBody>
      </p:sp>
      <p:sp>
        <p:nvSpPr>
          <p:cNvPr id="52" name="Google Shape;52;p2">
            <a:extLst xmlns:a="http://schemas.openxmlformats.org/drawingml/2006/main">
              <a:ext uri="{FF2B5EF4-FFF2-40B4-BE49-F238E27FC236}">
                <a16:creationId xmlns:a16="http://schemas.microsoft.com/office/drawing/2014/main" id="{78584E3F-3694-4A63-AD0A-A12DAC45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50" y="1541263"/>
            <a:ext cx="3695400" cy="44247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3500" cmpd="sng">
            <a:solidFill>
              <a:srgbClr val="FF4D00">
                <a:alpha val="8509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7225" tIns="97225" rIns="97225" bIns="972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53" name="Google Shape;53;p2">
            <a:extLst xmlns:a="http://schemas.openxmlformats.org/drawingml/2006/main">
              <a:ext uri="{FF2B5EF4-FFF2-40B4-BE49-F238E27FC236}">
                <a16:creationId xmlns:a16="http://schemas.microsoft.com/office/drawing/2014/main" id="{451B3AD6-7FFE-4A72-A7CB-065E5972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90" y="1755203"/>
            <a:ext cx="3267300" cy="27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7225" tIns="48600" rIns="97225" bIns="486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789"/>
              <a:buFont typeface="Microsoft JhengHei"/>
              <a:buNone/>
            </a:pPr>
            <a:r>
              <a:rPr sz="1789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真實工作現場</a:t>
            </a:r>
          </a:p>
        </p:txBody>
      </p:sp>
      <p:sp>
        <p:nvSpPr>
          <p:cNvPr id="54" name="Google Shape;54;p2">
            <a:extLst xmlns:a="http://schemas.openxmlformats.org/drawingml/2006/main">
              <a:ext uri="{FF2B5EF4-FFF2-40B4-BE49-F238E27FC236}">
                <a16:creationId xmlns:a16="http://schemas.microsoft.com/office/drawing/2014/main" id="{B0642A76-CD74-4687-A487-A31298F9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90" y="2144185"/>
            <a:ext cx="603000" cy="4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00"/>
          </a:solidFill>
          <a:ln xmlns:a="http://schemas.openxmlformats.org/drawingml/2006/main" w="135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7225" tIns="97225" rIns="97225" bIns="972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55" name="Google Shape;55;p2">
            <a:extLst xmlns:a="http://schemas.openxmlformats.org/drawingml/2006/main">
              <a:ext uri="{FF2B5EF4-FFF2-40B4-BE49-F238E27FC236}">
                <a16:creationId xmlns:a16="http://schemas.microsoft.com/office/drawing/2014/main" id="{70C684C2-481E-4E03-A4F3-AB878601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43" y="2367839"/>
            <a:ext cx="3520500" cy="9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7225" tIns="48600" rIns="97225" bIns="486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553"/>
              <a:buFont typeface="Microsoft JhengHei"/>
              <a:buNone/>
            </a:pPr>
            <a:r>
              <a:rPr sz="1553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攝影師長時間追車、盯畫面、操作穩定器，本質上是高度重複、體力消耗大的工作。</a:t>
            </a:r>
          </a:p>
        </p:txBody>
      </p:sp>
      <p:sp>
        <p:nvSpPr>
          <p:cNvPr id="56" name="Google Shape;56;p2">
            <a:extLst xmlns:a="http://schemas.openxmlformats.org/drawingml/2006/main">
              <a:ext uri="{FF2B5EF4-FFF2-40B4-BE49-F238E27FC236}">
                <a16:creationId xmlns:a16="http://schemas.microsoft.com/office/drawing/2014/main" id="{5B9514D8-2D72-46D7-9ACB-E2BB0AFE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39" y="1541263"/>
            <a:ext cx="3695400" cy="44247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3500" cmpd="sng">
            <a:solidFill>
              <a:srgbClr val="12D6DF">
                <a:alpha val="8509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7225" tIns="97225" rIns="97225" bIns="972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57" name="Google Shape;57;p2">
            <a:extLst xmlns:a="http://schemas.openxmlformats.org/drawingml/2006/main">
              <a:ext uri="{FF2B5EF4-FFF2-40B4-BE49-F238E27FC236}">
                <a16:creationId xmlns:a16="http://schemas.microsoft.com/office/drawing/2014/main" id="{1DAA84A5-6BBB-405E-9370-9238A896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078" y="1755203"/>
            <a:ext cx="3267300" cy="27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7225" tIns="48600" rIns="97225" bIns="486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789"/>
              <a:buFont typeface="Microsoft JhengHei"/>
              <a:buNone/>
            </a:pPr>
            <a:r>
              <a:rPr sz="1789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初步嘗試</a:t>
            </a:r>
          </a:p>
        </p:txBody>
      </p:sp>
      <p:sp>
        <p:nvSpPr>
          <p:cNvPr id="58" name="Google Shape;58;p2">
            <a:extLst xmlns:a="http://schemas.openxmlformats.org/drawingml/2006/main">
              <a:ext uri="{FF2B5EF4-FFF2-40B4-BE49-F238E27FC236}">
                <a16:creationId xmlns:a16="http://schemas.microsoft.com/office/drawing/2014/main" id="{032CF7CE-B161-4A2B-B7AB-316CBFF3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078" y="2144185"/>
            <a:ext cx="603000" cy="4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D6DF"/>
          </a:solidFill>
          <a:ln xmlns:a="http://schemas.openxmlformats.org/drawingml/2006/main" w="135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7225" tIns="97225" rIns="97225" bIns="972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59" name="Google Shape;59;p2">
            <a:extLst xmlns:a="http://schemas.openxmlformats.org/drawingml/2006/main">
              <a:ext uri="{FF2B5EF4-FFF2-40B4-BE49-F238E27FC236}">
                <a16:creationId xmlns:a16="http://schemas.microsoft.com/office/drawing/2014/main" id="{077B2E34-5C5B-4A5E-80A2-7FE9B077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600" y="2330475"/>
            <a:ext cx="3695400" cy="9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7225" tIns="48600" rIns="97225" bIns="486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553"/>
              <a:buFont typeface="Microsoft JhengHei"/>
              <a:buNone/>
            </a:pPr>
            <a:r>
              <a:rPr sz="1553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曾經使用 DJI RS4 的遙控拍攝功能，希望可以坐著控制機器拍攝，但實際上車輛追蹤效果不穩，常常</a:t>
            </a:r>
            <a:r>
              <a:rPr sz="1553" b="1" i="0" u="sng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追不到車</a:t>
            </a:r>
            <a:r>
              <a:rPr sz="1553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60" name="Google Shape;60;p2">
            <a:extLst xmlns:a="http://schemas.openxmlformats.org/drawingml/2006/main">
              <a:ext uri="{FF2B5EF4-FFF2-40B4-BE49-F238E27FC236}">
                <a16:creationId xmlns:a16="http://schemas.microsoft.com/office/drawing/2014/main" id="{F4097BF1-E6A0-46D8-82A5-4541710B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127" y="1541263"/>
            <a:ext cx="3695400" cy="44247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3500" cmpd="sng">
            <a:solidFill>
              <a:srgbClr val="FFD166">
                <a:alpha val="8509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7225" tIns="97225" rIns="97225" bIns="972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1" name="Google Shape;61;p2">
            <a:extLst xmlns:a="http://schemas.openxmlformats.org/drawingml/2006/main">
              <a:ext uri="{FF2B5EF4-FFF2-40B4-BE49-F238E27FC236}">
                <a16:creationId xmlns:a16="http://schemas.microsoft.com/office/drawing/2014/main" id="{EE0337D4-6BD7-490C-B78A-A74D073D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066" y="1755203"/>
            <a:ext cx="3267300" cy="27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7225" tIns="48600" rIns="97225" bIns="486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789"/>
              <a:buFont typeface="Microsoft JhengHei"/>
              <a:buNone/>
            </a:pPr>
            <a:r>
              <a:rPr sz="1789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專案問題意識</a:t>
            </a:r>
          </a:p>
        </p:txBody>
      </p:sp>
      <p:sp>
        <p:nvSpPr>
          <p:cNvPr id="62" name="Google Shape;62;p2">
            <a:extLst xmlns:a="http://schemas.openxmlformats.org/drawingml/2006/main">
              <a:ext uri="{FF2B5EF4-FFF2-40B4-BE49-F238E27FC236}">
                <a16:creationId xmlns:a16="http://schemas.microsoft.com/office/drawing/2014/main" id="{52D456DC-A961-45CD-B202-4B6D590B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066" y="2144185"/>
            <a:ext cx="603000" cy="4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13500" cmpd="sng">
            <a:solidFill>
              <a:srgbClr val="FFD166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7225" tIns="97225" rIns="97225" bIns="972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3" name="Google Shape;63;p2">
            <a:extLst xmlns:a="http://schemas.openxmlformats.org/drawingml/2006/main">
              <a:ext uri="{FF2B5EF4-FFF2-40B4-BE49-F238E27FC236}">
                <a16:creationId xmlns:a16="http://schemas.microsoft.com/office/drawing/2014/main" id="{DABFC8E7-D351-4634-81E4-D6D6DD7D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066" y="2367850"/>
            <a:ext cx="3267300" cy="345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7225" tIns="48600" rIns="97225" bIns="486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550"/>
              <a:buFont typeface="Microsoft JhengHei"/>
              <a:buNone/>
            </a:pPr>
            <a:r>
              <a:rPr sz="155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如果攝影師只負責架設、監看與判斷，AI Vision Director 就能由 Desktop 與 iPhone 協作，自動完成追車、構圖與雲台控制。</a:t>
            </a:r>
          </a:p>
        </p:txBody>
      </p:sp>
      <p:sp>
        <p:nvSpPr>
          <p:cNvPr id="64" name="Google Shape;64;p2">
            <a:extLst xmlns:a="http://schemas.openxmlformats.org/drawingml/2006/main">
              <a:ext uri="{FF2B5EF4-FFF2-40B4-BE49-F238E27FC236}">
                <a16:creationId xmlns:a16="http://schemas.microsoft.com/office/drawing/2014/main" id="{5BDE7909-14DC-4544-985F-F737FE47C99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pic>
        <p:nvPicPr>
          <p:cNvPr id="92" name="Google Shape;65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08ca9290ce40b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800195" y="3441222"/>
            <a:ext cx="2342400" cy="23275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Google Shape;66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6ccd8f2daa14901">
            <a:alphaModFix/>
          </a:blip>
          <a:srcRect xmlns:a="http://schemas.openxmlformats.org/drawingml/2006/main" l="0" t="0" r="14937" b="0"/>
          <a:stretch xmlns:a="http://schemas.openxmlformats.org/drawingml/2006/main"/>
        </p:blipFill>
        <p:spPr>
          <a:xfrm xmlns:a="http://schemas.openxmlformats.org/drawingml/2006/main">
            <a:off x="637038" y="3421969"/>
            <a:ext cx="3079567" cy="219004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4" name="Google Shape;67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88f8cbd3934d6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310317" y="3814276"/>
            <a:ext cx="3408957" cy="195447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8" name="Google Shape;68;p2">
            <a:extLst xmlns:a="http://schemas.openxmlformats.org/drawingml/2006/main">
              <a:ext uri="{FF2B5EF4-FFF2-40B4-BE49-F238E27FC236}">
                <a16:creationId xmlns:a16="http://schemas.microsoft.com/office/drawing/2014/main" id="{1E9E1759-F9D6-49C5-8E4C-8C89AB6A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409" y="3368336"/>
            <a:ext cx="30795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9425" tIns="19425" rIns="19425" bIns="19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6FF"/>
              </a:buClr>
              <a:buSzPts val="1476"/>
              <a:buFont typeface="Microsoft JhengHei"/>
              <a:buNone/>
            </a:pPr>
            <a:r>
              <a:rPr sz="1476" b="1" i="0" u="sng" cap="none">
                <a:solidFill>
                  <a:srgbClr val="00D6FF"/>
                </a:solidFill>
                <a:latin typeface="Microsoft JhengHei"/>
                <a:ea typeface="Microsoft JhengHei"/>
                <a:cs typeface="Microsoft JhengHei"/>
              </a:rPr>
              <a:t>Desktop AI + iPhone / DockKit</a:t>
            </a:r>
          </a:p>
        </p:txBody>
      </p:sp>
    </p:spTree>
    <p:extLst>
      <p:ext uri="{BB962C8B-B14F-4D97-AF65-F5344CB8AC3E}">
        <p14:creationId xmlns:p14="http://schemas.microsoft.com/office/powerpoint/2010/main" val="14949388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3">
            <a:extLst xmlns:a="http://schemas.openxmlformats.org/drawingml/2006/main">
              <a:ext uri="{FF2B5EF4-FFF2-40B4-BE49-F238E27FC236}">
                <a16:creationId xmlns:a16="http://schemas.microsoft.com/office/drawing/2014/main" id="{9867FA3B-0A1E-4629-B5A0-83ED89BC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5" name="Google Shape;75;p3">
            <a:extLst xmlns:a="http://schemas.openxmlformats.org/drawingml/2006/main">
              <a:ext uri="{FF2B5EF4-FFF2-40B4-BE49-F238E27FC236}">
                <a16:creationId xmlns:a16="http://schemas.microsoft.com/office/drawing/2014/main" id="{ED62C029-77AD-46CB-A6CF-B6DE8598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6" name="Google Shape;76;p3">
            <a:extLst xmlns:a="http://schemas.openxmlformats.org/drawingml/2006/main">
              <a:ext uri="{FF2B5EF4-FFF2-40B4-BE49-F238E27FC236}">
                <a16:creationId xmlns:a16="http://schemas.microsoft.com/office/drawing/2014/main" id="{C090DC29-ED12-466F-B293-B9D65204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7" name="Google Shape;77;p3">
            <a:extLst xmlns:a="http://schemas.openxmlformats.org/drawingml/2006/main">
              <a:ext uri="{FF2B5EF4-FFF2-40B4-BE49-F238E27FC236}">
                <a16:creationId xmlns:a16="http://schemas.microsoft.com/office/drawing/2014/main" id="{5F2137DC-537C-403D-A5D5-EC2DFF5C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8" name="Google Shape;78;p3">
            <a:extLst xmlns:a="http://schemas.openxmlformats.org/drawingml/2006/main">
              <a:ext uri="{FF2B5EF4-FFF2-40B4-BE49-F238E27FC236}">
                <a16:creationId xmlns:a16="http://schemas.microsoft.com/office/drawing/2014/main" id="{8AA44B73-F5AB-4ED8-9E4A-4DD969B6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9" name="Google Shape;79;p3">
            <a:extLst xmlns:a="http://schemas.openxmlformats.org/drawingml/2006/main">
              <a:ext uri="{FF2B5EF4-FFF2-40B4-BE49-F238E27FC236}">
                <a16:creationId xmlns:a16="http://schemas.microsoft.com/office/drawing/2014/main" id="{6DC6A1D2-A470-4060-AF03-BBE806E1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12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02 INDUSTRY</a:t>
            </a:r>
          </a:p>
        </p:txBody>
      </p:sp>
      <p:sp>
        <p:nvSpPr>
          <p:cNvPr id="80" name="Google Shape;80;p3">
            <a:extLst xmlns:a="http://schemas.openxmlformats.org/drawingml/2006/main">
              <a:ext uri="{FF2B5EF4-FFF2-40B4-BE49-F238E27FC236}">
                <a16:creationId xmlns:a16="http://schemas.microsoft.com/office/drawing/2014/main" id="{94B7AD1D-1E75-47E8-AB81-514CE71F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2600"/>
              <a:buFont typeface="Microsoft JhengHei"/>
              <a:buNone/>
            </a:pPr>
            <a:r>
              <a:rPr sz="26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產業現況：多機直播品質高，但高度依賴人力</a:t>
            </a:r>
          </a:p>
        </p:txBody>
      </p:sp>
      <p:sp>
        <p:nvSpPr>
          <p:cNvPr id="81" name="Google Shape;81;p3">
            <a:extLst xmlns:a="http://schemas.openxmlformats.org/drawingml/2006/main">
              <a:ext uri="{FF2B5EF4-FFF2-40B4-BE49-F238E27FC236}">
                <a16:creationId xmlns:a16="http://schemas.microsoft.com/office/drawing/2014/main" id="{DCF371DA-0321-4A8C-B02C-4007C6E4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5" y="1216150"/>
            <a:ext cx="11401800" cy="47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700"/>
              <a:buFont typeface="Microsoft JhengHei"/>
              <a:buNone/>
            </a:pPr>
            <a:r>
              <a:rPr sz="1439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賽事與活動直播通常需要多機位、導播、攝影師與攝助共同運作。當機位增加，畫面更完整，但持續追蹤的人力與協調成本也同步上升。</a:t>
            </a:r>
          </a:p>
        </p:txBody>
      </p:sp>
      <p:sp>
        <p:nvSpPr>
          <p:cNvPr id="82" name="Google Shape;82;p3">
            <a:extLst xmlns:a="http://schemas.openxmlformats.org/drawingml/2006/main">
              <a:ext uri="{FF2B5EF4-FFF2-40B4-BE49-F238E27FC236}">
                <a16:creationId xmlns:a16="http://schemas.microsoft.com/office/drawing/2014/main" id="{6BBC1DF9-A2B5-4868-9013-35AC8445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00" y="2206013"/>
            <a:ext cx="3717000" cy="3717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3775" cmpd="sng">
            <a:solidFill>
              <a:srgbClr val="12D6DF">
                <a:alpha val="8509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9100" tIns="99100" rIns="99100" bIns="991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83" name="Google Shape;83;p3">
            <a:extLst xmlns:a="http://schemas.openxmlformats.org/drawingml/2006/main">
              <a:ext uri="{FF2B5EF4-FFF2-40B4-BE49-F238E27FC236}">
                <a16:creationId xmlns:a16="http://schemas.microsoft.com/office/drawing/2014/main" id="{1B796B5C-5278-4BF0-8E2F-6BA0E056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58" y="2424071"/>
            <a:ext cx="3280800" cy="27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9100" tIns="49525" rIns="99100" bIns="495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896"/>
              <a:buFont typeface="Microsoft JhengHei"/>
              <a:buNone/>
            </a:pPr>
            <a:r>
              <a:rPr sz="1897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多機直播是主流需求</a:t>
            </a:r>
          </a:p>
        </p:txBody>
      </p:sp>
      <p:sp>
        <p:nvSpPr>
          <p:cNvPr id="84" name="Google Shape;84;p3">
            <a:extLst xmlns:a="http://schemas.openxmlformats.org/drawingml/2006/main">
              <a:ext uri="{FF2B5EF4-FFF2-40B4-BE49-F238E27FC236}">
                <a16:creationId xmlns:a16="http://schemas.microsoft.com/office/drawing/2014/main" id="{AEC76E2B-622E-47F5-9F78-4885E4A1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58" y="2820551"/>
            <a:ext cx="614400" cy="4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D6DF"/>
          </a:solidFill>
          <a:ln xmlns:a="http://schemas.openxmlformats.org/drawingml/2006/main" w="13775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9100" tIns="99100" rIns="99100" bIns="991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85" name="Google Shape;85;p3">
            <a:extLst xmlns:a="http://schemas.openxmlformats.org/drawingml/2006/main">
              <a:ext uri="{FF2B5EF4-FFF2-40B4-BE49-F238E27FC236}">
                <a16:creationId xmlns:a16="http://schemas.microsoft.com/office/drawing/2014/main" id="{A456B0CE-FB5B-4C4E-99B0-3927B84F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58" y="3048508"/>
            <a:ext cx="3280800" cy="27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9100" tIns="49525" rIns="99100" bIns="49525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691"/>
              <a:buFont typeface="Microsoft JhengHei"/>
              <a:buNone/>
            </a:pPr>
            <a:r>
              <a:rPr sz="1691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賽車、運動賽事、活動、拍賣直播都需要多角度畫面。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691"/>
              <a:buFont typeface="Microsoft JhengHei"/>
              <a:buNone/>
            </a:pPr>
            <a:r>
              <a:rPr sz="1691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特寫、全景、移動鏡位與導播切換，會直接影響觀眾體驗。</a:t>
            </a:r>
          </a:p>
        </p:txBody>
      </p:sp>
      <p:sp>
        <p:nvSpPr>
          <p:cNvPr id="86" name="Google Shape;86;p3">
            <a:extLst xmlns:a="http://schemas.openxmlformats.org/drawingml/2006/main">
              <a:ext uri="{FF2B5EF4-FFF2-40B4-BE49-F238E27FC236}">
                <a16:creationId xmlns:a16="http://schemas.microsoft.com/office/drawing/2014/main" id="{F1F13ECD-9123-47C9-BBF5-571D5474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342" y="2206013"/>
            <a:ext cx="3717000" cy="3717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3775" cmpd="sng">
            <a:solidFill>
              <a:srgbClr val="FF4D00">
                <a:alpha val="8509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9100" tIns="99100" rIns="99100" bIns="991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87" name="Google Shape;87;p3">
            <a:extLst xmlns:a="http://schemas.openxmlformats.org/drawingml/2006/main">
              <a:ext uri="{FF2B5EF4-FFF2-40B4-BE49-F238E27FC236}">
                <a16:creationId xmlns:a16="http://schemas.microsoft.com/office/drawing/2014/main" id="{F570E248-36BB-4B22-A40C-54659C31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400" y="2424071"/>
            <a:ext cx="3280800" cy="27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9100" tIns="49525" rIns="99100" bIns="495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896"/>
              <a:buFont typeface="Microsoft JhengHei"/>
              <a:buNone/>
            </a:pPr>
            <a:r>
              <a:rPr sz="1897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市場費用隨機位上升</a:t>
            </a:r>
          </a:p>
        </p:txBody>
      </p:sp>
      <p:sp>
        <p:nvSpPr>
          <p:cNvPr id="88" name="Google Shape;88;p3">
            <a:extLst xmlns:a="http://schemas.openxmlformats.org/drawingml/2006/main">
              <a:ext uri="{FF2B5EF4-FFF2-40B4-BE49-F238E27FC236}">
                <a16:creationId xmlns:a16="http://schemas.microsoft.com/office/drawing/2014/main" id="{940616E0-32AD-4FD2-B076-4CEDA7E0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400" y="2820539"/>
            <a:ext cx="614400" cy="4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00"/>
          </a:solidFill>
          <a:ln xmlns:a="http://schemas.openxmlformats.org/drawingml/2006/main" w="13775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9100" tIns="99100" rIns="99100" bIns="991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89" name="Google Shape;89;p3">
            <a:extLst xmlns:a="http://schemas.openxmlformats.org/drawingml/2006/main">
              <a:ext uri="{FF2B5EF4-FFF2-40B4-BE49-F238E27FC236}">
                <a16:creationId xmlns:a16="http://schemas.microsoft.com/office/drawing/2014/main" id="{0F4508B6-E3F8-46B7-8DB3-44325CC7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400" y="3048508"/>
            <a:ext cx="3280800" cy="27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9100" tIns="49525" rIns="99100" bIns="49525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691"/>
              <a:buFont typeface="Microsoft JhengHei"/>
              <a:buNone/>
            </a:pPr>
            <a:r>
              <a:rPr sz="1691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台灣公開直播服務資料顯示，三機直播常見費用可落在約 4–7 萬元；三機以上的大型轉播可從約 8 萬元起跳。</a:t>
            </a:r>
          </a:p>
        </p:txBody>
      </p:sp>
      <p:sp>
        <p:nvSpPr>
          <p:cNvPr id="90" name="Google Shape;90;p3">
            <a:extLst xmlns:a="http://schemas.openxmlformats.org/drawingml/2006/main">
              <a:ext uri="{FF2B5EF4-FFF2-40B4-BE49-F238E27FC236}">
                <a16:creationId xmlns:a16="http://schemas.microsoft.com/office/drawing/2014/main" id="{64B84C89-DB8A-4E5F-BE84-C0305786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584" y="2206013"/>
            <a:ext cx="3717000" cy="3717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3775" cmpd="sng">
            <a:solidFill>
              <a:srgbClr val="FFD166">
                <a:alpha val="8509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9100" tIns="99100" rIns="99100" bIns="991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91" name="Google Shape;91;p3">
            <a:extLst xmlns:a="http://schemas.openxmlformats.org/drawingml/2006/main">
              <a:ext uri="{FF2B5EF4-FFF2-40B4-BE49-F238E27FC236}">
                <a16:creationId xmlns:a16="http://schemas.microsoft.com/office/drawing/2014/main" id="{D1312336-D996-4D1D-99B3-0205553A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642" y="2424071"/>
            <a:ext cx="3280800" cy="27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9100" tIns="49525" rIns="99100" bIns="495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896"/>
              <a:buFont typeface="Microsoft JhengHei"/>
              <a:buNone/>
            </a:pPr>
            <a:r>
              <a:rPr sz="1897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問題在於「人」很貴</a:t>
            </a:r>
          </a:p>
        </p:txBody>
      </p:sp>
      <p:sp>
        <p:nvSpPr>
          <p:cNvPr id="92" name="Google Shape;92;p3">
            <a:extLst xmlns:a="http://schemas.openxmlformats.org/drawingml/2006/main">
              <a:ext uri="{FF2B5EF4-FFF2-40B4-BE49-F238E27FC236}">
                <a16:creationId xmlns:a16="http://schemas.microsoft.com/office/drawing/2014/main" id="{03DD50C2-BE81-4919-9B7D-2D597703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642" y="2820539"/>
            <a:ext cx="614400" cy="4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13775" cmpd="sng">
            <a:solidFill>
              <a:srgbClr val="FFD166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9100" tIns="99100" rIns="99100" bIns="991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93" name="Google Shape;93;p3">
            <a:extLst xmlns:a="http://schemas.openxmlformats.org/drawingml/2006/main">
              <a:ext uri="{FF2B5EF4-FFF2-40B4-BE49-F238E27FC236}">
                <a16:creationId xmlns:a16="http://schemas.microsoft.com/office/drawing/2014/main" id="{8BE738D1-0A72-4FA4-B4EB-65FD5DE3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642" y="3048508"/>
            <a:ext cx="3280800" cy="27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9100" tIns="49525" rIns="99100" bIns="49525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691"/>
              <a:buFont typeface="Microsoft JhengHei"/>
              <a:buNone/>
            </a:pPr>
            <a:r>
              <a:rPr sz="1691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攝影師必須持續追焦、跟車、保持構圖，工時拉長，穩定度下降與失誤率提高，導播也需要承擔更多補救壓力。</a:t>
            </a:r>
          </a:p>
        </p:txBody>
      </p:sp>
      <p:sp>
        <p:nvSpPr>
          <p:cNvPr id="94" name="Google Shape;94;p3">
            <a:extLst xmlns:a="http://schemas.openxmlformats.org/drawingml/2006/main">
              <a:ext uri="{FF2B5EF4-FFF2-40B4-BE49-F238E27FC236}">
                <a16:creationId xmlns:a16="http://schemas.microsoft.com/office/drawing/2014/main" id="{8C07C86E-0BE6-466F-A28B-C244470A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93268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17E"/>
              </a:buClr>
              <a:buSzPts val="580"/>
              <a:buFont typeface="Microsoft JhengHei"/>
              <a:buNone/>
            </a:pPr>
            <a:r>
              <a:rPr sz="580" b="0" i="0" u="none" cap="none">
                <a:solidFill>
                  <a:srgbClr val="66717E"/>
                </a:solidFill>
                <a:latin typeface="Microsoft JhengHei"/>
                <a:ea typeface="Microsoft JhengHei"/>
                <a:cs typeface="Microsoft JhengHei"/>
              </a:rPr>
              <a:t>資料依據：台灣公開直播服務方案與市場頁面；三機直播與大型多機直播費用範圍用於簡報估算。</a:t>
            </a:r>
          </a:p>
        </p:txBody>
      </p:sp>
      <p:sp>
        <p:nvSpPr>
          <p:cNvPr id="95" name="Google Shape;95;p3">
            <a:extLst xmlns:a="http://schemas.openxmlformats.org/drawingml/2006/main">
              <a:ext uri="{FF2B5EF4-FFF2-40B4-BE49-F238E27FC236}">
                <a16:creationId xmlns:a16="http://schemas.microsoft.com/office/drawing/2014/main" id="{734E5AFD-F009-4DBF-BC64-21715C3644C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pic>
        <p:nvPicPr>
          <p:cNvPr id="121" name="Google Shape;96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6011602ad34af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35842" y="4164463"/>
            <a:ext cx="1691379" cy="169137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2" name="Google Shape;97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fe1033fef74ba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14619" y="4137405"/>
            <a:ext cx="1745468" cy="17454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3" name="Google Shape;98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2a7a177d1d6416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45004" y="4345104"/>
            <a:ext cx="1330070" cy="13300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703138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Google Shape;104;p4">
            <a:extLst xmlns:a="http://schemas.openxmlformats.org/drawingml/2006/main">
              <a:ext uri="{FF2B5EF4-FFF2-40B4-BE49-F238E27FC236}">
                <a16:creationId xmlns:a16="http://schemas.microsoft.com/office/drawing/2014/main" id="{A167705C-BCBC-4BC2-801C-7B9134F1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105" name="Google Shape;105;p4">
            <a:extLst xmlns:a="http://schemas.openxmlformats.org/drawingml/2006/main">
              <a:ext uri="{FF2B5EF4-FFF2-40B4-BE49-F238E27FC236}">
                <a16:creationId xmlns:a16="http://schemas.microsoft.com/office/drawing/2014/main" id="{E4284CD9-7A29-4DD9-99E6-5A4462FE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106" name="Google Shape;106;p4">
            <a:extLst xmlns:a="http://schemas.openxmlformats.org/drawingml/2006/main">
              <a:ext uri="{FF2B5EF4-FFF2-40B4-BE49-F238E27FC236}">
                <a16:creationId xmlns:a16="http://schemas.microsoft.com/office/drawing/2014/main" id="{1C1D41D7-C4F7-4342-BDF0-C80EC75E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107" name="Google Shape;107;p4">
            <a:extLst xmlns:a="http://schemas.openxmlformats.org/drawingml/2006/main">
              <a:ext uri="{FF2B5EF4-FFF2-40B4-BE49-F238E27FC236}">
                <a16:creationId xmlns:a16="http://schemas.microsoft.com/office/drawing/2014/main" id="{259238CA-87B6-4902-A218-BAE73D30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108" name="Google Shape;108;p4">
            <a:extLst xmlns:a="http://schemas.openxmlformats.org/drawingml/2006/main">
              <a:ext uri="{FF2B5EF4-FFF2-40B4-BE49-F238E27FC236}">
                <a16:creationId xmlns:a16="http://schemas.microsoft.com/office/drawing/2014/main" id="{90881A49-3DA7-47B5-B13E-27D07609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109" name="Google Shape;109;p4">
            <a:extLst xmlns:a="http://schemas.openxmlformats.org/drawingml/2006/main">
              <a:ext uri="{FF2B5EF4-FFF2-40B4-BE49-F238E27FC236}">
                <a16:creationId xmlns:a16="http://schemas.microsoft.com/office/drawing/2014/main" id="{4EE65A26-AC3A-4619-B014-3FE7BF44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12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03 PAIN POINTS</a:t>
            </a:r>
          </a:p>
        </p:txBody>
      </p:sp>
      <p:sp>
        <p:nvSpPr>
          <p:cNvPr id="110" name="Google Shape;110;p4">
            <a:extLst xmlns:a="http://schemas.openxmlformats.org/drawingml/2006/main">
              <a:ext uri="{FF2B5EF4-FFF2-40B4-BE49-F238E27FC236}">
                <a16:creationId xmlns:a16="http://schemas.microsoft.com/office/drawing/2014/main" id="{F40B82EC-E50D-47DF-8385-FBE3C336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607100" cy="43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2600"/>
              <a:buFont typeface="Microsoft JhengHei"/>
              <a:buNone/>
            </a:pPr>
            <a:r>
              <a:rPr sz="228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AI 拍攝系統要解決的三個現場痛點</a:t>
            </a:r>
          </a:p>
        </p:txBody>
      </p:sp>
      <p:sp>
        <p:nvSpPr>
          <p:cNvPr id="111" name="Google Shape;111;p4">
            <a:extLst xmlns:a="http://schemas.openxmlformats.org/drawingml/2006/main">
              <a:ext uri="{FF2B5EF4-FFF2-40B4-BE49-F238E27FC236}">
                <a16:creationId xmlns:a16="http://schemas.microsoft.com/office/drawing/2014/main" id="{4E4CEBBF-224A-4845-9E02-5143C37F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2" y="1572938"/>
            <a:ext cx="4391100" cy="75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37175" tIns="68575" rIns="137175" bIns="685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D00"/>
              </a:buClr>
              <a:buSzPts val="4202"/>
              <a:buFont typeface="Play"/>
              <a:buNone/>
            </a:pPr>
            <a:r>
              <a:rPr sz="4202" b="1" i="0" u="none" cap="none">
                <a:solidFill>
                  <a:srgbClr val="FF4D00"/>
                </a:solidFill>
                <a:latin typeface="Play"/>
                <a:ea typeface="Play"/>
                <a:cs typeface="Play"/>
              </a:rPr>
              <a:t>01</a:t>
            </a:r>
          </a:p>
        </p:txBody>
      </p:sp>
      <p:sp>
        <p:nvSpPr>
          <p:cNvPr id="112" name="Google Shape;112;p4">
            <a:extLst xmlns:a="http://schemas.openxmlformats.org/drawingml/2006/main">
              <a:ext uri="{FF2B5EF4-FFF2-40B4-BE49-F238E27FC236}">
                <a16:creationId xmlns:a16="http://schemas.microsoft.com/office/drawing/2014/main" id="{C5E6E023-FFBA-4D7D-92D9-2ACD18EA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2" y="2355039"/>
            <a:ext cx="4391100" cy="3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37175" tIns="68575" rIns="137175" bIns="685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576"/>
              <a:buFont typeface="Microsoft JhengHei"/>
              <a:buNone/>
            </a:pPr>
            <a:r>
              <a:rPr sz="1576" b="1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攝影師長時間拍攝穩定度下降</a:t>
            </a:r>
          </a:p>
        </p:txBody>
      </p:sp>
      <p:sp>
        <p:nvSpPr>
          <p:cNvPr id="113" name="Google Shape;113;p4">
            <a:extLst xmlns:a="http://schemas.openxmlformats.org/drawingml/2006/main">
              <a:ext uri="{FF2B5EF4-FFF2-40B4-BE49-F238E27FC236}">
                <a16:creationId xmlns:a16="http://schemas.microsoft.com/office/drawing/2014/main" id="{9FC61510-C2FF-43FA-893D-9BA2B0B0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228" y="1572938"/>
            <a:ext cx="4391100" cy="75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37175" tIns="68575" rIns="137175" bIns="685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4202"/>
              <a:buFont typeface="Play"/>
              <a:buNone/>
            </a:pPr>
            <a:r>
              <a:rPr sz="4202" b="1" i="0" u="none" cap="none">
                <a:solidFill>
                  <a:srgbClr val="12D6DF"/>
                </a:solidFill>
                <a:latin typeface="Play"/>
                <a:ea typeface="Play"/>
                <a:cs typeface="Play"/>
              </a:rPr>
              <a:t>02</a:t>
            </a:r>
          </a:p>
        </p:txBody>
      </p:sp>
      <p:sp>
        <p:nvSpPr>
          <p:cNvPr id="114" name="Google Shape;114;p4">
            <a:extLst xmlns:a="http://schemas.openxmlformats.org/drawingml/2006/main">
              <a:ext uri="{FF2B5EF4-FFF2-40B4-BE49-F238E27FC236}">
                <a16:creationId xmlns:a16="http://schemas.microsoft.com/office/drawing/2014/main" id="{A421EBC0-4E7A-4943-B357-EFCC386A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228" y="2355039"/>
            <a:ext cx="4391100" cy="3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37175" tIns="68575" rIns="137175" bIns="685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576"/>
              <a:buFont typeface="Microsoft JhengHei"/>
              <a:buNone/>
            </a:pPr>
            <a:r>
              <a:rPr sz="1576" b="1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缺工潮難負擔多位人力</a:t>
            </a:r>
          </a:p>
        </p:txBody>
      </p:sp>
      <p:sp>
        <p:nvSpPr>
          <p:cNvPr id="115" name="Google Shape;115;p4">
            <a:extLst xmlns:a="http://schemas.openxmlformats.org/drawingml/2006/main">
              <a:ext uri="{FF2B5EF4-FFF2-40B4-BE49-F238E27FC236}">
                <a16:creationId xmlns:a16="http://schemas.microsoft.com/office/drawing/2014/main" id="{4AB48CAE-B2FF-4C58-8C34-9975289C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362" y="1572938"/>
            <a:ext cx="4391100" cy="75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37175" tIns="68575" rIns="137175" bIns="685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4202"/>
              <a:buFont typeface="Play"/>
              <a:buNone/>
            </a:pPr>
            <a:r>
              <a:rPr sz="4202" b="1" i="0" u="none" cap="none">
                <a:solidFill>
                  <a:srgbClr val="FFD166"/>
                </a:solidFill>
                <a:latin typeface="Play"/>
                <a:ea typeface="Play"/>
                <a:cs typeface="Play"/>
              </a:rPr>
              <a:t>03</a:t>
            </a:r>
          </a:p>
        </p:txBody>
      </p:sp>
      <p:sp>
        <p:nvSpPr>
          <p:cNvPr id="116" name="Google Shape;116;p4">
            <a:extLst xmlns:a="http://schemas.openxmlformats.org/drawingml/2006/main">
              <a:ext uri="{FF2B5EF4-FFF2-40B4-BE49-F238E27FC236}">
                <a16:creationId xmlns:a16="http://schemas.microsoft.com/office/drawing/2014/main" id="{FBD9FA02-0880-4E56-A9C7-BF2F518E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362" y="2355039"/>
            <a:ext cx="4391100" cy="3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37175" tIns="68575" rIns="137175" bIns="685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576"/>
              <a:buFont typeface="Microsoft JhengHei"/>
              <a:buNone/>
            </a:pPr>
            <a:r>
              <a:rPr sz="1576" b="1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人力成本日益上升</a:t>
            </a:r>
          </a:p>
        </p:txBody>
      </p:sp>
      <p:cxnSp>
        <p:nvCxnSpPr>
          <p:cNvPr id="191" name="Google Shape;117;p4"/>
          <p:cNvCxnSpPr/>
          <p:nvPr/>
        </p:nvCxnSpPr>
        <p:spPr>
          <a:xfrm xmlns:a="http://schemas.openxmlformats.org/drawingml/2006/main">
            <a:off x="1188720" y="4103900"/>
            <a:ext cx="978420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39465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" name="Google Shape;118;p4">
            <a:extLst xmlns:a="http://schemas.openxmlformats.org/drawingml/2006/main">
              <a:ext uri="{FF2B5EF4-FFF2-40B4-BE49-F238E27FC236}">
                <a16:creationId xmlns:a16="http://schemas.microsoft.com/office/drawing/2014/main" id="{4E76A5F2-B84D-4103-9F68-CAA41A2E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450" y="5012825"/>
            <a:ext cx="9121200" cy="6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8250" tIns="39100" rIns="78250" bIns="391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942"/>
              <a:buFont typeface="Microsoft JhengHei"/>
              <a:buNone/>
            </a:pPr>
            <a:r>
              <a:rPr sz="2073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這些問題不是「畫質」問題，而是「現場人力配置與持續操作穩定度」問題。</a:t>
            </a:r>
          </a:p>
        </p:txBody>
      </p:sp>
      <p:sp>
        <p:nvSpPr>
          <p:cNvPr id="119" name="Google Shape;119;p4">
            <a:extLst xmlns:a="http://schemas.openxmlformats.org/drawingml/2006/main">
              <a:ext uri="{FF2B5EF4-FFF2-40B4-BE49-F238E27FC236}">
                <a16:creationId xmlns:a16="http://schemas.microsoft.com/office/drawing/2014/main" id="{D64239FF-4A9A-4679-A805-E00D9538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300" y="5481842"/>
            <a:ext cx="9835500" cy="6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8250" tIns="39100" rIns="78250" bIns="391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484"/>
              <a:buFont typeface="Microsoft JhengHei"/>
              <a:buNone/>
            </a:pPr>
            <a:r>
              <a:rPr sz="1484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AI Vision Director 不取代攝影師，而是把最疲勞、最重複、最容易失誤的追車與構圖控制自動化。</a:t>
            </a:r>
          </a:p>
        </p:txBody>
      </p:sp>
      <p:sp>
        <p:nvSpPr>
          <p:cNvPr id="120" name="Google Shape;120;p4">
            <a:extLst xmlns:a="http://schemas.openxmlformats.org/drawingml/2006/main">
              <a:ext uri="{FF2B5EF4-FFF2-40B4-BE49-F238E27FC236}">
                <a16:creationId xmlns:a16="http://schemas.microsoft.com/office/drawing/2014/main" id="{80BD5098-96CE-44F1-BC8B-723624247EA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sp>
        <p:nvSpPr>
          <p:cNvPr id="121" name="Google Shape;121;p4">
            <a:extLst xmlns:a="http://schemas.openxmlformats.org/drawingml/2006/main">
              <a:ext uri="{FF2B5EF4-FFF2-40B4-BE49-F238E27FC236}">
                <a16:creationId xmlns:a16="http://schemas.microsoft.com/office/drawing/2014/main" id="{11C783D6-6E8F-4B48-B119-EFF6336E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539" y="4167407"/>
            <a:ext cx="749700" cy="26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B1A"/>
              </a:buClr>
              <a:buSzPts val="1500"/>
              <a:buFont typeface="Microsoft JhengHei"/>
              <a:buNone/>
            </a:pPr>
            <a:r>
              <a:rPr sz="1900" b="1" i="0" u="none" cap="none">
                <a:solidFill>
                  <a:srgbClr val="FF5B1A"/>
                </a:solidFill>
                <a:latin typeface="Microsoft JhengHei"/>
                <a:ea typeface="Microsoft JhengHei"/>
                <a:cs typeface="Microsoft JhengHei"/>
              </a:rPr>
              <a:t>疲勞</a:t>
            </a:r>
          </a:p>
        </p:txBody>
      </p:sp>
      <p:sp>
        <p:nvSpPr>
          <p:cNvPr id="122" name="Google Shape;122;p4">
            <a:extLst xmlns:a="http://schemas.openxmlformats.org/drawingml/2006/main">
              <a:ext uri="{FF2B5EF4-FFF2-40B4-BE49-F238E27FC236}">
                <a16:creationId xmlns:a16="http://schemas.microsoft.com/office/drawing/2014/main" id="{FCFADAEE-CA30-415D-93F0-76F5E288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189" y="4167407"/>
            <a:ext cx="749700" cy="26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6FF"/>
              </a:buClr>
              <a:buSzPts val="1500"/>
              <a:buFont typeface="Microsoft JhengHei"/>
              <a:buNone/>
            </a:pPr>
            <a:r>
              <a:rPr sz="1900" b="1" i="0" u="none" cap="none">
                <a:solidFill>
                  <a:srgbClr val="00D6FF"/>
                </a:solidFill>
                <a:latin typeface="Microsoft JhengHei"/>
                <a:ea typeface="Microsoft JhengHei"/>
                <a:cs typeface="Microsoft JhengHei"/>
              </a:rPr>
              <a:t>人力</a:t>
            </a:r>
          </a:p>
        </p:txBody>
      </p:sp>
      <p:sp>
        <p:nvSpPr>
          <p:cNvPr id="123" name="Google Shape;123;p4">
            <a:extLst xmlns:a="http://schemas.openxmlformats.org/drawingml/2006/main">
              <a:ext uri="{FF2B5EF4-FFF2-40B4-BE49-F238E27FC236}">
                <a16:creationId xmlns:a16="http://schemas.microsoft.com/office/drawing/2014/main" id="{C7442DD2-211E-485F-A89C-690C6D06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264" y="4167395"/>
            <a:ext cx="749700" cy="26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C440"/>
              </a:buClr>
              <a:buSzPts val="1500"/>
              <a:buFont typeface="Microsoft JhengHei"/>
              <a:buNone/>
            </a:pPr>
            <a:r>
              <a:rPr sz="1900" b="1" i="0" u="none" cap="none">
                <a:solidFill>
                  <a:srgbClr val="F5C440"/>
                </a:solidFill>
                <a:latin typeface="Microsoft JhengHei"/>
                <a:ea typeface="Microsoft JhengHei"/>
                <a:cs typeface="Microsoft JhengHei"/>
              </a:rPr>
              <a:t>成本</a:t>
            </a:r>
          </a:p>
        </p:txBody>
      </p:sp>
      <p:pic>
        <p:nvPicPr>
          <p:cNvPr id="198" name="Google Shape;124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dbb183f1d34c4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40645" y="2855446"/>
            <a:ext cx="1050100" cy="1050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9" name="Google Shape;125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d86280c6a1c425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549025" y="2821450"/>
            <a:ext cx="1200050" cy="12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0" name="Google Shape;126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fcc753699c471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917500" y="2802825"/>
            <a:ext cx="1119250" cy="1119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1648999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Google Shape;132;p5">
            <a:extLst xmlns:a="http://schemas.openxmlformats.org/drawingml/2006/main">
              <a:ext uri="{FF2B5EF4-FFF2-40B4-BE49-F238E27FC236}">
                <a16:creationId xmlns:a16="http://schemas.microsoft.com/office/drawing/2014/main" id="{F5E8D371-5D73-4209-B124-2C2A4267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6FF"/>
              </a:buClr>
              <a:buSzPts val="700"/>
              <a:buFont typeface="Microsoft JhengHei"/>
              <a:buNone/>
            </a:pPr>
            <a:r>
              <a:rPr sz="700" b="1" i="0" u="none" cap="none">
                <a:solidFill>
                  <a:srgbClr val="00D6FF"/>
                </a:solidFill>
                <a:latin typeface="Microsoft JhengHei"/>
                <a:ea typeface="Microsoft JhengHei"/>
                <a:cs typeface="Microsoft JhengHei"/>
              </a:rPr>
              <a:t>04 POSITIONING</a:t>
            </a:r>
          </a:p>
        </p:txBody>
      </p:sp>
      <p:sp>
        <p:nvSpPr>
          <p:cNvPr id="133" name="Google Shape;133;p5">
            <a:extLst xmlns:a="http://schemas.openxmlformats.org/drawingml/2006/main">
              <a:ext uri="{FF2B5EF4-FFF2-40B4-BE49-F238E27FC236}">
                <a16:creationId xmlns:a16="http://schemas.microsoft.com/office/drawing/2014/main" id="{285F64B9-17AA-4661-A503-8DF8A7BF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8961000" cy="43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2600"/>
              <a:buFont typeface="Microsoft JhengHei"/>
              <a:buNone/>
            </a:pPr>
            <a:r>
              <a:rPr sz="2600" b="1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專案定位：Desktop 與 iPhone 組成同一套拍攝助理</a:t>
            </a:r>
          </a:p>
        </p:txBody>
      </p:sp>
      <p:sp>
        <p:nvSpPr>
          <p:cNvPr id="134" name="Google Shape;134;p5">
            <a:extLst xmlns:a="http://schemas.openxmlformats.org/drawingml/2006/main">
              <a:ext uri="{FF2B5EF4-FFF2-40B4-BE49-F238E27FC236}">
                <a16:creationId xmlns:a16="http://schemas.microsoft.com/office/drawing/2014/main" id="{FAB33504-3DEA-4316-9C04-DE20E6E2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47472"/>
            <a:ext cx="109728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1A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135" name="Google Shape;135;p5">
            <a:extLst xmlns:a="http://schemas.openxmlformats.org/drawingml/2006/main">
              <a:ext uri="{FF2B5EF4-FFF2-40B4-BE49-F238E27FC236}">
                <a16:creationId xmlns:a16="http://schemas.microsoft.com/office/drawing/2014/main" id="{D7C3B778-AF9F-410C-92B3-11BA4F80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9768"/>
            <a:ext cx="12344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6FF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136" name="Google Shape;136;p5">
            <a:extLst xmlns:a="http://schemas.openxmlformats.org/drawingml/2006/main">
              <a:ext uri="{FF2B5EF4-FFF2-40B4-BE49-F238E27FC236}">
                <a16:creationId xmlns:a16="http://schemas.microsoft.com/office/drawing/2014/main" id="{FA40461C-F9F3-473B-8D80-8271E80E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2064"/>
            <a:ext cx="105156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1A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137" name="Google Shape;137;p5">
            <a:extLst xmlns:a="http://schemas.openxmlformats.org/drawingml/2006/main">
              <a:ext uri="{FF2B5EF4-FFF2-40B4-BE49-F238E27FC236}">
                <a16:creationId xmlns:a16="http://schemas.microsoft.com/office/drawing/2014/main" id="{3F816490-EE31-4E1D-94C2-E62195C6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94360"/>
            <a:ext cx="9144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6FF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138" name="Google Shape;138;p5">
            <a:extLst xmlns:a="http://schemas.openxmlformats.org/drawingml/2006/main">
              <a:ext uri="{FF2B5EF4-FFF2-40B4-BE49-F238E27FC236}">
                <a16:creationId xmlns:a16="http://schemas.microsoft.com/office/drawing/2014/main" id="{5FCFA024-DCB0-4DD8-828F-845AFB69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34440"/>
            <a:ext cx="5074800" cy="4709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B25"/>
          </a:solidFill>
          <a:ln xmlns:a="http://schemas.openxmlformats.org/drawingml/2006/main" w="15225" cmpd="sng">
            <a:solidFill>
              <a:srgbClr val="FF5B1A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139" name="Google Shape;139;p5">
            <a:extLst xmlns:a="http://schemas.openxmlformats.org/drawingml/2006/main">
              <a:ext uri="{FF2B5EF4-FFF2-40B4-BE49-F238E27FC236}">
                <a16:creationId xmlns:a16="http://schemas.microsoft.com/office/drawing/2014/main" id="{E3329173-102E-4069-A4C3-69151496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540" y="1508760"/>
            <a:ext cx="4480500" cy="34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B1A"/>
              </a:buClr>
              <a:buSzPts val="2000"/>
              <a:buFont typeface="Microsoft JhengHei"/>
              <a:buNone/>
            </a:pPr>
            <a:r>
              <a:rPr sz="2100" b="1" i="0" u="none" cap="none">
                <a:solidFill>
                  <a:srgbClr val="FF5B1A"/>
                </a:solidFill>
                <a:latin typeface="Microsoft JhengHei"/>
                <a:ea typeface="Microsoft JhengHei"/>
                <a:cs typeface="Microsoft JhengHei"/>
              </a:rPr>
              <a:t>人負責：判斷與品質把關</a:t>
            </a:r>
          </a:p>
        </p:txBody>
      </p:sp>
      <p:sp>
        <p:nvSpPr>
          <p:cNvPr id="140" name="Google Shape;140;p5">
            <a:extLst xmlns:a="http://schemas.openxmlformats.org/drawingml/2006/main">
              <a:ext uri="{FF2B5EF4-FFF2-40B4-BE49-F238E27FC236}">
                <a16:creationId xmlns:a16="http://schemas.microsoft.com/office/drawing/2014/main" id="{0CC73F0F-14A5-4EB7-9BCF-04F27B2C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550" y="1965951"/>
            <a:ext cx="4480500" cy="102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18275" rIns="45700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600"/>
              <a:buFont typeface="Microsoft JhengHei"/>
              <a:buNone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• 架設設備與確認拍攝位置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600"/>
              <a:buFont typeface="Microsoft JhengHei"/>
              <a:buNone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• 判斷畫面美感與直播節奏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600"/>
              <a:buFont typeface="Microsoft JhengHei"/>
              <a:buNone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• 處理突發事件與整體品質把關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600"/>
              <a:buFont typeface="Microsoft JhengHei"/>
              <a:buNone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• 決定追蹤目標與切換時機</a:t>
            </a:r>
          </a:p>
        </p:txBody>
      </p:sp>
      <p:sp>
        <p:nvSpPr>
          <p:cNvPr id="141" name="Google Shape;141;p5">
            <a:extLst xmlns:a="http://schemas.openxmlformats.org/drawingml/2006/main">
              <a:ext uri="{FF2B5EF4-FFF2-40B4-BE49-F238E27FC236}">
                <a16:creationId xmlns:a16="http://schemas.microsoft.com/office/drawing/2014/main" id="{EE143ED1-DF65-4491-AD06-B88E7080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266944"/>
            <a:ext cx="4526400" cy="31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B1A"/>
              </a:buClr>
              <a:buSzPts val="1800"/>
              <a:buFont typeface="Microsoft JhengHei"/>
              <a:buNone/>
            </a:pPr>
            <a:r>
              <a:rPr sz="1800" b="1" i="0" u="none" cap="none">
                <a:solidFill>
                  <a:srgbClr val="FF5B1A"/>
                </a:solidFill>
                <a:latin typeface="Microsoft JhengHei"/>
                <a:ea typeface="Microsoft JhengHei"/>
                <a:cs typeface="Microsoft JhengHei"/>
              </a:rPr>
              <a:t>創意、臨場反應、整體控場仍由人主導</a:t>
            </a:r>
          </a:p>
        </p:txBody>
      </p:sp>
      <p:sp>
        <p:nvSpPr>
          <p:cNvPr id="142" name="Google Shape;142;p5">
            <a:extLst xmlns:a="http://schemas.openxmlformats.org/drawingml/2006/main">
              <a:ext uri="{FF2B5EF4-FFF2-40B4-BE49-F238E27FC236}">
                <a16:creationId xmlns:a16="http://schemas.microsoft.com/office/drawing/2014/main" id="{6E3463D0-44C1-4BBB-8C37-01E3B429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234440"/>
            <a:ext cx="5074920" cy="470916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B25"/>
          </a:solidFill>
          <a:ln xmlns:a="http://schemas.openxmlformats.org/drawingml/2006/main" w="15225" cmpd="sng">
            <a:solidFill>
              <a:srgbClr val="00D6F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143" name="Google Shape;143;p5">
            <a:extLst xmlns:a="http://schemas.openxmlformats.org/drawingml/2006/main">
              <a:ext uri="{FF2B5EF4-FFF2-40B4-BE49-F238E27FC236}">
                <a16:creationId xmlns:a16="http://schemas.microsoft.com/office/drawing/2014/main" id="{C0FF5A8E-F584-4328-B3C1-B614FEE6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250" y="1508760"/>
            <a:ext cx="4480500" cy="34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6FF"/>
              </a:buClr>
              <a:buSzPts val="2000"/>
              <a:buFont typeface="Microsoft JhengHei"/>
              <a:buNone/>
            </a:pPr>
            <a:r>
              <a:rPr sz="2100" b="1" i="0" u="none" cap="none">
                <a:solidFill>
                  <a:srgbClr val="00D6FF"/>
                </a:solidFill>
                <a:latin typeface="Microsoft JhengHei"/>
                <a:ea typeface="Microsoft JhengHei"/>
                <a:cs typeface="Microsoft JhengHei"/>
              </a:rPr>
              <a:t>機器負責：重複追蹤與控制</a:t>
            </a:r>
          </a:p>
        </p:txBody>
      </p:sp>
      <p:sp>
        <p:nvSpPr>
          <p:cNvPr id="144" name="Google Shape;144;p5">
            <a:extLst xmlns:a="http://schemas.openxmlformats.org/drawingml/2006/main">
              <a:ext uri="{FF2B5EF4-FFF2-40B4-BE49-F238E27FC236}">
                <a16:creationId xmlns:a16="http://schemas.microsoft.com/office/drawing/2014/main" id="{85651971-5D37-4B44-A056-94189015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250" y="1965960"/>
            <a:ext cx="4480500" cy="107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18275" rIns="45700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600"/>
              <a:buFont typeface="Microsoft JhengHei"/>
              <a:buNone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• Desktop 執行偵測、追蹤與 GID / ReID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600"/>
              <a:buFont typeface="Microsoft JhengHei"/>
              <a:buNone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• Framing Engine 產生構圖與 zoom 目標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600"/>
              <a:buFont typeface="Microsoft JhengHei"/>
              <a:buNone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• iPhone 提供相機影像與實體倍率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600"/>
              <a:buFont typeface="Microsoft JhengHei"/>
              <a:buNone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• DockKit 執行 yaw / pitch / roll 與 Home</a:t>
            </a:r>
          </a:p>
        </p:txBody>
      </p:sp>
      <p:sp>
        <p:nvSpPr>
          <p:cNvPr id="145" name="Google Shape;145;p5">
            <a:extLst xmlns:a="http://schemas.openxmlformats.org/drawingml/2006/main">
              <a:ext uri="{FF2B5EF4-FFF2-40B4-BE49-F238E27FC236}">
                <a16:creationId xmlns:a16="http://schemas.microsoft.com/office/drawing/2014/main" id="{246DD9B1-2D86-4726-9868-BCDFD441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66944"/>
            <a:ext cx="4526400" cy="31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6FF"/>
              </a:buClr>
              <a:buSzPts val="1800"/>
              <a:buFont typeface="Microsoft JhengHei"/>
              <a:buNone/>
            </a:pPr>
            <a:r>
              <a:rPr sz="1800" b="1" i="0" u="none" cap="none">
                <a:solidFill>
                  <a:srgbClr val="00D6FF"/>
                </a:solidFill>
                <a:latin typeface="Microsoft JhengHei"/>
                <a:ea typeface="Microsoft JhengHei"/>
                <a:cs typeface="Microsoft JhengHei"/>
              </a:rPr>
              <a:t>高疲勞、高重複動作改由系統執行</a:t>
            </a:r>
          </a:p>
        </p:txBody>
      </p:sp>
      <p:sp>
        <p:nvSpPr>
          <p:cNvPr id="146" name="Google Shape;146;p5">
            <a:extLst xmlns:a="http://schemas.openxmlformats.org/drawingml/2006/main">
              <a:ext uri="{FF2B5EF4-FFF2-40B4-BE49-F238E27FC236}">
                <a16:creationId xmlns:a16="http://schemas.microsoft.com/office/drawing/2014/main" id="{576C2B77-B9EC-4067-B990-A5ADCB0B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938" y="6221550"/>
            <a:ext cx="7089300" cy="344700"/>
          </a:xfrm>
          <a:prstGeom xmlns:a="http://schemas.openxmlformats.org/drawingml/2006/main" prst="roundRect">
            <a:avLst>
              <a:gd name="adj" fmla="val 19098"/>
            </a:avLst>
          </a:prstGeom>
          <a:solidFill xmlns:a="http://schemas.openxmlformats.org/drawingml/2006/main">
            <a:srgbClr val="FF5B1A"/>
          </a:solidFill>
          <a:ln xmlns:a="http://schemas.openxmlformats.org/drawingml/2006/main">
            <a:noFill/>
          </a:ln>
          <a:effectLst xmlns:a="http://schemas.openxmlformats.org/drawingml/2006/main">
            <a:outerShdw blurRad="44302" dist="25474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101250" tIns="50625" rIns="101250" bIns="506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94"/>
              <a:buFont typeface="Arial"/>
              <a:buNone/>
            </a:pPr>
            <a:r>
              <a:t/>
            </a:r>
          </a:p>
        </p:txBody>
      </p:sp>
      <p:sp>
        <p:nvSpPr>
          <p:cNvPr id="147" name="Google Shape;147;p5">
            <a:extLst xmlns:a="http://schemas.openxmlformats.org/drawingml/2006/main">
              <a:ext uri="{FF2B5EF4-FFF2-40B4-BE49-F238E27FC236}">
                <a16:creationId xmlns:a16="http://schemas.microsoft.com/office/drawing/2014/main" id="{B4FDB076-0AD7-459B-AD6A-6D965A93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429" y="6221562"/>
            <a:ext cx="7089300" cy="344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0250" tIns="20250" rIns="20250" bIns="2025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994"/>
              <a:buFont typeface="Microsoft JhengHei"/>
              <a:buNone/>
            </a:pPr>
            <a:r>
              <a:rPr sz="1994" b="1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核心價值：讓攝影師從持續操作，轉為監看、判斷與品質把關</a:t>
            </a:r>
          </a:p>
        </p:txBody>
      </p:sp>
      <p:pic>
        <p:nvPicPr>
          <p:cNvPr id="166" name="Google Shape;148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998f289f7e405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6551" y="3252975"/>
            <a:ext cx="4344555" cy="17373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7" name="Google Shape;149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c8c6afbcdd42f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66824" y="3180687"/>
            <a:ext cx="3157325" cy="1893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0677598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Google Shape;155;p6">
            <a:extLst xmlns:a="http://schemas.openxmlformats.org/drawingml/2006/main">
              <a:ext uri="{FF2B5EF4-FFF2-40B4-BE49-F238E27FC236}">
                <a16:creationId xmlns:a16="http://schemas.microsoft.com/office/drawing/2014/main" id="{EAA4CD31-2BA9-4E32-8500-8BB51EF4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650" y="1676400"/>
            <a:ext cx="3943500" cy="43815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4275" cmpd="sng">
            <a:solidFill>
              <a:srgbClr val="FF5B1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156" name="Google Shape;156;p6">
            <a:extLst xmlns:a="http://schemas.openxmlformats.org/drawingml/2006/main">
              <a:ext uri="{FF2B5EF4-FFF2-40B4-BE49-F238E27FC236}">
                <a16:creationId xmlns:a16="http://schemas.microsoft.com/office/drawing/2014/main" id="{EA46FE3E-77D3-4DA8-A2A7-E41BCAEC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750" y="1676400"/>
            <a:ext cx="4438800" cy="43815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4275" cmpd="sng">
            <a:solidFill>
              <a:srgbClr val="00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</a:p>
        </p:txBody>
      </p:sp>
      <p:sp>
        <p:nvSpPr>
          <p:cNvPr id="157" name="Google Shape;157;p6">
            <a:extLst xmlns:a="http://schemas.openxmlformats.org/drawingml/2006/main">
              <a:ext uri="{FF2B5EF4-FFF2-40B4-BE49-F238E27FC236}">
                <a16:creationId xmlns:a16="http://schemas.microsoft.com/office/drawing/2014/main" id="{603D1426-38D6-4F90-80D1-C53C58D8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35" y="323850"/>
            <a:ext cx="2095500" cy="2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sz="1125" b="1" i="0" u="none" cap="none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05 V2.3 SYSTEM FLOW</a:t>
            </a:r>
          </a:p>
        </p:txBody>
      </p:sp>
      <p:sp>
        <p:nvSpPr>
          <p:cNvPr id="158" name="Google Shape;158;p6">
            <a:extLst xmlns:a="http://schemas.openxmlformats.org/drawingml/2006/main">
              <a:ext uri="{FF2B5EF4-FFF2-40B4-BE49-F238E27FC236}">
                <a16:creationId xmlns:a16="http://schemas.microsoft.com/office/drawing/2014/main" id="{1B754661-2C1D-4588-A083-7256F4F8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27" y="647700"/>
            <a:ext cx="73068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雙端閉環：iPhone ↔ Desktop ↔ DockKit</a:t>
            </a:r>
          </a:p>
        </p:txBody>
      </p:sp>
      <p:sp>
        <p:nvSpPr>
          <p:cNvPr id="159" name="Google Shape;159;p6">
            <a:extLst xmlns:a="http://schemas.openxmlformats.org/drawingml/2006/main">
              <a:ext uri="{FF2B5EF4-FFF2-40B4-BE49-F238E27FC236}">
                <a16:creationId xmlns:a16="http://schemas.microsoft.com/office/drawing/2014/main" id="{39DDD857-4280-495C-8B8F-143D1F1B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85" y="1181100"/>
            <a:ext cx="72387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sz="1425" b="0" i="0" u="none" cap="none">
                <a:solidFill>
                  <a:srgbClr val="B8C4D0"/>
                </a:solidFill>
                <a:latin typeface="Calibri"/>
                <a:ea typeface="Calibri"/>
                <a:cs typeface="Calibri"/>
              </a:rPr>
              <a:t>Bonjour 找到 Desktop；安全握手後，才以 WebSocket 交換影像與控制資料。</a:t>
            </a:r>
          </a:p>
        </p:txBody>
      </p:sp>
      <p:sp>
        <p:nvSpPr>
          <p:cNvPr id="160" name="Google Shape;160;p6">
            <a:extLst xmlns:a="http://schemas.openxmlformats.org/drawingml/2006/main">
              <a:ext uri="{FF2B5EF4-FFF2-40B4-BE49-F238E27FC236}">
                <a16:creationId xmlns:a16="http://schemas.microsoft.com/office/drawing/2014/main" id="{8BD0A0DF-C659-435F-8526-5B2CBE82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850" y="1867200"/>
            <a:ext cx="2476500" cy="3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>
              <a:alpha val="13333"/>
            </a:srgbClr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5"/>
              <a:buFont typeface="Arial"/>
              <a:buNone/>
            </a:pPr>
            <a:r>
              <a:rPr sz="1325" b="1" i="0" u="none" cap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iPhone Camera + DockKit</a:t>
            </a:r>
          </a:p>
        </p:txBody>
      </p:sp>
      <p:sp>
        <p:nvSpPr>
          <p:cNvPr id="161" name="Google Shape;161;p6">
            <a:extLst xmlns:a="http://schemas.openxmlformats.org/drawingml/2006/main">
              <a:ext uri="{FF2B5EF4-FFF2-40B4-BE49-F238E27FC236}">
                <a16:creationId xmlns:a16="http://schemas.microsoft.com/office/drawing/2014/main" id="{238175EB-8313-4A7F-AE9D-33583419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850" y="2381250"/>
            <a:ext cx="29721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22850" cmpd="sng">
            <a:solidFill>
              <a:srgbClr val="F97316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" dist="19050" dir="540000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162" name="Google Shape;162;p6">
            <a:extLst xmlns:a="http://schemas.openxmlformats.org/drawingml/2006/main">
              <a:ext uri="{FF2B5EF4-FFF2-40B4-BE49-F238E27FC236}">
                <a16:creationId xmlns:a16="http://schemas.microsoft.com/office/drawing/2014/main" id="{0FC587DA-955A-4AD7-AEB3-7CF7ADB6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052" y="2490746"/>
            <a:ext cx="2762400" cy="3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2300" b="1" i="0" u="none" cap="none">
                <a:solidFill>
                  <a:srgbClr val="FF5B1A"/>
                </a:solidFill>
                <a:latin typeface="Arial"/>
                <a:ea typeface="Arial"/>
                <a:cs typeface="Arial"/>
              </a:rPr>
              <a:t>1. iOS Camera</a:t>
            </a:r>
          </a:p>
        </p:txBody>
      </p:sp>
      <p:sp>
        <p:nvSpPr>
          <p:cNvPr id="163" name="Google Shape;163;p6">
            <a:extLst xmlns:a="http://schemas.openxmlformats.org/drawingml/2006/main">
              <a:ext uri="{FF2B5EF4-FFF2-40B4-BE49-F238E27FC236}">
                <a16:creationId xmlns:a16="http://schemas.microsoft.com/office/drawing/2014/main" id="{5243442E-13E8-4249-9319-93787B21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777" y="2908421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sz="1350" b="0" i="0" u="none" cap="none">
                <a:solidFill>
                  <a:srgbClr val="D6DEE7"/>
                </a:solidFill>
                <a:latin typeface="Calibri"/>
                <a:ea typeface="Calibri"/>
                <a:cs typeface="Calibri"/>
              </a:rPr>
              <a:t>JPEG latest-frame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sz="1350" b="0" i="0" u="none" cap="none">
                <a:solidFill>
                  <a:srgbClr val="D6DEE7"/>
                </a:solidFill>
                <a:latin typeface="Calibri"/>
                <a:ea typeface="Calibri"/>
                <a:cs typeface="Calibri"/>
              </a:rPr>
              <a:t>最高約 30 FPS</a:t>
            </a:r>
          </a:p>
        </p:txBody>
      </p:sp>
      <p:sp>
        <p:nvSpPr>
          <p:cNvPr id="164" name="Google Shape;164;p6">
            <a:extLst xmlns:a="http://schemas.openxmlformats.org/drawingml/2006/main">
              <a:ext uri="{FF2B5EF4-FFF2-40B4-BE49-F238E27FC236}">
                <a16:creationId xmlns:a16="http://schemas.microsoft.com/office/drawing/2014/main" id="{4BE6DADC-D473-4869-A2EB-BD9AFA3A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850" y="4343400"/>
            <a:ext cx="29721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22850" cmpd="sng">
            <a:solidFill>
              <a:srgbClr val="FF990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" dist="19050" dir="540000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165" name="Google Shape;165;p6">
            <a:extLst xmlns:a="http://schemas.openxmlformats.org/drawingml/2006/main">
              <a:ext uri="{FF2B5EF4-FFF2-40B4-BE49-F238E27FC236}">
                <a16:creationId xmlns:a16="http://schemas.microsoft.com/office/drawing/2014/main" id="{328ECD26-3A9A-47DC-AF46-335A38E8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241" y="4501621"/>
            <a:ext cx="2762400" cy="3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2300" b="1" i="0" u="none" cap="none">
                <a:solidFill>
                  <a:schemeClr val="accent2"/>
                </a:solidFill>
                <a:latin typeface="Arial"/>
                <a:ea typeface="Arial"/>
                <a:cs typeface="Arial"/>
              </a:rPr>
              <a:t>4. DockKit</a:t>
            </a:r>
          </a:p>
        </p:txBody>
      </p:sp>
      <p:sp>
        <p:nvSpPr>
          <p:cNvPr id="166" name="Google Shape;166;p6">
            <a:extLst xmlns:a="http://schemas.openxmlformats.org/drawingml/2006/main">
              <a:ext uri="{FF2B5EF4-FFF2-40B4-BE49-F238E27FC236}">
                <a16:creationId xmlns:a16="http://schemas.microsoft.com/office/drawing/2014/main" id="{592DBBBC-451B-4B04-8FBB-9292F37B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766" y="4958971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sz="1350" b="0" i="0" u="none" cap="none">
                <a:solidFill>
                  <a:srgbClr val="D6DEE7"/>
                </a:solidFill>
                <a:latin typeface="Calibri"/>
                <a:ea typeface="Calibri"/>
                <a:cs typeface="Calibri"/>
              </a:rPr>
              <a:t>關閉 System Tracking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sz="1350" b="0" i="0" u="none" cap="none">
                <a:solidFill>
                  <a:srgbClr val="D6DEE7"/>
                </a:solidFill>
                <a:latin typeface="Calibri"/>
                <a:ea typeface="Calibri"/>
                <a:cs typeface="Calibri"/>
              </a:rPr>
              <a:t>yaw / pitch / roll / Home / zoom</a:t>
            </a:r>
          </a:p>
        </p:txBody>
      </p:sp>
      <p:sp>
        <p:nvSpPr>
          <p:cNvPr id="167" name="Google Shape;167;p6">
            <a:extLst xmlns:a="http://schemas.openxmlformats.org/drawingml/2006/main">
              <a:ext uri="{FF2B5EF4-FFF2-40B4-BE49-F238E27FC236}">
                <a16:creationId xmlns:a16="http://schemas.microsoft.com/office/drawing/2014/main" id="{E91C8F84-E2AA-4D38-906B-EA69B3CC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549" y="2381250"/>
            <a:ext cx="36768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22850" cmpd="sng">
            <a:solidFill>
              <a:srgbClr val="22D3EE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" dist="19050" dir="540000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168" name="Google Shape;168;p6">
            <a:extLst xmlns:a="http://schemas.openxmlformats.org/drawingml/2006/main">
              <a:ext uri="{FF2B5EF4-FFF2-40B4-BE49-F238E27FC236}">
                <a16:creationId xmlns:a16="http://schemas.microsoft.com/office/drawing/2014/main" id="{A6419596-D82A-47B5-B072-6340C66E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999" y="2542538"/>
            <a:ext cx="2762400" cy="3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230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2. Desktop V2.3</a:t>
            </a:r>
          </a:p>
        </p:txBody>
      </p:sp>
      <p:sp>
        <p:nvSpPr>
          <p:cNvPr id="169" name="Google Shape;169;p6">
            <a:extLst xmlns:a="http://schemas.openxmlformats.org/drawingml/2006/main">
              <a:ext uri="{FF2B5EF4-FFF2-40B4-BE49-F238E27FC236}">
                <a16:creationId xmlns:a16="http://schemas.microsoft.com/office/drawing/2014/main" id="{BC1483FB-783C-4DCA-9682-D38DD6F6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5500" y="2981850"/>
            <a:ext cx="3519900" cy="71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sz="1350" b="0" i="0" u="none" cap="none">
                <a:solidFill>
                  <a:srgbClr val="D6DEE7"/>
                </a:solidFill>
                <a:latin typeface="Calibri"/>
                <a:ea typeface="Calibri"/>
                <a:cs typeface="Calibri"/>
              </a:rPr>
              <a:t>YOLO26 + Tracker Adapter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sz="1350" b="0" i="0" u="none" cap="none">
                <a:solidFill>
                  <a:srgbClr val="D6DEE7"/>
                </a:solidFill>
                <a:latin typeface="Calibri"/>
                <a:ea typeface="Calibri"/>
                <a:cs typeface="Calibri"/>
              </a:rPr>
              <a:t>GID / ReID + Feature Gallery + Framing</a:t>
            </a:r>
          </a:p>
        </p:txBody>
      </p:sp>
      <p:sp>
        <p:nvSpPr>
          <p:cNvPr id="170" name="Google Shape;170;p6">
            <a:extLst xmlns:a="http://schemas.openxmlformats.org/drawingml/2006/main">
              <a:ext uri="{FF2B5EF4-FFF2-40B4-BE49-F238E27FC236}">
                <a16:creationId xmlns:a16="http://schemas.microsoft.com/office/drawing/2014/main" id="{DC949699-19B9-41DB-AE6F-56C77EF1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549" y="4343400"/>
            <a:ext cx="36768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22850" cmpd="sng">
            <a:solidFill>
              <a:srgbClr val="A4C2F4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" dist="19050" dir="5400000">
              <a:srgbClr val="000000">
                <a:alpha val="10196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171" name="Google Shape;171;p6">
            <a:extLst xmlns:a="http://schemas.openxmlformats.org/drawingml/2006/main">
              <a:ext uri="{FF2B5EF4-FFF2-40B4-BE49-F238E27FC236}">
                <a16:creationId xmlns:a16="http://schemas.microsoft.com/office/drawing/2014/main" id="{2BAC8367-CABD-41E7-A9FD-71AB3779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430" y="4510869"/>
            <a:ext cx="2762400" cy="3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2300" b="1" i="0" u="none" cap="none">
                <a:solidFill>
                  <a:srgbClr val="A4C2F4"/>
                </a:solidFill>
                <a:latin typeface="Arial"/>
                <a:ea typeface="Arial"/>
                <a:cs typeface="Arial"/>
              </a:rPr>
              <a:t>3. Control Policy</a:t>
            </a:r>
          </a:p>
        </p:txBody>
      </p:sp>
      <p:sp>
        <p:nvSpPr>
          <p:cNvPr id="172" name="Google Shape;172;p6">
            <a:extLst xmlns:a="http://schemas.openxmlformats.org/drawingml/2006/main">
              <a:ext uri="{FF2B5EF4-FFF2-40B4-BE49-F238E27FC236}">
                <a16:creationId xmlns:a16="http://schemas.microsoft.com/office/drawing/2014/main" id="{273502FA-B8F3-42F4-9C28-077F47D6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575" y="4958975"/>
            <a:ext cx="28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sz="1350" b="0" i="0" u="none" cap="none">
                <a:solidFill>
                  <a:srgbClr val="D6DEE7"/>
                </a:solidFill>
                <a:latin typeface="Calibri"/>
                <a:ea typeface="Calibri"/>
                <a:cs typeface="Calibri"/>
              </a:rPr>
              <a:t>dead zone / hysteresis / rate limits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sz="1350" b="0" i="0" u="sng" cap="none">
                <a:solidFill>
                  <a:srgbClr val="D6DEE7"/>
                </a:solidFill>
                <a:latin typeface="Calibri"/>
                <a:ea typeface="Calibri"/>
                <a:cs typeface="Calibri"/>
              </a:rPr>
              <a:t>error / confidence / zoom / state</a:t>
            </a:r>
          </a:p>
        </p:txBody>
      </p:sp>
      <p:cxnSp>
        <p:nvCxnSpPr>
          <p:cNvPr id="304" name="Google Shape;173;p6"/>
          <p:cNvCxnSpPr/>
          <p:nvPr/>
        </p:nvCxnSpPr>
        <p:spPr>
          <a:xfrm xmlns:a="http://schemas.openxmlformats.org/drawingml/2006/main">
            <a:off x="5155300" y="2514075"/>
            <a:ext cx="1970400" cy="171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2D3EE"/>
            </a:solidFill>
            <a:prstDash val="solid"/>
            <a:round/>
            <a:headEnd type="none" w="sm" len="sm"/>
            <a:tailEnd type="stealth" w="lg" len="lg"/>
          </a:ln>
        </p:spPr>
      </p:cxnSp>
      <p:cxnSp>
        <p:nvCxnSpPr>
          <p:cNvPr id="305" name="Google Shape;174;p6"/>
          <p:cNvCxnSpPr/>
          <p:nvPr/>
        </p:nvCxnSpPr>
        <p:spPr>
          <a:xfrm xmlns:a="http://schemas.openxmlformats.org/drawingml/2006/main">
            <a:off x="9772374" y="3600450"/>
            <a:ext cx="0" cy="7431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94A3B8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75" name="Google Shape;175;p6">
            <a:extLst xmlns:a="http://schemas.openxmlformats.org/drawingml/2006/main">
              <a:ext uri="{FF2B5EF4-FFF2-40B4-BE49-F238E27FC236}">
                <a16:creationId xmlns:a16="http://schemas.microsoft.com/office/drawing/2014/main" id="{48263327-2B03-407F-8925-764B56F4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9025" y="2063813"/>
            <a:ext cx="22383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425" b="1" i="0" u="none" cap="none">
                <a:solidFill>
                  <a:srgbClr val="E5F7FA"/>
                </a:solidFill>
                <a:latin typeface="Calibri"/>
                <a:ea typeface="Calibri"/>
                <a:cs typeface="Calibri"/>
              </a:rPr>
              <a:t>Bonjour 探索 + 安全握手</a:t>
            </a:r>
          </a:p>
        </p:txBody>
      </p:sp>
      <p:sp>
        <p:nvSpPr>
          <p:cNvPr id="176" name="Google Shape;176;p6">
            <a:extLst xmlns:a="http://schemas.openxmlformats.org/drawingml/2006/main">
              <a:ext uri="{FF2B5EF4-FFF2-40B4-BE49-F238E27FC236}">
                <a16:creationId xmlns:a16="http://schemas.microsoft.com/office/drawing/2014/main" id="{6E015227-22B9-400F-889B-0105B99F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52" y="2571925"/>
            <a:ext cx="251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98EAF2"/>
                </a:solidFill>
                <a:latin typeface="Calibri"/>
                <a:ea typeface="Calibri"/>
                <a:cs typeface="Calibri"/>
              </a:rPr>
              <a:t>_autocamtracker._tcp / 4 s deadline</a:t>
            </a:r>
          </a:p>
        </p:txBody>
      </p:sp>
      <p:sp>
        <p:nvSpPr>
          <p:cNvPr id="177" name="Google Shape;177;p6">
            <a:extLst xmlns:a="http://schemas.openxmlformats.org/drawingml/2006/main">
              <a:ext uri="{FF2B5EF4-FFF2-40B4-BE49-F238E27FC236}">
                <a16:creationId xmlns:a16="http://schemas.microsoft.com/office/drawing/2014/main" id="{A318CFEA-95A8-4C4B-B7CE-E0220FD8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355" y="3022729"/>
            <a:ext cx="2238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1" i="0" u="none" cap="none">
                <a:solidFill>
                  <a:srgbClr val="E5F7FA"/>
                </a:solidFill>
                <a:latin typeface="Calibri"/>
                <a:ea typeface="Calibri"/>
                <a:cs typeface="Calibri"/>
              </a:rPr>
              <a:t>WebSocket 雙向資料</a:t>
            </a:r>
          </a:p>
        </p:txBody>
      </p:sp>
      <p:sp>
        <p:nvSpPr>
          <p:cNvPr id="178" name="Google Shape;178;p6">
            <a:extLst xmlns:a="http://schemas.openxmlformats.org/drawingml/2006/main">
              <a:ext uri="{FF2B5EF4-FFF2-40B4-BE49-F238E27FC236}">
                <a16:creationId xmlns:a16="http://schemas.microsoft.com/office/drawing/2014/main" id="{9D595270-ACD6-4191-80A5-064C8305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891" y="3646067"/>
            <a:ext cx="21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98EAF2"/>
                </a:solidFill>
                <a:latin typeface="Calibri"/>
                <a:ea typeface="Calibri"/>
                <a:cs typeface="Calibri"/>
              </a:rPr>
              <a:t>上行 JPEG / 下行 JSON tracking</a:t>
            </a:r>
          </a:p>
        </p:txBody>
      </p:sp>
      <p:sp>
        <p:nvSpPr>
          <p:cNvPr id="179" name="Google Shape;179;p6">
            <a:extLst xmlns:a="http://schemas.openxmlformats.org/drawingml/2006/main">
              <a:ext uri="{FF2B5EF4-FFF2-40B4-BE49-F238E27FC236}">
                <a16:creationId xmlns:a16="http://schemas.microsoft.com/office/drawing/2014/main" id="{27B0BF7F-C026-432E-8910-F581EC32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673" y="3800830"/>
            <a:ext cx="34299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100" b="1" i="0" u="sng" cap="none">
                <a:solidFill>
                  <a:srgbClr val="C9DAF8"/>
                </a:solidFill>
                <a:latin typeface="Calibri"/>
                <a:ea typeface="Calibri"/>
                <a:cs typeface="Calibri"/>
              </a:rPr>
              <a:t>身份 + 構圖 + policy → 控制命令</a:t>
            </a:r>
          </a:p>
        </p:txBody>
      </p:sp>
      <p:sp>
        <p:nvSpPr>
          <p:cNvPr id="180" name="Google Shape;180;p6">
            <a:extLst xmlns:a="http://schemas.openxmlformats.org/drawingml/2006/main">
              <a:ext uri="{FF2B5EF4-FFF2-40B4-BE49-F238E27FC236}">
                <a16:creationId xmlns:a16="http://schemas.microsoft.com/office/drawing/2014/main" id="{8AB93024-A454-425F-B919-2FB92F06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79" y="6248400"/>
            <a:ext cx="914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NFC 只用於首次配對；持續資料走區域網路 WebSocket，iPhone 再透過 Apple DockKit 控制穩定器。</a:t>
            </a:r>
          </a:p>
        </p:txBody>
      </p:sp>
      <p:sp>
        <p:nvSpPr>
          <p:cNvPr id="181" name="Google Shape;181;p6">
            <a:extLst xmlns:a="http://schemas.openxmlformats.org/drawingml/2006/main">
              <a:ext uri="{FF2B5EF4-FFF2-40B4-BE49-F238E27FC236}">
                <a16:creationId xmlns:a16="http://schemas.microsoft.com/office/drawing/2014/main" id="{986BBC2B-3923-477F-95C1-BC4D5396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775" y="6248400"/>
            <a:ext cx="1371600" cy="2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sz="975" b="0" i="0" u="none" cap="none">
                <a:solidFill>
                  <a:srgbClr val="61707E"/>
                </a:solidFill>
                <a:latin typeface="Calibri"/>
                <a:ea typeface="Calibri"/>
                <a:cs typeface="Calibri"/>
              </a:rPr>
              <a:t>AI Vision Director Desktop V2.3</a:t>
            </a:r>
          </a:p>
        </p:txBody>
      </p:sp>
      <p:sp>
        <p:nvSpPr>
          <p:cNvPr id="182" name="Google Shape;182;p6">
            <a:extLst xmlns:a="http://schemas.openxmlformats.org/drawingml/2006/main">
              <a:ext uri="{FF2B5EF4-FFF2-40B4-BE49-F238E27FC236}">
                <a16:creationId xmlns:a16="http://schemas.microsoft.com/office/drawing/2014/main" id="{98895FD2-75B5-4BF6-8DCC-1E1B0178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50" y="2283600"/>
            <a:ext cx="1719577" cy="3680638"/>
          </a:xfrm>
          <a:custGeom xmlns:a="http://schemas.openxmlformats.org/drawingml/2006/main">
            <a:rect l="l" t="t" r="r" b="b"/>
            <a:pathLst>
              <a:path w="3184402" h="6722626">
                <a:moveTo>
                  <a:pt x="0" y="0"/>
                </a:moveTo>
                <a:lnTo>
                  <a:pt x="3184402" y="0"/>
                </a:lnTo>
                <a:lnTo>
                  <a:pt x="3184402" y="6722626"/>
                </a:lnTo>
                <a:lnTo>
                  <a:pt x="0" y="67226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fb5ebdeb1e274c7b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83" name="Google Shape;183;p6">
            <a:extLst xmlns:a="http://schemas.openxmlformats.org/drawingml/2006/main">
              <a:ext uri="{FF2B5EF4-FFF2-40B4-BE49-F238E27FC236}">
                <a16:creationId xmlns:a16="http://schemas.microsoft.com/office/drawing/2014/main" id="{A685BA4A-B57E-4EA1-AA45-E0FDF62B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4226" y="357974"/>
            <a:ext cx="2011533" cy="1601912"/>
          </a:xfrm>
          <a:custGeom xmlns:a="http://schemas.openxmlformats.org/drawingml/2006/main">
            <a:rect l="l" t="t" r="r" b="b"/>
            <a:pathLst>
              <a:path w="7120471" h="5670484">
                <a:moveTo>
                  <a:pt x="0" y="0"/>
                </a:moveTo>
                <a:lnTo>
                  <a:pt x="7120471" y="0"/>
                </a:lnTo>
                <a:lnTo>
                  <a:pt x="7120471" y="5670484"/>
                </a:lnTo>
                <a:lnTo>
                  <a:pt x="0" y="56704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20d975b8323483c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84" name="Google Shape;184;p6">
            <a:extLst xmlns:a="http://schemas.openxmlformats.org/drawingml/2006/main">
              <a:ext uri="{FF2B5EF4-FFF2-40B4-BE49-F238E27FC236}">
                <a16:creationId xmlns:a16="http://schemas.microsoft.com/office/drawing/2014/main" id="{D0AA6C07-67A9-47A5-BEAF-93A45186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000" y="357974"/>
            <a:ext cx="1729037" cy="975746"/>
          </a:xfrm>
          <a:custGeom xmlns:a="http://schemas.openxmlformats.org/drawingml/2006/main">
            <a:rect l="l" t="t" r="r" b="b"/>
            <a:pathLst>
              <a:path w="6120484" h="3453969">
                <a:moveTo>
                  <a:pt x="0" y="0"/>
                </a:moveTo>
                <a:lnTo>
                  <a:pt x="6120485" y="0"/>
                </a:lnTo>
                <a:lnTo>
                  <a:pt x="6120485" y="3453969"/>
                </a:lnTo>
                <a:lnTo>
                  <a:pt x="0" y="345396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28dba4708c714159">
              <a:alphaModFix/>
            </a:blip>
            <a:stretch>
              <a:fillRect l="-390" t="0" r="-380" b="0"/>
            </a:stretch>
          </a:blipFill>
          <a:ln xmlns:a="http://schemas.openxmlformats.org/drawingml/2006/main">
            <a:noFill/>
          </a:ln>
        </p:spPr>
      </p:sp>
      <p:cxnSp>
        <p:nvCxnSpPr>
          <p:cNvPr id="316" name="Google Shape;185;p6"/>
          <p:cNvCxnSpPr/>
          <p:nvPr/>
        </p:nvCxnSpPr>
        <p:spPr>
          <a:xfrm xmlns:a="http://schemas.openxmlformats.org/drawingml/2006/main" rot="10800000">
            <a:off x="5208700" y="3529263"/>
            <a:ext cx="1799400" cy="183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2D3EE"/>
            </a:solidFill>
            <a:prstDash val="solid"/>
            <a:round/>
            <a:headEnd type="none" w="sm" len="sm"/>
            <a:tailEnd type="stealth" w="lg" len="lg"/>
          </a:ln>
        </p:spPr>
      </p:cxnSp>
      <p:cxnSp>
        <p:nvCxnSpPr>
          <p:cNvPr id="317" name="Google Shape;186;p6"/>
          <p:cNvCxnSpPr/>
          <p:nvPr/>
        </p:nvCxnSpPr>
        <p:spPr>
          <a:xfrm xmlns:a="http://schemas.openxmlformats.org/drawingml/2006/main" flipH="1">
            <a:off x="3510375" y="3653025"/>
            <a:ext cx="7200" cy="6378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rgbClr val="94A3B8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87" name="Google Shape;187;p6">
            <a:extLst xmlns:a="http://schemas.openxmlformats.org/drawingml/2006/main">
              <a:ext uri="{FF2B5EF4-FFF2-40B4-BE49-F238E27FC236}">
                <a16:creationId xmlns:a16="http://schemas.microsoft.com/office/drawing/2014/main" id="{382967C3-8AA4-40C0-9B9C-D4F31AAF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550" y="1867200"/>
            <a:ext cx="2381400" cy="362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5"/>
              <a:buFont typeface="Arial"/>
              <a:buNone/>
            </a:pPr>
            <a:r>
              <a:rPr sz="1325" b="1" i="0" u="none" cap="none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Mac / Desktop 軟體內部</a:t>
            </a:r>
          </a:p>
        </p:txBody>
      </p:sp>
      <p:sp>
        <p:nvSpPr>
          <p:cNvPr id="188" name="Google Shape;188;p6">
            <a:extLst xmlns:a="http://schemas.openxmlformats.org/drawingml/2006/main">
              <a:ext uri="{FF2B5EF4-FFF2-40B4-BE49-F238E27FC236}">
                <a16:creationId xmlns:a16="http://schemas.microsoft.com/office/drawing/2014/main" id="{7610F65C-CD9E-4061-BA75-C4580882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079" y="3718753"/>
            <a:ext cx="1371600" cy="54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sz="1225" b="1" i="0" u="sng" cap="none">
                <a:solidFill>
                  <a:srgbClr val="F9CB9C"/>
                </a:solidFill>
                <a:latin typeface="Calibri"/>
                <a:ea typeface="Calibri"/>
                <a:cs typeface="Calibri"/>
              </a:rPr>
              <a:t>NFC 配對</a:t>
            </a:r>
          </a:p>
        </p:txBody>
      </p:sp>
      <p:sp>
        <p:nvSpPr>
          <p:cNvPr id="189" name="Google Shape;189;p6">
            <a:extLst xmlns:a="http://schemas.openxmlformats.org/drawingml/2006/main">
              <a:ext uri="{FF2B5EF4-FFF2-40B4-BE49-F238E27FC236}">
                <a16:creationId xmlns:a16="http://schemas.microsoft.com/office/drawing/2014/main" id="{D38101CA-E1AA-4208-B349-EE4B22C9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781" y="3581763"/>
            <a:ext cx="2095500" cy="54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sz="1725" b="1">
                <a:solidFill>
                  <a:srgbClr val="F9CB9C"/>
                </a:solidFill>
                <a:latin typeface="Calibri"/>
                <a:ea typeface="Calibri"/>
                <a:cs typeface="Calibri"/>
              </a:rPr>
              <a:t>Apple DockKit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sz="1725" b="1">
                <a:solidFill>
                  <a:srgbClr val="F9CB9C"/>
                </a:solidFill>
                <a:latin typeface="Calibri"/>
                <a:ea typeface="Calibri"/>
                <a:cs typeface="Calibri"/>
              </a:rPr>
              <a:t> 控制</a:t>
            </a:r>
          </a:p>
        </p:txBody>
      </p:sp>
    </p:spTree>
    <p:extLst>
      <p:ext uri="{BB962C8B-B14F-4D97-AF65-F5344CB8AC3E}">
        <p14:creationId xmlns:p14="http://schemas.microsoft.com/office/powerpoint/2010/main" val="3142613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5" name="Google Shape;195;p7">
            <a:extLst xmlns:a="http://schemas.openxmlformats.org/drawingml/2006/main">
              <a:ext uri="{FF2B5EF4-FFF2-40B4-BE49-F238E27FC236}">
                <a16:creationId xmlns:a16="http://schemas.microsoft.com/office/drawing/2014/main" id="{FEDE82E1-040D-4D06-9C8F-29DB105B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689" y="1493520"/>
            <a:ext cx="4114800" cy="281940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196" name="Google Shape;196;p7">
            <a:extLst xmlns:a="http://schemas.openxmlformats.org/drawingml/2006/main">
              <a:ext uri="{FF2B5EF4-FFF2-40B4-BE49-F238E27FC236}">
                <a16:creationId xmlns:a16="http://schemas.microsoft.com/office/drawing/2014/main" id="{652E016F-053E-4F83-B276-BC93EFFD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88" y="259080"/>
            <a:ext cx="2438400" cy="21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06 IOS SOFTWARE</a:t>
            </a:r>
          </a:p>
        </p:txBody>
      </p:sp>
      <p:sp>
        <p:nvSpPr>
          <p:cNvPr id="197" name="Google Shape;197;p7">
            <a:extLst xmlns:a="http://schemas.openxmlformats.org/drawingml/2006/main">
              <a:ext uri="{FF2B5EF4-FFF2-40B4-BE49-F238E27FC236}">
                <a16:creationId xmlns:a16="http://schemas.microsoft.com/office/drawing/2014/main" id="{0EB886F5-F2FA-44AD-9698-0865F547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88" y="518160"/>
            <a:ext cx="746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手機軟體：AI Vision Director iOS App</a:t>
            </a:r>
          </a:p>
        </p:txBody>
      </p:sp>
      <p:sp>
        <p:nvSpPr>
          <p:cNvPr id="198" name="Google Shape;198;p7">
            <a:extLst xmlns:a="http://schemas.openxmlformats.org/drawingml/2006/main">
              <a:ext uri="{FF2B5EF4-FFF2-40B4-BE49-F238E27FC236}">
                <a16:creationId xmlns:a16="http://schemas.microsoft.com/office/drawing/2014/main" id="{93ABC991-D679-4474-B731-A88D88A7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27" y="1082040"/>
            <a:ext cx="94485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相機、連線、控制與安全都由 iOS App 負責，並與 Desktop 共用同一套版本化資料契約。</a:t>
            </a:r>
          </a:p>
        </p:txBody>
      </p:sp>
      <p:sp>
        <p:nvSpPr>
          <p:cNvPr id="199" name="Google Shape;199;p7">
            <a:extLst xmlns:a="http://schemas.openxmlformats.org/drawingml/2006/main">
              <a:ext uri="{FF2B5EF4-FFF2-40B4-BE49-F238E27FC236}">
                <a16:creationId xmlns:a16="http://schemas.microsoft.com/office/drawing/2014/main" id="{CCE253F3-3E65-4F2E-BA2F-372C4898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69" y="1493520"/>
            <a:ext cx="2057400" cy="28194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00" name="Google Shape;200;p7">
            <a:extLst xmlns:a="http://schemas.openxmlformats.org/drawingml/2006/main">
              <a:ext uri="{FF2B5EF4-FFF2-40B4-BE49-F238E27FC236}">
                <a16:creationId xmlns:a16="http://schemas.microsoft.com/office/drawing/2014/main" id="{8679A550-B280-44F7-B585-EEB98508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75" y="1630676"/>
            <a:ext cx="1752600" cy="44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>
              <a:alpha val="13333"/>
            </a:srgbClr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Camera&amp;Preview</a:t>
            </a:r>
          </a:p>
        </p:txBody>
      </p:sp>
      <p:sp>
        <p:nvSpPr>
          <p:cNvPr id="201" name="Google Shape;201;p7">
            <a:extLst xmlns:a="http://schemas.openxmlformats.org/drawingml/2006/main">
              <a:ext uri="{FF2B5EF4-FFF2-40B4-BE49-F238E27FC236}">
                <a16:creationId xmlns:a16="http://schemas.microsoft.com/office/drawing/2014/main" id="{C9F04600-645A-4E8A-BEE5-D1DBE184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075" y="1630675"/>
            <a:ext cx="3733800" cy="44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Discovery &amp; Network</a:t>
            </a:r>
          </a:p>
        </p:txBody>
      </p:sp>
      <p:sp>
        <p:nvSpPr>
          <p:cNvPr id="202" name="Google Shape;202;p7">
            <a:extLst xmlns:a="http://schemas.openxmlformats.org/drawingml/2006/main">
              <a:ext uri="{FF2B5EF4-FFF2-40B4-BE49-F238E27FC236}">
                <a16:creationId xmlns:a16="http://schemas.microsoft.com/office/drawing/2014/main" id="{B130B843-5A7B-4CE7-9CD3-F5FCB214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255" y="1493520"/>
            <a:ext cx="2057400" cy="28194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4ADE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03" name="Google Shape;203;p7">
            <a:extLst xmlns:a="http://schemas.openxmlformats.org/drawingml/2006/main">
              <a:ext uri="{FF2B5EF4-FFF2-40B4-BE49-F238E27FC236}">
                <a16:creationId xmlns:a16="http://schemas.microsoft.com/office/drawing/2014/main" id="{2E4A035C-000A-41A9-B93E-35CBF179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25" y="1630675"/>
            <a:ext cx="1898700" cy="44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DE80">
              <a:alpha val="13333"/>
            </a:srgbClr>
          </a:solidFill>
          <a:ln xmlns:a="http://schemas.openxmlformats.org/drawingml/2006/main" w="9525" cmpd="sng">
            <a:solidFill>
              <a:srgbClr val="4ADE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500" b="1" i="0" u="none" cap="none">
                <a:solidFill>
                  <a:srgbClr val="4ADE80"/>
                </a:solidFill>
                <a:latin typeface="Calibri"/>
                <a:ea typeface="Calibri"/>
                <a:cs typeface="Calibri"/>
              </a:rPr>
              <a:t>Command &amp; Safety</a:t>
            </a:r>
          </a:p>
        </p:txBody>
      </p:sp>
      <p:sp>
        <p:nvSpPr>
          <p:cNvPr id="204" name="Google Shape;204;p7">
            <a:extLst xmlns:a="http://schemas.openxmlformats.org/drawingml/2006/main">
              <a:ext uri="{FF2B5EF4-FFF2-40B4-BE49-F238E27FC236}">
                <a16:creationId xmlns:a16="http://schemas.microsoft.com/office/drawing/2014/main" id="{49FE564D-E3F8-409A-B359-BEE13E0A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475" y="1493520"/>
            <a:ext cx="2590800" cy="28194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05" name="Google Shape;205;p7">
            <a:extLst xmlns:a="http://schemas.openxmlformats.org/drawingml/2006/main">
              <a:ext uri="{FF2B5EF4-FFF2-40B4-BE49-F238E27FC236}">
                <a16:creationId xmlns:a16="http://schemas.microsoft.com/office/drawing/2014/main" id="{B7C04F6F-63AC-4256-9622-B8579DCD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250" y="1630675"/>
            <a:ext cx="2286000" cy="32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>
              <a:alpha val="13333"/>
            </a:srgbClr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DockKit Execution</a:t>
            </a:r>
          </a:p>
        </p:txBody>
      </p:sp>
      <p:sp>
        <p:nvSpPr>
          <p:cNvPr id="206" name="Google Shape;206;p7">
            <a:extLst xmlns:a="http://schemas.openxmlformats.org/drawingml/2006/main">
              <a:ext uri="{FF2B5EF4-FFF2-40B4-BE49-F238E27FC236}">
                <a16:creationId xmlns:a16="http://schemas.microsoft.com/office/drawing/2014/main" id="{FAD29BD8-3045-4913-AC86-0CA1E05C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5" y="2377452"/>
            <a:ext cx="1599900" cy="15138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F97316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07" name="Google Shape;207;p7">
            <a:extLst xmlns:a="http://schemas.openxmlformats.org/drawingml/2006/main">
              <a:ext uri="{FF2B5EF4-FFF2-40B4-BE49-F238E27FC236}">
                <a16:creationId xmlns:a16="http://schemas.microsoft.com/office/drawing/2014/main" id="{90FACA28-0B1B-4282-8D20-D33101A6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80" y="2560320"/>
            <a:ext cx="320100" cy="32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08" name="Google Shape;208;p7">
            <a:extLst xmlns:a="http://schemas.openxmlformats.org/drawingml/2006/main">
              <a:ext uri="{FF2B5EF4-FFF2-40B4-BE49-F238E27FC236}">
                <a16:creationId xmlns:a16="http://schemas.microsoft.com/office/drawing/2014/main" id="{7F2A1574-8AE8-4C68-8C66-E4C14DEE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09" y="2545080"/>
            <a:ext cx="9753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相機擷取</a:t>
            </a:r>
          </a:p>
        </p:txBody>
      </p:sp>
      <p:sp>
        <p:nvSpPr>
          <p:cNvPr id="209" name="Google Shape;209;p7">
            <a:extLst xmlns:a="http://schemas.openxmlformats.org/drawingml/2006/main">
              <a:ext uri="{FF2B5EF4-FFF2-40B4-BE49-F238E27FC236}">
                <a16:creationId xmlns:a16="http://schemas.microsoft.com/office/drawing/2014/main" id="{A577390C-013F-4D7C-886E-BD7412F5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825" y="2943800"/>
            <a:ext cx="155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Capture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Preview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JPEG / zoom</a:t>
            </a:r>
          </a:p>
        </p:txBody>
      </p:sp>
      <p:sp>
        <p:nvSpPr>
          <p:cNvPr id="210" name="Google Shape;210;p7">
            <a:extLst xmlns:a="http://schemas.openxmlformats.org/drawingml/2006/main">
              <a:ext uri="{FF2B5EF4-FFF2-40B4-BE49-F238E27FC236}">
                <a16:creationId xmlns:a16="http://schemas.microsoft.com/office/drawing/2014/main" id="{B2CCD326-C0E2-4C5E-B22D-EDBC7E4C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275" y="2377453"/>
            <a:ext cx="1752600" cy="17682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22D3EE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11" name="Google Shape;211;p7">
            <a:extLst xmlns:a="http://schemas.openxmlformats.org/drawingml/2006/main">
              <a:ext uri="{FF2B5EF4-FFF2-40B4-BE49-F238E27FC236}">
                <a16:creationId xmlns:a16="http://schemas.microsoft.com/office/drawing/2014/main" id="{5D843DCA-C376-47BF-9192-5EEAB927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00" y="2560320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12" name="Google Shape;212;p7">
            <a:extLst xmlns:a="http://schemas.openxmlformats.org/drawingml/2006/main">
              <a:ext uri="{FF2B5EF4-FFF2-40B4-BE49-F238E27FC236}">
                <a16:creationId xmlns:a16="http://schemas.microsoft.com/office/drawing/2014/main" id="{469F14C7-0E5D-4CEC-93FD-9E025ABB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867" y="2545080"/>
            <a:ext cx="10059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自動探索</a:t>
            </a:r>
          </a:p>
        </p:txBody>
      </p:sp>
      <p:sp>
        <p:nvSpPr>
          <p:cNvPr id="213" name="Google Shape;213;p7">
            <a:extLst xmlns:a="http://schemas.openxmlformats.org/drawingml/2006/main">
              <a:ext uri="{FF2B5EF4-FFF2-40B4-BE49-F238E27FC236}">
                <a16:creationId xmlns:a16="http://schemas.microsoft.com/office/drawing/2014/main" id="{EAA7AE89-6EB0-4C91-A9EC-427652CE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556" y="3002350"/>
            <a:ext cx="1691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Bonjour .local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舊 IP 修正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自動重連</a:t>
            </a:r>
          </a:p>
        </p:txBody>
      </p:sp>
      <p:sp>
        <p:nvSpPr>
          <p:cNvPr id="214" name="Google Shape;214;p7">
            <a:extLst xmlns:a="http://schemas.openxmlformats.org/drawingml/2006/main">
              <a:ext uri="{FF2B5EF4-FFF2-40B4-BE49-F238E27FC236}">
                <a16:creationId xmlns:a16="http://schemas.microsoft.com/office/drawing/2014/main" id="{18A112AD-4AF8-4D8E-8A89-153556EF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225" y="2377453"/>
            <a:ext cx="1752600" cy="17682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FBBF24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15" name="Google Shape;215;p7">
            <a:extLst xmlns:a="http://schemas.openxmlformats.org/drawingml/2006/main">
              <a:ext uri="{FF2B5EF4-FFF2-40B4-BE49-F238E27FC236}">
                <a16:creationId xmlns:a16="http://schemas.microsoft.com/office/drawing/2014/main" id="{C81B3E4F-4C9B-40E4-A202-FF5DFC03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149" y="2560320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 cmpd="sng">
            <a:solidFill>
              <a:srgbClr val="FBBF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16" name="Google Shape;216;p7">
            <a:extLst xmlns:a="http://schemas.openxmlformats.org/drawingml/2006/main">
              <a:ext uri="{FF2B5EF4-FFF2-40B4-BE49-F238E27FC236}">
                <a16:creationId xmlns:a16="http://schemas.microsoft.com/office/drawing/2014/main" id="{2E6E06E3-24B9-4C20-B231-AED5A1F2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816" y="2545080"/>
            <a:ext cx="10059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命令驗證</a:t>
            </a:r>
          </a:p>
        </p:txBody>
      </p:sp>
      <p:sp>
        <p:nvSpPr>
          <p:cNvPr id="217" name="Google Shape;217;p7">
            <a:extLst xmlns:a="http://schemas.openxmlformats.org/drawingml/2006/main">
              <a:ext uri="{FF2B5EF4-FFF2-40B4-BE49-F238E27FC236}">
                <a16:creationId xmlns:a16="http://schemas.microsoft.com/office/drawing/2014/main" id="{63303376-98E1-4ABD-9FAB-AB6E25CE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595" y="3032725"/>
            <a:ext cx="184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V1.0 JSON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sequence validation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target state</a:t>
            </a:r>
          </a:p>
        </p:txBody>
      </p:sp>
      <p:sp>
        <p:nvSpPr>
          <p:cNvPr id="218" name="Google Shape;218;p7">
            <a:extLst xmlns:a="http://schemas.openxmlformats.org/drawingml/2006/main">
              <a:ext uri="{FF2B5EF4-FFF2-40B4-BE49-F238E27FC236}">
                <a16:creationId xmlns:a16="http://schemas.microsoft.com/office/drawing/2014/main" id="{08EDF15F-7B2C-4FD8-A49F-C55E3DFF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850" y="2377450"/>
            <a:ext cx="1752600" cy="17682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4ADE8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19" name="Google Shape;219;p7">
            <a:extLst xmlns:a="http://schemas.openxmlformats.org/drawingml/2006/main">
              <a:ext uri="{FF2B5EF4-FFF2-40B4-BE49-F238E27FC236}">
                <a16:creationId xmlns:a16="http://schemas.microsoft.com/office/drawing/2014/main" id="{D69EAB2C-5802-45A0-A329-9FDBD92F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765" y="2560320"/>
            <a:ext cx="320100" cy="32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9525" cmpd="sng">
            <a:solidFill>
              <a:srgbClr val="4ADE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20" name="Google Shape;220;p7">
            <a:extLst xmlns:a="http://schemas.openxmlformats.org/drawingml/2006/main">
              <a:ext uri="{FF2B5EF4-FFF2-40B4-BE49-F238E27FC236}">
                <a16:creationId xmlns:a16="http://schemas.microsoft.com/office/drawing/2014/main" id="{EADF51E0-1E56-40ED-85D2-BB103EEF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001" y="2545074"/>
            <a:ext cx="1179300" cy="44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安全閘</a:t>
            </a:r>
          </a:p>
        </p:txBody>
      </p:sp>
      <p:sp>
        <p:nvSpPr>
          <p:cNvPr id="221" name="Google Shape;221;p7">
            <a:extLst xmlns:a="http://schemas.openxmlformats.org/drawingml/2006/main">
              <a:ext uri="{FF2B5EF4-FFF2-40B4-BE49-F238E27FC236}">
                <a16:creationId xmlns:a16="http://schemas.microsoft.com/office/drawing/2014/main" id="{5D1F5928-1959-4E8D-935A-95EA3D88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894" y="3070988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4 s handshake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500 ms timeout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invalid → STOP</a:t>
            </a:r>
          </a:p>
        </p:txBody>
      </p:sp>
      <p:sp>
        <p:nvSpPr>
          <p:cNvPr id="222" name="Google Shape;222;p7">
            <a:extLst xmlns:a="http://schemas.openxmlformats.org/drawingml/2006/main">
              <a:ext uri="{FF2B5EF4-FFF2-40B4-BE49-F238E27FC236}">
                <a16:creationId xmlns:a16="http://schemas.microsoft.com/office/drawing/2014/main" id="{331745BD-EA54-4981-911A-33856FAF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548" y="2026920"/>
            <a:ext cx="2057400" cy="1066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F97316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23" name="Google Shape;223;p7">
            <a:extLst xmlns:a="http://schemas.openxmlformats.org/drawingml/2006/main">
              <a:ext uri="{FF2B5EF4-FFF2-40B4-BE49-F238E27FC236}">
                <a16:creationId xmlns:a16="http://schemas.microsoft.com/office/drawing/2014/main" id="{A9BA7CE0-526C-4DB9-9C07-D85AA7C6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465" y="2175681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24" name="Google Shape;224;p7">
            <a:extLst xmlns:a="http://schemas.openxmlformats.org/drawingml/2006/main">
              <a:ext uri="{FF2B5EF4-FFF2-40B4-BE49-F238E27FC236}">
                <a16:creationId xmlns:a16="http://schemas.microsoft.com/office/drawing/2014/main" id="{FDFC6967-34A1-43BD-A9E4-902CEDE2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132" y="2168970"/>
            <a:ext cx="13107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雲台計算</a:t>
            </a:r>
          </a:p>
        </p:txBody>
      </p:sp>
      <p:sp>
        <p:nvSpPr>
          <p:cNvPr id="225" name="Google Shape;225;p7">
            <a:extLst xmlns:a="http://schemas.openxmlformats.org/drawingml/2006/main">
              <a:ext uri="{FF2B5EF4-FFF2-40B4-BE49-F238E27FC236}">
                <a16:creationId xmlns:a16="http://schemas.microsoft.com/office/drawing/2014/main" id="{32F93EF3-78B9-4DA5-8A76-05DC7916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75" y="2546685"/>
            <a:ext cx="2019900" cy="44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smoothing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rate limits</a:t>
            </a:r>
          </a:p>
        </p:txBody>
      </p:sp>
      <p:sp>
        <p:nvSpPr>
          <p:cNvPr id="226" name="Google Shape;226;p7">
            <a:extLst xmlns:a="http://schemas.openxmlformats.org/drawingml/2006/main">
              <a:ext uri="{FF2B5EF4-FFF2-40B4-BE49-F238E27FC236}">
                <a16:creationId xmlns:a16="http://schemas.microsoft.com/office/drawing/2014/main" id="{94E05804-008E-4140-8C8A-39CEB6CC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550" y="3291851"/>
            <a:ext cx="2057400" cy="9603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22D3EE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27" name="Google Shape;227;p7">
            <a:extLst xmlns:a="http://schemas.openxmlformats.org/drawingml/2006/main">
              <a:ext uri="{FF2B5EF4-FFF2-40B4-BE49-F238E27FC236}">
                <a16:creationId xmlns:a16="http://schemas.microsoft.com/office/drawing/2014/main" id="{674EC0D1-5720-40FE-B80A-B343FFEA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465" y="3432071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28" name="Google Shape;228;p7">
            <a:extLst xmlns:a="http://schemas.openxmlformats.org/drawingml/2006/main">
              <a:ext uri="{FF2B5EF4-FFF2-40B4-BE49-F238E27FC236}">
                <a16:creationId xmlns:a16="http://schemas.microsoft.com/office/drawing/2014/main" id="{085BBB74-4F7A-4FEE-B5EB-84850BED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7841" y="3425361"/>
            <a:ext cx="13107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DockKit</a:t>
            </a:r>
          </a:p>
        </p:txBody>
      </p:sp>
      <p:sp>
        <p:nvSpPr>
          <p:cNvPr id="229" name="Google Shape;229;p7">
            <a:extLst xmlns:a="http://schemas.openxmlformats.org/drawingml/2006/main">
              <a:ext uri="{FF2B5EF4-FFF2-40B4-BE49-F238E27FC236}">
                <a16:creationId xmlns:a16="http://schemas.microsoft.com/office/drawing/2014/main" id="{0D3C2664-C780-4907-A059-35414D0F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75" y="3771904"/>
            <a:ext cx="18492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Manual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Yaw / Pitch / Roll</a:t>
            </a:r>
          </a:p>
        </p:txBody>
      </p:sp>
      <p:cxnSp>
        <p:nvCxnSpPr>
          <p:cNvPr id="420" name="Google Shape;230;p7"/>
          <p:cNvCxnSpPr>
            <a:stCxn xmlns:a="http://schemas.openxmlformats.org/drawingml/2006/main" id="206" idx="3"/>
            <a:endCxn xmlns:a="http://schemas.openxmlformats.org/drawingml/2006/main" id="210" idx="1"/>
          </p:cNvCxnSpPr>
          <p:nvPr/>
        </p:nvCxnSpPr>
        <p:spPr>
          <a:xfrm xmlns:a="http://schemas.openxmlformats.org/drawingml/2006/main">
            <a:off x="2239975" y="3134352"/>
            <a:ext cx="640200" cy="12720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21" name="Google Shape;231;p7"/>
          <p:cNvCxnSpPr>
            <a:stCxn xmlns:a="http://schemas.openxmlformats.org/drawingml/2006/main" id="210" idx="3"/>
            <a:endCxn xmlns:a="http://schemas.openxmlformats.org/drawingml/2006/main" id="214" idx="1"/>
          </p:cNvCxnSpPr>
          <p:nvPr/>
        </p:nvCxnSpPr>
        <p:spPr>
          <a:xfrm xmlns:a="http://schemas.openxmlformats.org/drawingml/2006/main">
            <a:off x="4632875" y="3261553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22" name="Google Shape;232;p7"/>
          <p:cNvCxnSpPr>
            <a:stCxn xmlns:a="http://schemas.openxmlformats.org/drawingml/2006/main" id="214" idx="3"/>
            <a:endCxn xmlns:a="http://schemas.openxmlformats.org/drawingml/2006/main" id="218" idx="1"/>
          </p:cNvCxnSpPr>
          <p:nvPr/>
        </p:nvCxnSpPr>
        <p:spPr>
          <a:xfrm xmlns:a="http://schemas.openxmlformats.org/drawingml/2006/main">
            <a:off x="6537825" y="3261553"/>
            <a:ext cx="639900" cy="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23" name="Google Shape;233;p7"/>
          <p:cNvCxnSpPr>
            <a:stCxn xmlns:a="http://schemas.openxmlformats.org/drawingml/2006/main" id="218" idx="3"/>
            <a:endCxn xmlns:a="http://schemas.openxmlformats.org/drawingml/2006/main" id="222" idx="1"/>
          </p:cNvCxnSpPr>
          <p:nvPr/>
        </p:nvCxnSpPr>
        <p:spPr>
          <a:xfrm xmlns:a="http://schemas.openxmlformats.org/drawingml/2006/main" rot="10800000" flipH="1">
            <a:off x="8930450" y="2560450"/>
            <a:ext cx="518100" cy="70110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24" name="Google Shape;234;p7"/>
          <p:cNvCxnSpPr>
            <a:stCxn xmlns:a="http://schemas.openxmlformats.org/drawingml/2006/main" id="222" idx="2"/>
            <a:endCxn xmlns:a="http://schemas.openxmlformats.org/drawingml/2006/main" id="226" idx="0"/>
          </p:cNvCxnSpPr>
          <p:nvPr/>
        </p:nvCxnSpPr>
        <p:spPr>
          <a:xfrm xmlns:a="http://schemas.openxmlformats.org/drawingml/2006/main">
            <a:off x="10477248" y="3093720"/>
            <a:ext cx="0" cy="198000"/>
          </a:xfrm>
          <a:prstGeom xmlns:a="http://schemas.openxmlformats.org/drawingml/2006/main" prst="straightConnector1">
            <a:avLst/>
          </a:prstGeom>
          <a:ln xmlns:a="http://schemas.openxmlformats.org/drawingml/2006/main" w="24375" cap="flat">
            <a:solidFill>
              <a:srgbClr val="F97316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35" name="Google Shape;235;p7">
            <a:extLst xmlns:a="http://schemas.openxmlformats.org/drawingml/2006/main">
              <a:ext uri="{FF2B5EF4-FFF2-40B4-BE49-F238E27FC236}">
                <a16:creationId xmlns:a16="http://schemas.microsoft.com/office/drawing/2014/main" id="{51F1C381-CEA6-47C0-9D87-13F89C8E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63" y="4526280"/>
            <a:ext cx="5334000" cy="181380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0D1821"/>
          </a:solidFill>
          <a:ln xmlns:a="http://schemas.openxmlformats.org/drawingml/2006/main" w="13700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36" name="Google Shape;236;p7">
            <a:extLst xmlns:a="http://schemas.openxmlformats.org/drawingml/2006/main">
              <a:ext uri="{FF2B5EF4-FFF2-40B4-BE49-F238E27FC236}">
                <a16:creationId xmlns:a16="http://schemas.microsoft.com/office/drawing/2014/main" id="{5FB67BDA-4134-4AE7-932F-780ABE05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61" y="4754880"/>
            <a:ext cx="4815600" cy="32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使用者看得到的手機功能</a:t>
            </a:r>
          </a:p>
        </p:txBody>
      </p:sp>
      <p:sp>
        <p:nvSpPr>
          <p:cNvPr id="237" name="Google Shape;237;p7">
            <a:extLst xmlns:a="http://schemas.openxmlformats.org/drawingml/2006/main">
              <a:ext uri="{FF2B5EF4-FFF2-40B4-BE49-F238E27FC236}">
                <a16:creationId xmlns:a16="http://schemas.microsoft.com/office/drawing/2014/main" id="{14CFA16B-F2E7-4918-97E1-5DEE88C0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32" y="5143256"/>
            <a:ext cx="4632900" cy="96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相機：即時預覽、倍率與影格統計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雲台：方向鍵、STOP、速度與校正參數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連線：Bonjour 狀態、Server URL、重連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紀錄：DockKit、網路與安全事件 log</a:t>
            </a:r>
          </a:p>
        </p:txBody>
      </p:sp>
      <p:sp>
        <p:nvSpPr>
          <p:cNvPr id="238" name="Google Shape;238;p7">
            <a:extLst xmlns:a="http://schemas.openxmlformats.org/drawingml/2006/main">
              <a:ext uri="{FF2B5EF4-FFF2-40B4-BE49-F238E27FC236}">
                <a16:creationId xmlns:a16="http://schemas.microsoft.com/office/drawing/2014/main" id="{3F4911ED-4ED0-4845-BBA5-5C72DEEF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754" y="4526280"/>
            <a:ext cx="5334000" cy="181380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0D1821"/>
          </a:solidFill>
          <a:ln xmlns:a="http://schemas.openxmlformats.org/drawingml/2006/main" w="13700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39" name="Google Shape;239;p7">
            <a:extLst xmlns:a="http://schemas.openxmlformats.org/drawingml/2006/main">
              <a:ext uri="{FF2B5EF4-FFF2-40B4-BE49-F238E27FC236}">
                <a16:creationId xmlns:a16="http://schemas.microsoft.com/office/drawing/2014/main" id="{C9FA0DE9-3B05-429B-B8F5-5FFE5828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952" y="4754905"/>
            <a:ext cx="4815600" cy="32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現場可靠性設計</a:t>
            </a:r>
          </a:p>
        </p:txBody>
      </p:sp>
      <p:sp>
        <p:nvSpPr>
          <p:cNvPr id="240" name="Google Shape;240;p7">
            <a:extLst xmlns:a="http://schemas.openxmlformats.org/drawingml/2006/main">
              <a:ext uri="{FF2B5EF4-FFF2-40B4-BE49-F238E27FC236}">
                <a16:creationId xmlns:a16="http://schemas.microsoft.com/office/drawing/2014/main" id="{91AFEEC4-2977-48BB-AF00-C8716DFD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573" y="5166838"/>
            <a:ext cx="4632900" cy="96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握手成功前不送 frame、motor status 或 control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latest-frame backpressure：忙碌時保留最新影格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斷線、逾時、失追、倒序或無效 JSON 立即 STOP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App 退到背景或穩定器脫離時也會安全停止</a:t>
            </a:r>
          </a:p>
        </p:txBody>
      </p:sp>
      <p:cxnSp>
        <p:nvCxnSpPr>
          <p:cNvPr id="431" name="Google Shape;241;p7"/>
          <p:cNvCxnSpPr/>
          <p:nvPr/>
        </p:nvCxnSpPr>
        <p:spPr>
          <a:xfrm xmlns:a="http://schemas.openxmlformats.org/drawingml/2006/main">
            <a:off x="9098037" y="1630680"/>
            <a:ext cx="0" cy="2575800"/>
          </a:xfrm>
          <a:prstGeom xmlns:a="http://schemas.openxmlformats.org/drawingml/2006/main" prst="straightConnector1">
            <a:avLst/>
          </a:prstGeom>
          <a:ln xmlns:a="http://schemas.openxmlformats.org/drawingml/2006/main" w="9900" cap="flat">
            <a:solidFill>
              <a:srgbClr val="334155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42" name="Google Shape;242;p7">
            <a:extLst xmlns:a="http://schemas.openxmlformats.org/drawingml/2006/main">
              <a:ext uri="{FF2B5EF4-FFF2-40B4-BE49-F238E27FC236}">
                <a16:creationId xmlns:a16="http://schemas.microsoft.com/office/drawing/2014/main" id="{B953FFD4-48AB-4A16-9ADB-BA588D6B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3" y="6477000"/>
            <a:ext cx="9753300" cy="24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手機 App 不是單純遙控器，而是相機來源、網路客戶端、DockKit 執行器與最後一道安全閘。</a:t>
            </a:r>
          </a:p>
        </p:txBody>
      </p:sp>
      <p:sp>
        <p:nvSpPr>
          <p:cNvPr id="243" name="Google Shape;243;p7">
            <a:extLst xmlns:a="http://schemas.openxmlformats.org/drawingml/2006/main">
              <a:ext uri="{FF2B5EF4-FFF2-40B4-BE49-F238E27FC236}">
                <a16:creationId xmlns:a16="http://schemas.microsoft.com/office/drawing/2014/main" id="{01AA9A97-7AA1-4E63-AF5B-0F310C78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3882" y="6477000"/>
            <a:ext cx="1203900" cy="21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61707E"/>
                </a:solidFill>
                <a:latin typeface="Calibri"/>
                <a:ea typeface="Calibri"/>
                <a:cs typeface="Calibri"/>
              </a:rPr>
              <a:t>AI Vision Director Camera for iOS V2.2</a:t>
            </a:r>
          </a:p>
        </p:txBody>
      </p:sp>
    </p:spTree>
    <p:extLst>
      <p:ext uri="{BB962C8B-B14F-4D97-AF65-F5344CB8AC3E}">
        <p14:creationId xmlns:p14="http://schemas.microsoft.com/office/powerpoint/2010/main" val="19573814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5" name="Google Shape;195;p7">
            <a:extLst xmlns:a="http://schemas.openxmlformats.org/drawingml/2006/main">
              <a:ext uri="{FF2B5EF4-FFF2-40B4-BE49-F238E27FC236}">
                <a16:creationId xmlns:a16="http://schemas.microsoft.com/office/drawing/2014/main" id="{FEDE82E1-040D-4D06-9C8F-29DB105B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689" y="1493520"/>
            <a:ext cx="4114800" cy="281940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196" name="Google Shape;196;p7">
            <a:extLst xmlns:a="http://schemas.openxmlformats.org/drawingml/2006/main">
              <a:ext uri="{FF2B5EF4-FFF2-40B4-BE49-F238E27FC236}">
                <a16:creationId xmlns:a16="http://schemas.microsoft.com/office/drawing/2014/main" id="{652E016F-053E-4F83-B276-BC93EFFD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88" y="259080"/>
            <a:ext cx="2438400" cy="21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06A IOS ARCHITECTURE</a:t>
            </a:r>
          </a:p>
        </p:txBody>
      </p:sp>
      <p:sp>
        <p:nvSpPr>
          <p:cNvPr id="197" name="Google Shape;197;p7">
            <a:extLst xmlns:a="http://schemas.openxmlformats.org/drawingml/2006/main">
              <a:ext uri="{FF2B5EF4-FFF2-40B4-BE49-F238E27FC236}">
                <a16:creationId xmlns:a16="http://schemas.microsoft.com/office/drawing/2014/main" id="{0EB886F5-F2FA-44AD-9698-0865F547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88" y="518160"/>
            <a:ext cx="746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iOS 架構：SwiftUI 協調，Service 各自負責</a:t>
            </a:r>
          </a:p>
        </p:txBody>
      </p:sp>
      <p:sp>
        <p:nvSpPr>
          <p:cNvPr id="198" name="Google Shape;198;p7">
            <a:extLst xmlns:a="http://schemas.openxmlformats.org/drawingml/2006/main">
              <a:ext uri="{FF2B5EF4-FFF2-40B4-BE49-F238E27FC236}">
                <a16:creationId xmlns:a16="http://schemas.microsoft.com/office/drawing/2014/main" id="{93ABC991-D679-4474-B731-A88D88A7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27" y="1082040"/>
            <a:ext cx="94485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DockKitTesterApp 建立共享服務；ContentView 以 callback 串起相機、網路、控制與硬體。</a:t>
            </a:r>
          </a:p>
        </p:txBody>
      </p:sp>
      <p:sp>
        <p:nvSpPr>
          <p:cNvPr id="199" name="Google Shape;199;p7">
            <a:extLst xmlns:a="http://schemas.openxmlformats.org/drawingml/2006/main">
              <a:ext uri="{FF2B5EF4-FFF2-40B4-BE49-F238E27FC236}">
                <a16:creationId xmlns:a16="http://schemas.microsoft.com/office/drawing/2014/main" id="{CCE253F3-3E65-4F2E-BA2F-372C4898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69" y="1493520"/>
            <a:ext cx="2057400" cy="28194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00" name="Google Shape;200;p7">
            <a:extLst xmlns:a="http://schemas.openxmlformats.org/drawingml/2006/main">
              <a:ext uri="{FF2B5EF4-FFF2-40B4-BE49-F238E27FC236}">
                <a16:creationId xmlns:a16="http://schemas.microsoft.com/office/drawing/2014/main" id="{8679A550-B280-44F7-B585-EEB98508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75" y="1630676"/>
            <a:ext cx="1752600" cy="44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>
              <a:alpha val="13333"/>
            </a:srgbClr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SwiftUI / Lifecycle</a:t>
            </a:r>
          </a:p>
        </p:txBody>
      </p:sp>
      <p:sp>
        <p:nvSpPr>
          <p:cNvPr id="201" name="Google Shape;201;p7">
            <a:extLst xmlns:a="http://schemas.openxmlformats.org/drawingml/2006/main">
              <a:ext uri="{FF2B5EF4-FFF2-40B4-BE49-F238E27FC236}">
                <a16:creationId xmlns:a16="http://schemas.microsoft.com/office/drawing/2014/main" id="{C9F04600-645A-4E8A-BEE5-D1DBE184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075" y="1630675"/>
            <a:ext cx="3733800" cy="44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Camera + Network Services</a:t>
            </a:r>
          </a:p>
        </p:txBody>
      </p:sp>
      <p:sp>
        <p:nvSpPr>
          <p:cNvPr id="202" name="Google Shape;202;p7">
            <a:extLst xmlns:a="http://schemas.openxmlformats.org/drawingml/2006/main">
              <a:ext uri="{FF2B5EF4-FFF2-40B4-BE49-F238E27FC236}">
                <a16:creationId xmlns:a16="http://schemas.microsoft.com/office/drawing/2014/main" id="{B130B843-5A7B-4CE7-9CD3-F5FCB214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255" y="1493520"/>
            <a:ext cx="2057400" cy="28194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4ADE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03" name="Google Shape;203;p7">
            <a:extLst xmlns:a="http://schemas.openxmlformats.org/drawingml/2006/main">
              <a:ext uri="{FF2B5EF4-FFF2-40B4-BE49-F238E27FC236}">
                <a16:creationId xmlns:a16="http://schemas.microsoft.com/office/drawing/2014/main" id="{2E4A035C-000A-41A9-B93E-35CBF179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25" y="1630675"/>
            <a:ext cx="1898700" cy="44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DE80">
              <a:alpha val="13333"/>
            </a:srgbClr>
          </a:solidFill>
          <a:ln xmlns:a="http://schemas.openxmlformats.org/drawingml/2006/main" w="9525" cmpd="sng">
            <a:solidFill>
              <a:srgbClr val="4ADE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500" b="1" i="0" u="none" cap="none">
                <a:solidFill>
                  <a:srgbClr val="4ADE80"/>
                </a:solidFill>
                <a:latin typeface="Calibri"/>
                <a:ea typeface="Calibri"/>
                <a:cs typeface="Calibri"/>
              </a:rPr>
              <a:t>Network Service</a:t>
            </a:r>
          </a:p>
        </p:txBody>
      </p:sp>
      <p:sp>
        <p:nvSpPr>
          <p:cNvPr id="204" name="Google Shape;204;p7">
            <a:extLst xmlns:a="http://schemas.openxmlformats.org/drawingml/2006/main">
              <a:ext uri="{FF2B5EF4-FFF2-40B4-BE49-F238E27FC236}">
                <a16:creationId xmlns:a16="http://schemas.microsoft.com/office/drawing/2014/main" id="{49FE564D-E3F8-409A-B359-BEE13E0A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475" y="1493520"/>
            <a:ext cx="2590800" cy="28194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05" name="Google Shape;205;p7">
            <a:extLst xmlns:a="http://schemas.openxmlformats.org/drawingml/2006/main">
              <a:ext uri="{FF2B5EF4-FFF2-40B4-BE49-F238E27FC236}">
                <a16:creationId xmlns:a16="http://schemas.microsoft.com/office/drawing/2014/main" id="{B7C04F6F-63AC-4256-9622-B8579DCD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250" y="1630675"/>
            <a:ext cx="2286000" cy="32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>
              <a:alpha val="13333"/>
            </a:srgbClr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Control + DockKit</a:t>
            </a:r>
          </a:p>
        </p:txBody>
      </p:sp>
      <p:sp>
        <p:nvSpPr>
          <p:cNvPr id="206" name="Google Shape;206;p7">
            <a:extLst xmlns:a="http://schemas.openxmlformats.org/drawingml/2006/main">
              <a:ext uri="{FF2B5EF4-FFF2-40B4-BE49-F238E27FC236}">
                <a16:creationId xmlns:a16="http://schemas.microsoft.com/office/drawing/2014/main" id="{FAD29BD8-3045-4913-AC86-0CA1E05C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5" y="2377452"/>
            <a:ext cx="1599900" cy="15138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F97316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07" name="Google Shape;207;p7">
            <a:extLst xmlns:a="http://schemas.openxmlformats.org/drawingml/2006/main">
              <a:ext uri="{FF2B5EF4-FFF2-40B4-BE49-F238E27FC236}">
                <a16:creationId xmlns:a16="http://schemas.microsoft.com/office/drawing/2014/main" id="{90FACA28-0B1B-4282-8D20-D33101A6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80" y="2560320"/>
            <a:ext cx="320100" cy="32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08" name="Google Shape;208;p7">
            <a:extLst xmlns:a="http://schemas.openxmlformats.org/drawingml/2006/main">
              <a:ext uri="{FF2B5EF4-FFF2-40B4-BE49-F238E27FC236}">
                <a16:creationId xmlns:a16="http://schemas.microsoft.com/office/drawing/2014/main" id="{7F2A1574-8AE8-4C68-8C66-E4C14DEE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09" y="2545080"/>
            <a:ext cx="9753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組合根</a:t>
            </a:r>
          </a:p>
        </p:txBody>
      </p:sp>
      <p:sp>
        <p:nvSpPr>
          <p:cNvPr id="209" name="Google Shape;209;p7">
            <a:extLst xmlns:a="http://schemas.openxmlformats.org/drawingml/2006/main">
              <a:ext uri="{FF2B5EF4-FFF2-40B4-BE49-F238E27FC236}">
                <a16:creationId xmlns:a16="http://schemas.microsoft.com/office/drawing/2014/main" id="{A577390C-013F-4D7C-886E-BD7412F5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825" y="2943800"/>
            <a:ext cx="155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StateObject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shared logger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dependency injection</a:t>
            </a:r>
          </a:p>
        </p:txBody>
      </p:sp>
      <p:sp>
        <p:nvSpPr>
          <p:cNvPr id="210" name="Google Shape;210;p7">
            <a:extLst xmlns:a="http://schemas.openxmlformats.org/drawingml/2006/main">
              <a:ext uri="{FF2B5EF4-FFF2-40B4-BE49-F238E27FC236}">
                <a16:creationId xmlns:a16="http://schemas.microsoft.com/office/drawing/2014/main" id="{B2CCD326-C0E2-4C5E-B22D-EDBC7E4C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275" y="2377453"/>
            <a:ext cx="1752600" cy="17682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22D3EE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11" name="Google Shape;211;p7">
            <a:extLst xmlns:a="http://schemas.openxmlformats.org/drawingml/2006/main">
              <a:ext uri="{FF2B5EF4-FFF2-40B4-BE49-F238E27FC236}">
                <a16:creationId xmlns:a16="http://schemas.microsoft.com/office/drawing/2014/main" id="{5D843DCA-C376-47BF-9192-5EEAB927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00" y="2560320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12" name="Google Shape;212;p7">
            <a:extLst xmlns:a="http://schemas.openxmlformats.org/drawingml/2006/main">
              <a:ext uri="{FF2B5EF4-FFF2-40B4-BE49-F238E27FC236}">
                <a16:creationId xmlns:a16="http://schemas.microsoft.com/office/drawing/2014/main" id="{469F14C7-0E5D-4CEC-93FD-9E025ABB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867" y="2545080"/>
            <a:ext cx="10059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畫面週期</a:t>
            </a:r>
          </a:p>
        </p:txBody>
      </p:sp>
      <p:sp>
        <p:nvSpPr>
          <p:cNvPr id="213" name="Google Shape;213;p7">
            <a:extLst xmlns:a="http://schemas.openxmlformats.org/drawingml/2006/main">
              <a:ext uri="{FF2B5EF4-FFF2-40B4-BE49-F238E27FC236}">
                <a16:creationId xmlns:a16="http://schemas.microsoft.com/office/drawing/2014/main" id="{EAA7AE89-6EB0-4C91-A9EC-427652CE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556" y="3002350"/>
            <a:ext cx="1691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active → start camera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background → STOP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+ stop camera</a:t>
            </a:r>
          </a:p>
        </p:txBody>
      </p:sp>
      <p:sp>
        <p:nvSpPr>
          <p:cNvPr id="214" name="Google Shape;214;p7">
            <a:extLst xmlns:a="http://schemas.openxmlformats.org/drawingml/2006/main">
              <a:ext uri="{FF2B5EF4-FFF2-40B4-BE49-F238E27FC236}">
                <a16:creationId xmlns:a16="http://schemas.microsoft.com/office/drawing/2014/main" id="{18A112AD-4AF8-4D8E-8A89-153556EF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225" y="2377453"/>
            <a:ext cx="1752600" cy="17682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FBBF24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15" name="Google Shape;215;p7">
            <a:extLst xmlns:a="http://schemas.openxmlformats.org/drawingml/2006/main">
              <a:ext uri="{FF2B5EF4-FFF2-40B4-BE49-F238E27FC236}">
                <a16:creationId xmlns:a16="http://schemas.microsoft.com/office/drawing/2014/main" id="{C81B3E4F-4C9B-40E4-A202-FF5DFC03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149" y="2560320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 cmpd="sng">
            <a:solidFill>
              <a:srgbClr val="FBBF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16" name="Google Shape;216;p7">
            <a:extLst xmlns:a="http://schemas.openxmlformats.org/drawingml/2006/main">
              <a:ext uri="{FF2B5EF4-FFF2-40B4-BE49-F238E27FC236}">
                <a16:creationId xmlns:a16="http://schemas.microsoft.com/office/drawing/2014/main" id="{2E6E06E3-24B9-4C20-B231-AED5A1F2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816" y="2545080"/>
            <a:ext cx="10059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相機服務</a:t>
            </a:r>
          </a:p>
        </p:txBody>
      </p:sp>
      <p:sp>
        <p:nvSpPr>
          <p:cNvPr id="217" name="Google Shape;217;p7">
            <a:extLst xmlns:a="http://schemas.openxmlformats.org/drawingml/2006/main">
              <a:ext uri="{FF2B5EF4-FFF2-40B4-BE49-F238E27FC236}">
                <a16:creationId xmlns:a16="http://schemas.microsoft.com/office/drawing/2014/main" id="{63303376-98E1-4ABD-9FAB-AB6E25CE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595" y="3032725"/>
            <a:ext cx="184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capture / focus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orientation / JPEG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physical zoom</a:t>
            </a:r>
          </a:p>
        </p:txBody>
      </p:sp>
      <p:sp>
        <p:nvSpPr>
          <p:cNvPr id="218" name="Google Shape;218;p7">
            <a:extLst xmlns:a="http://schemas.openxmlformats.org/drawingml/2006/main">
              <a:ext uri="{FF2B5EF4-FFF2-40B4-BE49-F238E27FC236}">
                <a16:creationId xmlns:a16="http://schemas.microsoft.com/office/drawing/2014/main" id="{08EDF15F-7B2C-4FD8-A49F-C55E3DFF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850" y="2377450"/>
            <a:ext cx="1752600" cy="17682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4ADE8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19" name="Google Shape;219;p7">
            <a:extLst xmlns:a="http://schemas.openxmlformats.org/drawingml/2006/main">
              <a:ext uri="{FF2B5EF4-FFF2-40B4-BE49-F238E27FC236}">
                <a16:creationId xmlns:a16="http://schemas.microsoft.com/office/drawing/2014/main" id="{D69EAB2C-5802-45A0-A329-9FDBD92F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765" y="2560320"/>
            <a:ext cx="320100" cy="32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9525" cmpd="sng">
            <a:solidFill>
              <a:srgbClr val="4ADE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20" name="Google Shape;220;p7">
            <a:extLst xmlns:a="http://schemas.openxmlformats.org/drawingml/2006/main">
              <a:ext uri="{FF2B5EF4-FFF2-40B4-BE49-F238E27FC236}">
                <a16:creationId xmlns:a16="http://schemas.microsoft.com/office/drawing/2014/main" id="{EADF51E0-1E56-40ED-85D2-BB103EEF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001" y="2545074"/>
            <a:ext cx="1179300" cy="44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網路服務</a:t>
            </a:r>
          </a:p>
        </p:txBody>
      </p:sp>
      <p:sp>
        <p:nvSpPr>
          <p:cNvPr id="221" name="Google Shape;221;p7">
            <a:extLst xmlns:a="http://schemas.openxmlformats.org/drawingml/2006/main">
              <a:ext uri="{FF2B5EF4-FFF2-40B4-BE49-F238E27FC236}">
                <a16:creationId xmlns:a16="http://schemas.microsoft.com/office/drawing/2014/main" id="{5D1F5928-1959-4E8D-935A-95EA3D88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894" y="3070988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Bonjour / handshake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reconnect / routing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backpressure</a:t>
            </a:r>
          </a:p>
        </p:txBody>
      </p:sp>
      <p:sp>
        <p:nvSpPr>
          <p:cNvPr id="222" name="Google Shape;222;p7">
            <a:extLst xmlns:a="http://schemas.openxmlformats.org/drawingml/2006/main">
              <a:ext uri="{FF2B5EF4-FFF2-40B4-BE49-F238E27FC236}">
                <a16:creationId xmlns:a16="http://schemas.microsoft.com/office/drawing/2014/main" id="{331745BD-EA54-4981-911A-33856FAF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548" y="2026920"/>
            <a:ext cx="2057400" cy="1066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F97316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23" name="Google Shape;223;p7">
            <a:extLst xmlns:a="http://schemas.openxmlformats.org/drawingml/2006/main">
              <a:ext uri="{FF2B5EF4-FFF2-40B4-BE49-F238E27FC236}">
                <a16:creationId xmlns:a16="http://schemas.microsoft.com/office/drawing/2014/main" id="{A9BA7CE0-526C-4DB9-9C07-D85AA7C6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465" y="2175681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24" name="Google Shape;224;p7">
            <a:extLst xmlns:a="http://schemas.openxmlformats.org/drawingml/2006/main">
              <a:ext uri="{FF2B5EF4-FFF2-40B4-BE49-F238E27FC236}">
                <a16:creationId xmlns:a16="http://schemas.microsoft.com/office/drawing/2014/main" id="{FDFC6967-34A1-43BD-A9E4-902CEDE2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132" y="2168970"/>
            <a:ext cx="13107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控制服務</a:t>
            </a:r>
          </a:p>
        </p:txBody>
      </p:sp>
      <p:sp>
        <p:nvSpPr>
          <p:cNvPr id="225" name="Google Shape;225;p7">
            <a:extLst xmlns:a="http://schemas.openxmlformats.org/drawingml/2006/main">
              <a:ext uri="{FF2B5EF4-FFF2-40B4-BE49-F238E27FC236}">
                <a16:creationId xmlns:a16="http://schemas.microsoft.com/office/drawing/2014/main" id="{32F93EF3-78B9-4DA5-8A76-05DC7916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75" y="2546685"/>
            <a:ext cx="2019900" cy="44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validation / calibration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velocity / lost return</a:t>
            </a:r>
          </a:p>
        </p:txBody>
      </p:sp>
      <p:sp>
        <p:nvSpPr>
          <p:cNvPr id="226" name="Google Shape;226;p7">
            <a:extLst xmlns:a="http://schemas.openxmlformats.org/drawingml/2006/main">
              <a:ext uri="{FF2B5EF4-FFF2-40B4-BE49-F238E27FC236}">
                <a16:creationId xmlns:a16="http://schemas.microsoft.com/office/drawing/2014/main" id="{94E05804-008E-4140-8C8A-39CEB6CC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550" y="3291851"/>
            <a:ext cx="2057400" cy="9603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22D3EE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27" name="Google Shape;227;p7">
            <a:extLst xmlns:a="http://schemas.openxmlformats.org/drawingml/2006/main">
              <a:ext uri="{FF2B5EF4-FFF2-40B4-BE49-F238E27FC236}">
                <a16:creationId xmlns:a16="http://schemas.microsoft.com/office/drawing/2014/main" id="{674EC0D1-5720-40FE-B80A-B343FFEA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465" y="3432071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28" name="Google Shape;228;p7">
            <a:extLst xmlns:a="http://schemas.openxmlformats.org/drawingml/2006/main">
              <a:ext uri="{FF2B5EF4-FFF2-40B4-BE49-F238E27FC236}">
                <a16:creationId xmlns:a16="http://schemas.microsoft.com/office/drawing/2014/main" id="{085BBB74-4F7A-4FEE-B5EB-84850BED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7841" y="3425361"/>
            <a:ext cx="13107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硬體服務</a:t>
            </a:r>
          </a:p>
        </p:txBody>
      </p:sp>
      <p:sp>
        <p:nvSpPr>
          <p:cNvPr id="229" name="Google Shape;229;p7">
            <a:extLst xmlns:a="http://schemas.openxmlformats.org/drawingml/2006/main">
              <a:ext uri="{FF2B5EF4-FFF2-40B4-BE49-F238E27FC236}">
                <a16:creationId xmlns:a16="http://schemas.microsoft.com/office/drawing/2014/main" id="{0D3C2664-C780-4907-A059-35414D0F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68" y="3733800"/>
            <a:ext cx="184918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050">
                <a:solidFill>
                  <a:srgbClr val="F5FBFF"/>
                </a:solidFill>
              </a:defRPr>
            </a:pPr>
            <a:r>
              <a:rPr sz="105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accessory listener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050">
                <a:solidFill>
                  <a:srgbClr val="F5FBFF"/>
                </a:solidFill>
              </a:defRPr>
            </a:pPr>
            <a:r>
              <a:rPr sz="105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Manual Mode / motor API</a:t>
            </a:r>
          </a:p>
        </p:txBody>
      </p:sp>
      <p:cxnSp>
        <p:nvCxnSpPr>
          <p:cNvPr id="420" name="Google Shape;230;p7"/>
          <p:cNvCxnSpPr>
            <a:stCxn xmlns:a="http://schemas.openxmlformats.org/drawingml/2006/main" id="206" idx="3"/>
            <a:endCxn xmlns:a="http://schemas.openxmlformats.org/drawingml/2006/main" id="210" idx="1"/>
          </p:cNvCxnSpPr>
          <p:nvPr/>
        </p:nvCxnSpPr>
        <p:spPr>
          <a:xfrm xmlns:a="http://schemas.openxmlformats.org/drawingml/2006/main">
            <a:off x="2239975" y="3134352"/>
            <a:ext cx="640200" cy="12720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21" name="Google Shape;231;p7"/>
          <p:cNvCxnSpPr>
            <a:stCxn xmlns:a="http://schemas.openxmlformats.org/drawingml/2006/main" id="210" idx="3"/>
            <a:endCxn xmlns:a="http://schemas.openxmlformats.org/drawingml/2006/main" id="214" idx="1"/>
          </p:cNvCxnSpPr>
          <p:nvPr/>
        </p:nvCxnSpPr>
        <p:spPr>
          <a:xfrm xmlns:a="http://schemas.openxmlformats.org/drawingml/2006/main">
            <a:off x="4632875" y="3261553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22" name="Google Shape;232;p7"/>
          <p:cNvCxnSpPr>
            <a:stCxn xmlns:a="http://schemas.openxmlformats.org/drawingml/2006/main" id="214" idx="3"/>
            <a:endCxn xmlns:a="http://schemas.openxmlformats.org/drawingml/2006/main" id="218" idx="1"/>
          </p:cNvCxnSpPr>
          <p:nvPr/>
        </p:nvCxnSpPr>
        <p:spPr>
          <a:xfrm xmlns:a="http://schemas.openxmlformats.org/drawingml/2006/main">
            <a:off x="6537825" y="3261553"/>
            <a:ext cx="639900" cy="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23" name="Google Shape;233;p7"/>
          <p:cNvCxnSpPr>
            <a:stCxn xmlns:a="http://schemas.openxmlformats.org/drawingml/2006/main" id="218" idx="3"/>
            <a:endCxn xmlns:a="http://schemas.openxmlformats.org/drawingml/2006/main" id="222" idx="1"/>
          </p:cNvCxnSpPr>
          <p:nvPr/>
        </p:nvCxnSpPr>
        <p:spPr>
          <a:xfrm xmlns:a="http://schemas.openxmlformats.org/drawingml/2006/main" rot="10800000" flipH="1">
            <a:off x="8930450" y="2560450"/>
            <a:ext cx="518100" cy="70110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24" name="Google Shape;234;p7"/>
          <p:cNvCxnSpPr>
            <a:stCxn xmlns:a="http://schemas.openxmlformats.org/drawingml/2006/main" id="222" idx="2"/>
            <a:endCxn xmlns:a="http://schemas.openxmlformats.org/drawingml/2006/main" id="226" idx="0"/>
          </p:cNvCxnSpPr>
          <p:nvPr/>
        </p:nvCxnSpPr>
        <p:spPr>
          <a:xfrm xmlns:a="http://schemas.openxmlformats.org/drawingml/2006/main">
            <a:off x="10477248" y="3093720"/>
            <a:ext cx="0" cy="198000"/>
          </a:xfrm>
          <a:prstGeom xmlns:a="http://schemas.openxmlformats.org/drawingml/2006/main" prst="straightConnector1">
            <a:avLst/>
          </a:prstGeom>
          <a:ln xmlns:a="http://schemas.openxmlformats.org/drawingml/2006/main" w="24375" cap="flat">
            <a:solidFill>
              <a:srgbClr val="F97316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35" name="Google Shape;235;p7">
            <a:extLst xmlns:a="http://schemas.openxmlformats.org/drawingml/2006/main">
              <a:ext uri="{FF2B5EF4-FFF2-40B4-BE49-F238E27FC236}">
                <a16:creationId xmlns:a16="http://schemas.microsoft.com/office/drawing/2014/main" id="{51F1C381-CEA6-47C0-9D87-13F89C8E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63" y="4526280"/>
            <a:ext cx="5334000" cy="181380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0D1821"/>
          </a:solidFill>
          <a:ln xmlns:a="http://schemas.openxmlformats.org/drawingml/2006/main" w="13700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36" name="Google Shape;236;p7">
            <a:extLst xmlns:a="http://schemas.openxmlformats.org/drawingml/2006/main">
              <a:ext uri="{FF2B5EF4-FFF2-40B4-BE49-F238E27FC236}">
                <a16:creationId xmlns:a16="http://schemas.microsoft.com/office/drawing/2014/main" id="{5FB67BDA-4134-4AE7-932F-780ABE05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61" y="4754880"/>
            <a:ext cx="4815600" cy="32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SwiftUI 四個分頁</a:t>
            </a:r>
          </a:p>
        </p:txBody>
      </p:sp>
      <p:sp>
        <p:nvSpPr>
          <p:cNvPr id="237" name="Google Shape;237;p7">
            <a:extLst xmlns:a="http://schemas.openxmlformats.org/drawingml/2006/main">
              <a:ext uri="{FF2B5EF4-FFF2-40B4-BE49-F238E27FC236}">
                <a16:creationId xmlns:a16="http://schemas.microsoft.com/office/drawing/2014/main" id="{14CFA16B-F2E7-4918-97E1-5DEE88C0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32" y="5143256"/>
            <a:ext cx="4632900" cy="96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125">
                <a:solidFill>
                  <a:srgbClr val="F5FBFF"/>
                </a:solidFill>
              </a:defRPr>
            </a:pPr>
            <a:r>
              <a:rPr sz="1125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相機：Preview、狀態、GID／Framing／Zoom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125">
                <a:solidFill>
                  <a:srgbClr val="F5FBFF"/>
                </a:solidFill>
              </a:defRPr>
            </a:pPr>
            <a:r>
              <a:rPr sz="1125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雲台：方向鍵、STOP、Home、校正 sliders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125">
                <a:solidFill>
                  <a:srgbClr val="F5FBFF"/>
                </a:solidFill>
              </a:defRPr>
            </a:pPr>
            <a:r>
              <a:rPr sz="1125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連線：Server URL、Bonjour、重連與測試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125">
                <a:solidFill>
                  <a:srgbClr val="F5FBFF"/>
                </a:solidFill>
              </a:defRPr>
            </a:pPr>
            <a:r>
              <a:rPr sz="1125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紀錄：camera／network／DockKit event</a:t>
            </a:r>
          </a:p>
        </p:txBody>
      </p:sp>
      <p:sp>
        <p:nvSpPr>
          <p:cNvPr id="238" name="Google Shape;238;p7">
            <a:extLst xmlns:a="http://schemas.openxmlformats.org/drawingml/2006/main">
              <a:ext uri="{FF2B5EF4-FFF2-40B4-BE49-F238E27FC236}">
                <a16:creationId xmlns:a16="http://schemas.microsoft.com/office/drawing/2014/main" id="{3F4911ED-4ED0-4845-BBA5-5C72DEEF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754" y="4526280"/>
            <a:ext cx="5334000" cy="181380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0D1821"/>
          </a:solidFill>
          <a:ln xmlns:a="http://schemas.openxmlformats.org/drawingml/2006/main" w="13700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239" name="Google Shape;239;p7">
            <a:extLst xmlns:a="http://schemas.openxmlformats.org/drawingml/2006/main">
              <a:ext uri="{FF2B5EF4-FFF2-40B4-BE49-F238E27FC236}">
                <a16:creationId xmlns:a16="http://schemas.microsoft.com/office/drawing/2014/main" id="{C9FA0DE9-3B05-429B-B8F5-5FFE5828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952" y="4754905"/>
            <a:ext cx="4815600" cy="32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Service 之間怎麼接</a:t>
            </a:r>
          </a:p>
        </p:txBody>
      </p:sp>
      <p:sp>
        <p:nvSpPr>
          <p:cNvPr id="240" name="Google Shape;240;p7">
            <a:extLst xmlns:a="http://schemas.openxmlformats.org/drawingml/2006/main">
              <a:ext uri="{FF2B5EF4-FFF2-40B4-BE49-F238E27FC236}">
                <a16:creationId xmlns:a16="http://schemas.microsoft.com/office/drawing/2014/main" id="{91AFEEC4-2977-48BB-AF00-C8716DFD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573" y="5166838"/>
            <a:ext cx="4632900" cy="96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125">
                <a:solidFill>
                  <a:srgbClr val="F5FBFF"/>
                </a:solidFill>
              </a:defRPr>
            </a:pPr>
            <a:r>
              <a:rPr sz="1125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Camera JPEG → NetworkClient.sendCameraFrame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125">
                <a:solidFill>
                  <a:srgbClr val="F5FBFF"/>
                </a:solidFill>
              </a:defRPr>
            </a:pPr>
            <a:r>
              <a:rPr sz="1125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TrackingCommand → GimbalControlService.apply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125">
                <a:solidFill>
                  <a:srgbClr val="F5FBFF"/>
                </a:solidFill>
              </a:defRPr>
            </a:pPr>
            <a:r>
              <a:rPr sz="1125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Desktop zoom → CameraSessionService ramp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125">
                <a:solidFill>
                  <a:srgbClr val="F5FBFF"/>
                </a:solidFill>
              </a:defRPr>
            </a:pPr>
            <a:r>
              <a:rPr sz="1125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Motor status → Desktop；scenePhase／undock → STOP</a:t>
            </a:r>
          </a:p>
        </p:txBody>
      </p:sp>
      <p:cxnSp>
        <p:nvCxnSpPr>
          <p:cNvPr id="431" name="Google Shape;241;p7"/>
          <p:cNvCxnSpPr/>
          <p:nvPr/>
        </p:nvCxnSpPr>
        <p:spPr>
          <a:xfrm xmlns:a="http://schemas.openxmlformats.org/drawingml/2006/main">
            <a:off x="9098037" y="1630680"/>
            <a:ext cx="0" cy="2575800"/>
          </a:xfrm>
          <a:prstGeom xmlns:a="http://schemas.openxmlformats.org/drawingml/2006/main" prst="straightConnector1">
            <a:avLst/>
          </a:prstGeom>
          <a:ln xmlns:a="http://schemas.openxmlformats.org/drawingml/2006/main" w="9900" cap="flat">
            <a:solidFill>
              <a:srgbClr val="334155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42" name="Google Shape;242;p7">
            <a:extLst xmlns:a="http://schemas.openxmlformats.org/drawingml/2006/main">
              <a:ext uri="{FF2B5EF4-FFF2-40B4-BE49-F238E27FC236}">
                <a16:creationId xmlns:a16="http://schemas.microsoft.com/office/drawing/2014/main" id="{B953FFD4-48AB-4A16-9ADB-BA588D6B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3" y="6477000"/>
            <a:ext cx="9753300" cy="24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UI 不直接控制馬達；所有硬體動作都經 GimbalControlService → DockKitManager 的安全邊界。</a:t>
            </a:r>
          </a:p>
        </p:txBody>
      </p:sp>
      <p:sp>
        <p:nvSpPr>
          <p:cNvPr id="243" name="Google Shape;243;p7">
            <a:extLst xmlns:a="http://schemas.openxmlformats.org/drawingml/2006/main">
              <a:ext uri="{FF2B5EF4-FFF2-40B4-BE49-F238E27FC236}">
                <a16:creationId xmlns:a16="http://schemas.microsoft.com/office/drawing/2014/main" id="{01AA9A97-7AA1-4E63-AF5B-0F310C78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3882" y="6477000"/>
            <a:ext cx="1203900" cy="21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61707E"/>
                </a:solidFill>
                <a:latin typeface="Calibri"/>
                <a:ea typeface="Calibri"/>
                <a:cs typeface="Calibri"/>
              </a:rPr>
              <a:t>AI Vision Director Camera for iOS V2.2</a:t>
            </a:r>
          </a:p>
        </p:txBody>
      </p:sp>
    </p:spTree>
    <p:extLst>
      <p:ext uri="{BB962C8B-B14F-4D97-AF65-F5344CB8AC3E}">
        <p14:creationId xmlns:p14="http://schemas.microsoft.com/office/powerpoint/2010/main" val="19573814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6" name="Google Shape;486;p16">
            <a:extLst xmlns:a="http://schemas.openxmlformats.org/drawingml/2006/main">
              <a:ext uri="{FF2B5EF4-FFF2-40B4-BE49-F238E27FC236}">
                <a16:creationId xmlns:a16="http://schemas.microsoft.com/office/drawing/2014/main" id="{054C1CEF-8A0F-4399-A64E-54792E8D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689" y="1493520"/>
            <a:ext cx="4114800" cy="281940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487" name="Google Shape;487;p16">
            <a:extLst xmlns:a="http://schemas.openxmlformats.org/drawingml/2006/main">
              <a:ext uri="{FF2B5EF4-FFF2-40B4-BE49-F238E27FC236}">
                <a16:creationId xmlns:a16="http://schemas.microsoft.com/office/drawing/2014/main" id="{17427B2D-16E5-41C9-8C49-1E789C4F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88" y="259080"/>
            <a:ext cx="2438400" cy="21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06B CAMERA &amp; NETWORK</a:t>
            </a:r>
          </a:p>
        </p:txBody>
      </p:sp>
      <p:sp>
        <p:nvSpPr>
          <p:cNvPr id="488" name="Google Shape;488;p16">
            <a:extLst xmlns:a="http://schemas.openxmlformats.org/drawingml/2006/main">
              <a:ext uri="{FF2B5EF4-FFF2-40B4-BE49-F238E27FC236}">
                <a16:creationId xmlns:a16="http://schemas.microsoft.com/office/drawing/2014/main" id="{6BBBE067-8A0B-43D2-AA65-7523F45A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88" y="518160"/>
            <a:ext cx="746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2700" b="1">
                <a:solidFill>
                  <a:srgbClr val="F5FBFF"/>
                </a:solidFill>
              </a:defRPr>
            </a:pPr>
            <a:r>
              <a:rPr sz="2700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iOS 影像鏈：最新影格優先，握手後才送</a:t>
            </a:r>
          </a:p>
        </p:txBody>
      </p:sp>
      <p:sp>
        <p:nvSpPr>
          <p:cNvPr id="489" name="Google Shape;489;p16">
            <a:extLst xmlns:a="http://schemas.openxmlformats.org/drawingml/2006/main">
              <a:ext uri="{FF2B5EF4-FFF2-40B4-BE49-F238E27FC236}">
                <a16:creationId xmlns:a16="http://schemas.microsoft.com/office/drawing/2014/main" id="{A34BE572-8F7D-48D1-8519-00B957B5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27" y="1082040"/>
            <a:ext cx="94485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30 FPS JPEG 先封裝 timestamp／frame ID；網路忙碌時只留最新影格。</a:t>
            </a:r>
          </a:p>
        </p:txBody>
      </p:sp>
      <p:sp>
        <p:nvSpPr>
          <p:cNvPr id="490" name="Google Shape;490;p16">
            <a:extLst xmlns:a="http://schemas.openxmlformats.org/drawingml/2006/main">
              <a:ext uri="{FF2B5EF4-FFF2-40B4-BE49-F238E27FC236}">
                <a16:creationId xmlns:a16="http://schemas.microsoft.com/office/drawing/2014/main" id="{FAE50F65-3765-409B-9F61-DB357B66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69" y="1493520"/>
            <a:ext cx="2057400" cy="28194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491" name="Google Shape;491;p16">
            <a:extLst xmlns:a="http://schemas.openxmlformats.org/drawingml/2006/main">
              <a:ext uri="{FF2B5EF4-FFF2-40B4-BE49-F238E27FC236}">
                <a16:creationId xmlns:a16="http://schemas.microsoft.com/office/drawing/2014/main" id="{87328848-504D-41C6-9168-1007DEAF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75" y="1630673"/>
            <a:ext cx="1752600" cy="365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>
              <a:alpha val="13333"/>
            </a:srgbClr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Camera</a:t>
            </a:r>
          </a:p>
        </p:txBody>
      </p:sp>
      <p:sp>
        <p:nvSpPr>
          <p:cNvPr id="492" name="Google Shape;492;p16">
            <a:extLst xmlns:a="http://schemas.openxmlformats.org/drawingml/2006/main">
              <a:ext uri="{FF2B5EF4-FFF2-40B4-BE49-F238E27FC236}">
                <a16:creationId xmlns:a16="http://schemas.microsoft.com/office/drawing/2014/main" id="{3248BD90-95F9-4845-9648-C9A49413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075" y="1630675"/>
            <a:ext cx="3733800" cy="365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Envelope</a:t>
            </a:r>
          </a:p>
        </p:txBody>
      </p:sp>
      <p:sp>
        <p:nvSpPr>
          <p:cNvPr id="493" name="Google Shape;493;p16">
            <a:extLst xmlns:a="http://schemas.openxmlformats.org/drawingml/2006/main">
              <a:ext uri="{FF2B5EF4-FFF2-40B4-BE49-F238E27FC236}">
                <a16:creationId xmlns:a16="http://schemas.microsoft.com/office/drawing/2014/main" id="{2B6AB129-9E3E-4A5E-B5BD-7E3C338E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255" y="1493520"/>
            <a:ext cx="2057400" cy="28194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4ADE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494" name="Google Shape;494;p16">
            <a:extLst xmlns:a="http://schemas.openxmlformats.org/drawingml/2006/main">
              <a:ext uri="{FF2B5EF4-FFF2-40B4-BE49-F238E27FC236}">
                <a16:creationId xmlns:a16="http://schemas.microsoft.com/office/drawing/2014/main" id="{86C156B1-B12D-48E3-9968-9119340F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25" y="1630675"/>
            <a:ext cx="1898700" cy="365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DE80">
              <a:alpha val="13333"/>
            </a:srgbClr>
          </a:solidFill>
          <a:ln xmlns:a="http://schemas.openxmlformats.org/drawingml/2006/main" w="9525" cmpd="sng">
            <a:solidFill>
              <a:srgbClr val="4ADE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4ADE80"/>
                </a:solidFill>
                <a:latin typeface="Calibri"/>
                <a:ea typeface="Calibri"/>
                <a:cs typeface="Calibri"/>
              </a:rPr>
              <a:t>Backpressure</a:t>
            </a:r>
          </a:p>
        </p:txBody>
      </p:sp>
      <p:sp>
        <p:nvSpPr>
          <p:cNvPr id="495" name="Google Shape;495;p16">
            <a:extLst xmlns:a="http://schemas.openxmlformats.org/drawingml/2006/main">
              <a:ext uri="{FF2B5EF4-FFF2-40B4-BE49-F238E27FC236}">
                <a16:creationId xmlns:a16="http://schemas.microsoft.com/office/drawing/2014/main" id="{D7BE8661-08F3-4068-8B7F-59E9881C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475" y="1493520"/>
            <a:ext cx="2590800" cy="28194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496" name="Google Shape;496;p16">
            <a:extLst xmlns:a="http://schemas.openxmlformats.org/drawingml/2006/main">
              <a:ext uri="{FF2B5EF4-FFF2-40B4-BE49-F238E27FC236}">
                <a16:creationId xmlns:a16="http://schemas.microsoft.com/office/drawing/2014/main" id="{7EBF9B25-3C80-47D5-B10F-94B5BFCB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250" y="1630675"/>
            <a:ext cx="2286000" cy="32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>
              <a:alpha val="13333"/>
            </a:srgbClr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Contract</a:t>
            </a:r>
          </a:p>
        </p:txBody>
      </p:sp>
      <p:sp>
        <p:nvSpPr>
          <p:cNvPr id="497" name="Google Shape;497;p16">
            <a:extLst xmlns:a="http://schemas.openxmlformats.org/drawingml/2006/main">
              <a:ext uri="{FF2B5EF4-FFF2-40B4-BE49-F238E27FC236}">
                <a16:creationId xmlns:a16="http://schemas.microsoft.com/office/drawing/2014/main" id="{2D12F885-74DA-4A7A-909B-07246D9D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5" y="2377452"/>
            <a:ext cx="1599900" cy="15138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F97316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498" name="Google Shape;498;p16">
            <a:extLst xmlns:a="http://schemas.openxmlformats.org/drawingml/2006/main">
              <a:ext uri="{FF2B5EF4-FFF2-40B4-BE49-F238E27FC236}">
                <a16:creationId xmlns:a16="http://schemas.microsoft.com/office/drawing/2014/main" id="{8F7CB8DF-D7BE-41AE-9259-67DB7AB3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80" y="2560320"/>
            <a:ext cx="320100" cy="32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99" name="Google Shape;499;p16">
            <a:extLst xmlns:a="http://schemas.openxmlformats.org/drawingml/2006/main">
              <a:ext uri="{FF2B5EF4-FFF2-40B4-BE49-F238E27FC236}">
                <a16:creationId xmlns:a16="http://schemas.microsoft.com/office/drawing/2014/main" id="{B3AFA328-995B-42D8-94AB-BA1658FC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09" y="2545080"/>
            <a:ext cx="9753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相機</a:t>
            </a:r>
          </a:p>
        </p:txBody>
      </p:sp>
      <p:sp>
        <p:nvSpPr>
          <p:cNvPr id="500" name="Google Shape;500;p16">
            <a:extLst xmlns:a="http://schemas.openxmlformats.org/drawingml/2006/main">
              <a:ext uri="{FF2B5EF4-FFF2-40B4-BE49-F238E27FC236}">
                <a16:creationId xmlns:a16="http://schemas.microsoft.com/office/drawing/2014/main" id="{5BC1C48E-2BD9-4074-AECB-AB307821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826" y="2943800"/>
            <a:ext cx="134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rear camera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30 FPS target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discard late</a:t>
            </a:r>
          </a:p>
        </p:txBody>
      </p:sp>
      <p:sp>
        <p:nvSpPr>
          <p:cNvPr id="501" name="Google Shape;501;p16">
            <a:extLst xmlns:a="http://schemas.openxmlformats.org/drawingml/2006/main">
              <a:ext uri="{FF2B5EF4-FFF2-40B4-BE49-F238E27FC236}">
                <a16:creationId xmlns:a16="http://schemas.microsoft.com/office/drawing/2014/main" id="{816B0116-ED77-4C27-9DB2-221674A5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275" y="2377453"/>
            <a:ext cx="1752600" cy="17682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22D3EE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02" name="Google Shape;502;p16">
            <a:extLst xmlns:a="http://schemas.openxmlformats.org/drawingml/2006/main">
              <a:ext uri="{FF2B5EF4-FFF2-40B4-BE49-F238E27FC236}">
                <a16:creationId xmlns:a16="http://schemas.microsoft.com/office/drawing/2014/main" id="{7677951F-F4CD-4376-BD1F-9D900A20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00" y="2560320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503" name="Google Shape;503;p16">
            <a:extLst xmlns:a="http://schemas.openxmlformats.org/drawingml/2006/main">
              <a:ext uri="{FF2B5EF4-FFF2-40B4-BE49-F238E27FC236}">
                <a16:creationId xmlns:a16="http://schemas.microsoft.com/office/drawing/2014/main" id="{E025B184-5E09-48D9-BED3-B2EE44D5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867" y="2545080"/>
            <a:ext cx="10059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預設</a:t>
            </a:r>
          </a:p>
        </p:txBody>
      </p:sp>
      <p:sp>
        <p:nvSpPr>
          <p:cNvPr id="504" name="Google Shape;504;p16">
            <a:extLst xmlns:a="http://schemas.openxmlformats.org/drawingml/2006/main">
              <a:ext uri="{FF2B5EF4-FFF2-40B4-BE49-F238E27FC236}">
                <a16:creationId xmlns:a16="http://schemas.microsoft.com/office/drawing/2014/main" id="{33CABF5C-532A-4CCB-AE85-4499F683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556" y="3002350"/>
            <a:ext cx="1691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orientation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preset / quality</a:t>
            </a:r>
          </a:p>
        </p:txBody>
      </p:sp>
      <p:sp>
        <p:nvSpPr>
          <p:cNvPr id="505" name="Google Shape;505;p16">
            <a:extLst xmlns:a="http://schemas.openxmlformats.org/drawingml/2006/main">
              <a:ext uri="{FF2B5EF4-FFF2-40B4-BE49-F238E27FC236}">
                <a16:creationId xmlns:a16="http://schemas.microsoft.com/office/drawing/2014/main" id="{0F818842-3637-473D-89C1-93446B43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225" y="2377453"/>
            <a:ext cx="1752600" cy="17682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FBBF24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06" name="Google Shape;506;p16">
            <a:extLst xmlns:a="http://schemas.openxmlformats.org/drawingml/2006/main">
              <a:ext uri="{FF2B5EF4-FFF2-40B4-BE49-F238E27FC236}">
                <a16:creationId xmlns:a16="http://schemas.microsoft.com/office/drawing/2014/main" id="{9DDA5B6A-A512-4CC0-9A6C-52F6232A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149" y="2560320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 cmpd="sng">
            <a:solidFill>
              <a:srgbClr val="FBBF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507" name="Google Shape;507;p16">
            <a:extLst xmlns:a="http://schemas.openxmlformats.org/drawingml/2006/main">
              <a:ext uri="{FF2B5EF4-FFF2-40B4-BE49-F238E27FC236}">
                <a16:creationId xmlns:a16="http://schemas.microsoft.com/office/drawing/2014/main" id="{230274FF-AE31-42AC-8889-2A4B666C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816" y="2545080"/>
            <a:ext cx="10059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封包</a:t>
            </a:r>
          </a:p>
        </p:txBody>
      </p:sp>
      <p:sp>
        <p:nvSpPr>
          <p:cNvPr id="508" name="Google Shape;508;p16">
            <a:extLst xmlns:a="http://schemas.openxmlformats.org/drawingml/2006/main">
              <a:ext uri="{FF2B5EF4-FFF2-40B4-BE49-F238E27FC236}">
                <a16:creationId xmlns:a16="http://schemas.microsoft.com/office/drawing/2014/main" id="{C782009A-A31F-4E80-99B9-BE8897C8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595" y="3032725"/>
            <a:ext cx="184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timestamp + frame ID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+ JPEG</a:t>
            </a:r>
          </a:p>
        </p:txBody>
      </p:sp>
      <p:sp>
        <p:nvSpPr>
          <p:cNvPr id="509" name="Google Shape;509;p16">
            <a:extLst xmlns:a="http://schemas.openxmlformats.org/drawingml/2006/main">
              <a:ext uri="{FF2B5EF4-FFF2-40B4-BE49-F238E27FC236}">
                <a16:creationId xmlns:a16="http://schemas.microsoft.com/office/drawing/2014/main" id="{3DA35D49-4375-43CF-9B73-29D4EF80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850" y="2377453"/>
            <a:ext cx="1599900" cy="17682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4ADE8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10" name="Google Shape;510;p16">
            <a:extLst xmlns:a="http://schemas.openxmlformats.org/drawingml/2006/main">
              <a:ext uri="{FF2B5EF4-FFF2-40B4-BE49-F238E27FC236}">
                <a16:creationId xmlns:a16="http://schemas.microsoft.com/office/drawing/2014/main" id="{BC342C5C-D67F-41BD-8A86-D9DFA542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765" y="2560320"/>
            <a:ext cx="320100" cy="32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9525" cmpd="sng">
            <a:solidFill>
              <a:srgbClr val="4ADE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511" name="Google Shape;511;p16">
            <a:extLst xmlns:a="http://schemas.openxmlformats.org/drawingml/2006/main">
              <a:ext uri="{FF2B5EF4-FFF2-40B4-BE49-F238E27FC236}">
                <a16:creationId xmlns:a16="http://schemas.microsoft.com/office/drawing/2014/main" id="{835749E1-353B-4E72-9C43-0EF7EA10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001" y="2545074"/>
            <a:ext cx="1179300" cy="44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Latest</a:t>
            </a:r>
          </a:p>
        </p:txBody>
      </p:sp>
      <p:sp>
        <p:nvSpPr>
          <p:cNvPr id="512" name="Google Shape;512;p16">
            <a:extLst xmlns:a="http://schemas.openxmlformats.org/drawingml/2006/main">
              <a:ext uri="{FF2B5EF4-FFF2-40B4-BE49-F238E27FC236}">
                <a16:creationId xmlns:a16="http://schemas.microsoft.com/office/drawing/2014/main" id="{8DE1514C-31C3-4D44-9B1B-C2A010C1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731" y="308610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one in flight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latest only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200">
                <a:solidFill>
                  <a:srgbClr val="F5FBFF"/>
                </a:solidFill>
              </a:defRPr>
            </a:pPr>
            <a:r>
              <a:rPr sz="120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sent / dropped</a:t>
            </a:r>
          </a:p>
        </p:txBody>
      </p:sp>
      <p:sp>
        <p:nvSpPr>
          <p:cNvPr id="513" name="Google Shape;513;p16">
            <a:extLst xmlns:a="http://schemas.openxmlformats.org/drawingml/2006/main">
              <a:ext uri="{FF2B5EF4-FFF2-40B4-BE49-F238E27FC236}">
                <a16:creationId xmlns:a16="http://schemas.microsoft.com/office/drawing/2014/main" id="{1AC4CE17-FD0A-4AD4-876C-6C6C5675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548" y="2026920"/>
            <a:ext cx="2057400" cy="1066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F97316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14" name="Google Shape;514;p16">
            <a:extLst xmlns:a="http://schemas.openxmlformats.org/drawingml/2006/main">
              <a:ext uri="{FF2B5EF4-FFF2-40B4-BE49-F238E27FC236}">
                <a16:creationId xmlns:a16="http://schemas.microsoft.com/office/drawing/2014/main" id="{9573B4A9-5D2E-4B71-9492-79A3251D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465" y="2175681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515" name="Google Shape;515;p16">
            <a:extLst xmlns:a="http://schemas.openxmlformats.org/drawingml/2006/main">
              <a:ext uri="{FF2B5EF4-FFF2-40B4-BE49-F238E27FC236}">
                <a16:creationId xmlns:a16="http://schemas.microsoft.com/office/drawing/2014/main" id="{ABC4F511-4242-4B21-A15C-C1FBCD78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132" y="2168970"/>
            <a:ext cx="13107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端點握手</a:t>
            </a:r>
          </a:p>
        </p:txBody>
      </p:sp>
      <p:sp>
        <p:nvSpPr>
          <p:cNvPr id="516" name="Google Shape;516;p16">
            <a:extLst xmlns:a="http://schemas.openxmlformats.org/drawingml/2006/main">
              <a:ext uri="{FF2B5EF4-FFF2-40B4-BE49-F238E27FC236}">
                <a16:creationId xmlns:a16="http://schemas.microsoft.com/office/drawing/2014/main" id="{B98EF154-E699-4413-B2D0-52DC7086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75" y="2546685"/>
            <a:ext cx="2019900" cy="44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125">
                <a:solidFill>
                  <a:srgbClr val="F5FBFF"/>
                </a:solidFill>
              </a:defRPr>
            </a:pPr>
            <a:r>
              <a:rPr sz="1125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Bonjour + saved URL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125">
                <a:solidFill>
                  <a:srgbClr val="F5FBFF"/>
                </a:solidFill>
              </a:defRPr>
            </a:pPr>
            <a:r>
              <a:rPr sz="1125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4 s verify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125">
                <a:solidFill>
                  <a:srgbClr val="F5FBFF"/>
                </a:solidFill>
              </a:defRPr>
            </a:pPr>
            <a:r>
              <a:rPr sz="1125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IP repair</a:t>
            </a:r>
          </a:p>
        </p:txBody>
      </p:sp>
      <p:sp>
        <p:nvSpPr>
          <p:cNvPr id="517" name="Google Shape;517;p16">
            <a:extLst xmlns:a="http://schemas.openxmlformats.org/drawingml/2006/main">
              <a:ext uri="{FF2B5EF4-FFF2-40B4-BE49-F238E27FC236}">
                <a16:creationId xmlns:a16="http://schemas.microsoft.com/office/drawing/2014/main" id="{FF88AF31-7E17-4E51-B99E-00596EB0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550" y="3291851"/>
            <a:ext cx="2057400" cy="9603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22D3EE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18" name="Google Shape;518;p16">
            <a:extLst xmlns:a="http://schemas.openxmlformats.org/drawingml/2006/main">
              <a:ext uri="{FF2B5EF4-FFF2-40B4-BE49-F238E27FC236}">
                <a16:creationId xmlns:a16="http://schemas.microsoft.com/office/drawing/2014/main" id="{FC662D69-FBAE-4E48-A0B4-E9A0DDC4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465" y="3432071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519" name="Google Shape;519;p16">
            <a:extLst xmlns:a="http://schemas.openxmlformats.org/drawingml/2006/main">
              <a:ext uri="{FF2B5EF4-FFF2-40B4-BE49-F238E27FC236}">
                <a16:creationId xmlns:a16="http://schemas.microsoft.com/office/drawing/2014/main" id="{81A05643-983C-4BFB-B845-244F7128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7841" y="3425361"/>
            <a:ext cx="13107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下行驗證</a:t>
            </a:r>
          </a:p>
        </p:txBody>
      </p:sp>
      <p:sp>
        <p:nvSpPr>
          <p:cNvPr id="520" name="Google Shape;520;p16">
            <a:extLst xmlns:a="http://schemas.openxmlformats.org/drawingml/2006/main">
              <a:ext uri="{FF2B5EF4-FFF2-40B4-BE49-F238E27FC236}">
                <a16:creationId xmlns:a16="http://schemas.microsoft.com/office/drawing/2014/main" id="{A52377A1-AFDC-48FD-960C-7F9A2B0E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714750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050">
                <a:solidFill>
                  <a:srgbClr val="F5FBFF"/>
                </a:solidFill>
              </a:defRPr>
            </a:pPr>
            <a:r>
              <a:rPr sz="105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sequence ↑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050">
                <a:solidFill>
                  <a:srgbClr val="F5FBFF"/>
                </a:solidFill>
              </a:defRPr>
            </a:pPr>
            <a:r>
              <a:rPr sz="105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lock / confidence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  <a:defRPr sz="1050">
                <a:solidFill>
                  <a:srgbClr val="F5FBFF"/>
                </a:solidFill>
              </a:defRPr>
            </a:pPr>
            <a:r>
              <a:rPr sz="105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zoom / 500 ms</a:t>
            </a:r>
          </a:p>
        </p:txBody>
      </p:sp>
      <p:cxnSp>
        <p:nvCxnSpPr>
          <p:cNvPr id="711" name="Google Shape;521;p16"/>
          <p:cNvCxnSpPr>
            <a:stCxn xmlns:a="http://schemas.openxmlformats.org/drawingml/2006/main" id="497" idx="3"/>
            <a:endCxn xmlns:a="http://schemas.openxmlformats.org/drawingml/2006/main" id="501" idx="1"/>
          </p:cNvCxnSpPr>
          <p:nvPr/>
        </p:nvCxnSpPr>
        <p:spPr>
          <a:xfrm xmlns:a="http://schemas.openxmlformats.org/drawingml/2006/main">
            <a:off x="2239975" y="3134352"/>
            <a:ext cx="640200" cy="12720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12" name="Google Shape;522;p16"/>
          <p:cNvCxnSpPr>
            <a:stCxn xmlns:a="http://schemas.openxmlformats.org/drawingml/2006/main" id="501" idx="3"/>
            <a:endCxn xmlns:a="http://schemas.openxmlformats.org/drawingml/2006/main" id="505" idx="1"/>
          </p:cNvCxnSpPr>
          <p:nvPr/>
        </p:nvCxnSpPr>
        <p:spPr>
          <a:xfrm xmlns:a="http://schemas.openxmlformats.org/drawingml/2006/main">
            <a:off x="4632875" y="3261553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13" name="Google Shape;523;p16"/>
          <p:cNvCxnSpPr>
            <a:stCxn xmlns:a="http://schemas.openxmlformats.org/drawingml/2006/main" id="505" idx="3"/>
            <a:endCxn xmlns:a="http://schemas.openxmlformats.org/drawingml/2006/main" id="509" idx="1"/>
          </p:cNvCxnSpPr>
          <p:nvPr/>
        </p:nvCxnSpPr>
        <p:spPr>
          <a:xfrm xmlns:a="http://schemas.openxmlformats.org/drawingml/2006/main">
            <a:off x="6537825" y="3261553"/>
            <a:ext cx="639900" cy="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14" name="Google Shape;524;p16"/>
          <p:cNvCxnSpPr>
            <a:stCxn xmlns:a="http://schemas.openxmlformats.org/drawingml/2006/main" id="509" idx="3"/>
            <a:endCxn xmlns:a="http://schemas.openxmlformats.org/drawingml/2006/main" id="513" idx="1"/>
          </p:cNvCxnSpPr>
          <p:nvPr/>
        </p:nvCxnSpPr>
        <p:spPr>
          <a:xfrm xmlns:a="http://schemas.openxmlformats.org/drawingml/2006/main" rot="10800000" flipH="1">
            <a:off x="8777750" y="2560453"/>
            <a:ext cx="670800" cy="70110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15" name="Google Shape;525;p16"/>
          <p:cNvCxnSpPr>
            <a:stCxn xmlns:a="http://schemas.openxmlformats.org/drawingml/2006/main" id="513" idx="2"/>
            <a:endCxn xmlns:a="http://schemas.openxmlformats.org/drawingml/2006/main" id="517" idx="0"/>
          </p:cNvCxnSpPr>
          <p:nvPr/>
        </p:nvCxnSpPr>
        <p:spPr>
          <a:xfrm xmlns:a="http://schemas.openxmlformats.org/drawingml/2006/main">
            <a:off x="10477248" y="3093720"/>
            <a:ext cx="0" cy="198000"/>
          </a:xfrm>
          <a:prstGeom xmlns:a="http://schemas.openxmlformats.org/drawingml/2006/main" prst="straightConnector1">
            <a:avLst/>
          </a:prstGeom>
          <a:ln xmlns:a="http://schemas.openxmlformats.org/drawingml/2006/main" w="24375" cap="flat">
            <a:solidFill>
              <a:srgbClr val="F97316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26" name="Google Shape;526;p16">
            <a:extLst xmlns:a="http://schemas.openxmlformats.org/drawingml/2006/main">
              <a:ext uri="{FF2B5EF4-FFF2-40B4-BE49-F238E27FC236}">
                <a16:creationId xmlns:a16="http://schemas.microsoft.com/office/drawing/2014/main" id="{F04F26BD-0932-4448-91C4-99A19B72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63" y="4526280"/>
            <a:ext cx="5334000" cy="181380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0D1821"/>
          </a:solidFill>
          <a:ln xmlns:a="http://schemas.openxmlformats.org/drawingml/2006/main" w="13700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27" name="Google Shape;527;p16">
            <a:extLst xmlns:a="http://schemas.openxmlformats.org/drawingml/2006/main">
              <a:ext uri="{FF2B5EF4-FFF2-40B4-BE49-F238E27FC236}">
                <a16:creationId xmlns:a16="http://schemas.microsoft.com/office/drawing/2014/main" id="{5A561A6C-9427-42B5-9227-7EFE5F9A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61" y="4754880"/>
            <a:ext cx="4815600" cy="32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CameraSessionService</a:t>
            </a:r>
          </a:p>
        </p:txBody>
      </p:sp>
      <p:sp>
        <p:nvSpPr>
          <p:cNvPr id="528" name="Google Shape;528;p16">
            <a:extLst xmlns:a="http://schemas.openxmlformats.org/drawingml/2006/main">
              <a:ext uri="{FF2B5EF4-FFF2-40B4-BE49-F238E27FC236}">
                <a16:creationId xmlns:a16="http://schemas.microsoft.com/office/drawing/2014/main" id="{AD3656E9-A8E6-4D78-BF8C-70D9ACA1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32" y="5143256"/>
            <a:ext cx="4632900" cy="96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125">
                <a:solidFill>
                  <a:srgbClr val="F5FBFF"/>
                </a:solidFill>
              </a:defRPr>
            </a:pPr>
            <a:r>
              <a:rPr sz="1125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Tap focus 同時更新 autofocus 與 exposure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125">
                <a:solidFill>
                  <a:srgbClr val="F5FBFF"/>
                </a:solidFill>
              </a:defRPr>
            </a:pPr>
            <a:r>
              <a:rPr sz="1125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裝置方向直接套用到輸出的 JPEG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125">
                <a:solidFill>
                  <a:srgbClr val="F5FBFF"/>
                </a:solidFill>
              </a:defRPr>
            </a:pPr>
            <a:r>
              <a:rPr sz="1125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zoom 差 ≥ 0.08、間隔 ≥ 0.35 s 才更新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125">
                <a:solidFill>
                  <a:srgbClr val="F5FBFF"/>
                </a:solidFill>
              </a:defRPr>
            </a:pPr>
            <a:r>
              <a:rPr sz="1125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實體倍率以 rate 2.0 平滑 ramp，並限制在鏡頭範圍</a:t>
            </a:r>
          </a:p>
        </p:txBody>
      </p:sp>
      <p:sp>
        <p:nvSpPr>
          <p:cNvPr id="529" name="Google Shape;529;p16">
            <a:extLst xmlns:a="http://schemas.openxmlformats.org/drawingml/2006/main">
              <a:ext uri="{FF2B5EF4-FFF2-40B4-BE49-F238E27FC236}">
                <a16:creationId xmlns:a16="http://schemas.microsoft.com/office/drawing/2014/main" id="{0D7F49B8-13A7-4B03-BBF2-6DA6137C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754" y="4526280"/>
            <a:ext cx="5334000" cy="181380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0D1821"/>
          </a:solidFill>
          <a:ln xmlns:a="http://schemas.openxmlformats.org/drawingml/2006/main" w="13700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30" name="Google Shape;530;p16">
            <a:extLst xmlns:a="http://schemas.openxmlformats.org/drawingml/2006/main">
              <a:ext uri="{FF2B5EF4-FFF2-40B4-BE49-F238E27FC236}">
                <a16:creationId xmlns:a16="http://schemas.microsoft.com/office/drawing/2014/main" id="{00DA8662-932D-4712-8D2E-0D6D6149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952" y="4754905"/>
            <a:ext cx="4815600" cy="32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V13NetworkClient</a:t>
            </a:r>
          </a:p>
        </p:txBody>
      </p:sp>
      <p:sp>
        <p:nvSpPr>
          <p:cNvPr id="531" name="Google Shape;531;p16">
            <a:extLst xmlns:a="http://schemas.openxmlformats.org/drawingml/2006/main">
              <a:ext uri="{FF2B5EF4-FFF2-40B4-BE49-F238E27FC236}">
                <a16:creationId xmlns:a16="http://schemas.microsoft.com/office/drawing/2014/main" id="{EFFED7DC-0B7D-4450-8DC1-AA533BDB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573" y="5217638"/>
            <a:ext cx="4632900" cy="96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125">
                <a:solidFill>
                  <a:srgbClr val="F5FBFF"/>
                </a:solidFill>
              </a:defRPr>
            </a:pPr>
            <a:r>
              <a:rPr sz="1125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handshake 前禁送 frame／motor status／control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125">
                <a:solidFill>
                  <a:srgbClr val="F5FBFF"/>
                </a:solidFill>
              </a:defRPr>
            </a:pPr>
            <a:r>
              <a:rPr sz="1125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忙碌時覆蓋舊等待影格，累計 sent / dropped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125">
                <a:solidFill>
                  <a:srgbClr val="F5FBFF"/>
                </a:solidFill>
              </a:defRPr>
            </a:pPr>
            <a:r>
              <a:rPr sz="1125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收到 tracking 後重設 timeout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125">
                <a:solidFill>
                  <a:srgbClr val="F5FBFF"/>
                </a:solidFill>
              </a:defRPr>
            </a:pPr>
            <a:r>
              <a:rPr sz="1125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斷線自動重連；背景或 disconnect 清空等待影格</a:t>
            </a:r>
          </a:p>
        </p:txBody>
      </p:sp>
      <p:cxnSp>
        <p:nvCxnSpPr>
          <p:cNvPr id="722" name="Google Shape;532;p16"/>
          <p:cNvCxnSpPr/>
          <p:nvPr/>
        </p:nvCxnSpPr>
        <p:spPr>
          <a:xfrm xmlns:a="http://schemas.openxmlformats.org/drawingml/2006/main">
            <a:off x="9098037" y="1630680"/>
            <a:ext cx="0" cy="2575800"/>
          </a:xfrm>
          <a:prstGeom xmlns:a="http://schemas.openxmlformats.org/drawingml/2006/main" prst="straightConnector1">
            <a:avLst/>
          </a:prstGeom>
          <a:ln xmlns:a="http://schemas.openxmlformats.org/drawingml/2006/main" w="9900" cap="flat">
            <a:solidFill>
              <a:srgbClr val="334155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533" name="Google Shape;533;p16">
            <a:extLst xmlns:a="http://schemas.openxmlformats.org/drawingml/2006/main">
              <a:ext uri="{FF2B5EF4-FFF2-40B4-BE49-F238E27FC236}">
                <a16:creationId xmlns:a16="http://schemas.microsoft.com/office/drawing/2014/main" id="{BFB1B01F-ACF0-4623-A3CF-4DB08091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3" y="6477000"/>
            <a:ext cx="9753300" cy="24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這條鏈路刻意允許丟掉舊影格：即時控制需要最新畫面，不需要累積延遲的完整佇列。</a:t>
            </a:r>
          </a:p>
        </p:txBody>
      </p:sp>
      <p:sp>
        <p:nvSpPr>
          <p:cNvPr id="534" name="Google Shape;534;p16">
            <a:extLst xmlns:a="http://schemas.openxmlformats.org/drawingml/2006/main">
              <a:ext uri="{FF2B5EF4-FFF2-40B4-BE49-F238E27FC236}">
                <a16:creationId xmlns:a16="http://schemas.microsoft.com/office/drawing/2014/main" id="{8FED7169-FC51-4622-ABC1-09AEE4D1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3882" y="6477000"/>
            <a:ext cx="1203900" cy="21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61707E"/>
                </a:solidFill>
                <a:latin typeface="Calibri"/>
                <a:ea typeface="Calibri"/>
                <a:cs typeface="Calibri"/>
              </a:rPr>
              <a:t>AI Vision Director Camera for iOS V2.2</a:t>
            </a:r>
          </a:p>
        </p:txBody>
      </p:sp>
    </p:spTree>
    <p:extLst>
      <p:ext uri="{BB962C8B-B14F-4D97-AF65-F5344CB8AC3E}">
        <p14:creationId xmlns:p14="http://schemas.microsoft.com/office/powerpoint/2010/main" val="20169963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0" name="Google Shape;540;p17">
            <a:extLst xmlns:a="http://schemas.openxmlformats.org/drawingml/2006/main">
              <a:ext uri="{FF2B5EF4-FFF2-40B4-BE49-F238E27FC236}">
                <a16:creationId xmlns:a16="http://schemas.microsoft.com/office/drawing/2014/main" id="{08D45AF0-1B03-443D-9D60-59F139B0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382" y="1790700"/>
            <a:ext cx="5334000" cy="4134000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0B1821"/>
          </a:solidFill>
          <a:ln xmlns:a="http://schemas.openxmlformats.org/drawingml/2006/main" w="16175" cmpd="sng">
            <a:solidFill>
              <a:srgbClr val="FF6B2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41" name="Google Shape;541;p17">
            <a:extLst xmlns:a="http://schemas.openxmlformats.org/drawingml/2006/main">
              <a:ext uri="{FF2B5EF4-FFF2-40B4-BE49-F238E27FC236}">
                <a16:creationId xmlns:a16="http://schemas.microsoft.com/office/drawing/2014/main" id="{96F91262-258D-4EE2-A9E5-3931D214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35" y="1790700"/>
            <a:ext cx="5334000" cy="4134000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0B1821"/>
          </a:solidFill>
          <a:ln xmlns:a="http://schemas.openxmlformats.org/drawingml/2006/main" w="16175" cmpd="sng">
            <a:solidFill>
              <a:srgbClr val="FFD44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42" name="Google Shape;542;p17">
            <a:extLst xmlns:a="http://schemas.openxmlformats.org/drawingml/2006/main">
              <a:ext uri="{FF2B5EF4-FFF2-40B4-BE49-F238E27FC236}">
                <a16:creationId xmlns:a16="http://schemas.microsoft.com/office/drawing/2014/main" id="{926F1F92-49D7-4E4F-BAFE-56BDA2FC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35" y="361950"/>
            <a:ext cx="3810000" cy="2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sz="975" b="1" i="0" u="none" cap="none">
                <a:solidFill>
                  <a:srgbClr val="00D7E7"/>
                </a:solidFill>
                <a:latin typeface="Calibri"/>
                <a:ea typeface="Calibri"/>
                <a:cs typeface="Calibri"/>
              </a:rPr>
              <a:t>06C IOS CONTROL &amp; DOCKKIT</a:t>
            </a:r>
          </a:p>
        </p:txBody>
      </p:sp>
      <p:sp>
        <p:nvSpPr>
          <p:cNvPr id="543" name="Google Shape;543;p17">
            <a:extLst xmlns:a="http://schemas.openxmlformats.org/drawingml/2006/main">
              <a:ext uri="{FF2B5EF4-FFF2-40B4-BE49-F238E27FC236}">
                <a16:creationId xmlns:a16="http://schemas.microsoft.com/office/drawing/2014/main" id="{22871CAC-706E-4C38-AF88-E401FCA4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35" y="723900"/>
            <a:ext cx="93342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  <a:defRPr sz="2700" b="1">
                <a:solidFill>
                  <a:srgbClr val="F5FBFF"/>
                </a:solidFill>
              </a:defRPr>
            </a:pPr>
            <a:r>
              <a:rPr sz="2700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iOS 控制：可追判定、速度計算、DockKit 執行</a:t>
            </a:r>
          </a:p>
        </p:txBody>
      </p:sp>
      <p:sp>
        <p:nvSpPr>
          <p:cNvPr id="544" name="Google Shape;544;p17">
            <a:extLst xmlns:a="http://schemas.openxmlformats.org/drawingml/2006/main">
              <a:ext uri="{FF2B5EF4-FFF2-40B4-BE49-F238E27FC236}">
                <a16:creationId xmlns:a16="http://schemas.microsoft.com/office/drawing/2014/main" id="{1DA9B11D-E9B6-4C58-A9EA-7DF260E7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85" y="1323975"/>
            <a:ext cx="9334200" cy="2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校正值持久化；控制包含 dead zone、P control、feed-forward、動態 smoothing 與邊界保護。</a:t>
            </a:r>
          </a:p>
        </p:txBody>
      </p:sp>
      <p:sp>
        <p:nvSpPr>
          <p:cNvPr id="545" name="Google Shape;545;p17">
            <a:extLst xmlns:a="http://schemas.openxmlformats.org/drawingml/2006/main">
              <a:ext uri="{FF2B5EF4-FFF2-40B4-BE49-F238E27FC236}">
                <a16:creationId xmlns:a16="http://schemas.microsoft.com/office/drawing/2014/main" id="{B663C644-C692-4429-89A2-3ACA72F9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440" y="37147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46" name="Google Shape;546;p17">
            <a:extLst xmlns:a="http://schemas.openxmlformats.org/drawingml/2006/main">
              <a:ext uri="{FF2B5EF4-FFF2-40B4-BE49-F238E27FC236}">
                <a16:creationId xmlns:a16="http://schemas.microsoft.com/office/drawing/2014/main" id="{E5C3A8E7-6D78-4DCD-9206-9405065E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627" y="48577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7E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47" name="Google Shape;547;p17">
            <a:extLst xmlns:a="http://schemas.openxmlformats.org/drawingml/2006/main">
              <a:ext uri="{FF2B5EF4-FFF2-40B4-BE49-F238E27FC236}">
                <a16:creationId xmlns:a16="http://schemas.microsoft.com/office/drawing/2014/main" id="{B4719BA1-F251-4270-A187-5D19D1E7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291" y="60007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48" name="Google Shape;548;p17">
            <a:extLst xmlns:a="http://schemas.openxmlformats.org/drawingml/2006/main">
              <a:ext uri="{FF2B5EF4-FFF2-40B4-BE49-F238E27FC236}">
                <a16:creationId xmlns:a16="http://schemas.microsoft.com/office/drawing/2014/main" id="{6EE706A2-3BF5-48A1-BA90-8554363D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478" y="71437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7E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49" name="Google Shape;549;p17">
            <a:extLst xmlns:a="http://schemas.openxmlformats.org/drawingml/2006/main">
              <a:ext uri="{FF2B5EF4-FFF2-40B4-BE49-F238E27FC236}">
                <a16:creationId xmlns:a16="http://schemas.microsoft.com/office/drawing/2014/main" id="{837852CF-6E32-4A15-A9C1-3880C891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617" y="82867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50" name="Google Shape;550;p17">
            <a:extLst xmlns:a="http://schemas.openxmlformats.org/drawingml/2006/main">
              <a:ext uri="{FF2B5EF4-FFF2-40B4-BE49-F238E27FC236}">
                <a16:creationId xmlns:a16="http://schemas.microsoft.com/office/drawing/2014/main" id="{7647BCCD-B764-400C-9BE9-B4F4880A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171" y="6534150"/>
            <a:ext cx="1314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rgbClr val="6F7E88"/>
                </a:solidFill>
                <a:latin typeface="Calibri"/>
                <a:ea typeface="Calibri"/>
                <a:cs typeface="Calibri"/>
              </a:rPr>
              <a:t>AI Vision Director Camera for iOS V2.2</a:t>
            </a:r>
          </a:p>
        </p:txBody>
      </p:sp>
      <p:sp>
        <p:nvSpPr>
          <p:cNvPr id="551" name="Google Shape;551;p17">
            <a:extLst xmlns:a="http://schemas.openxmlformats.org/drawingml/2006/main">
              <a:ext uri="{FF2B5EF4-FFF2-40B4-BE49-F238E27FC236}">
                <a16:creationId xmlns:a16="http://schemas.microsoft.com/office/drawing/2014/main" id="{C7EF1BAC-A34B-4B0A-BEEA-90C0CDC8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28" y="2038350"/>
            <a:ext cx="37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1" i="0" u="none" cap="none">
                <a:solidFill>
                  <a:srgbClr val="FFD447"/>
                </a:solidFill>
                <a:latin typeface="Calibri"/>
                <a:ea typeface="Calibri"/>
                <a:cs typeface="Calibri"/>
              </a:rPr>
              <a:t>1. GimbalControlService</a:t>
            </a:r>
          </a:p>
        </p:txBody>
      </p:sp>
      <p:sp>
        <p:nvSpPr>
          <p:cNvPr id="552" name="Google Shape;552;p17">
            <a:extLst xmlns:a="http://schemas.openxmlformats.org/drawingml/2006/main">
              <a:ext uri="{FF2B5EF4-FFF2-40B4-BE49-F238E27FC236}">
                <a16:creationId xmlns:a16="http://schemas.microsoft.com/office/drawing/2014/main" id="{F6349739-DFC2-4AE9-9AA0-FB829596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28" y="2362200"/>
            <a:ext cx="447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sz="145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TrackingCommand → trackability → velocity → safety</a:t>
            </a:r>
          </a:p>
        </p:txBody>
      </p:sp>
      <p:sp>
        <p:nvSpPr>
          <p:cNvPr id="553" name="Google Shape;553;p17">
            <a:extLst xmlns:a="http://schemas.openxmlformats.org/drawingml/2006/main">
              <a:ext uri="{FF2B5EF4-FFF2-40B4-BE49-F238E27FC236}">
                <a16:creationId xmlns:a16="http://schemas.microsoft.com/office/drawing/2014/main" id="{DD8D3C0C-0A86-4AA3-9D4B-04097636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07" y="2819550"/>
            <a:ext cx="2105700" cy="205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A"/>
          </a:solidFill>
          <a:ln xmlns:a="http://schemas.openxmlformats.org/drawingml/2006/main" w="9525" cmpd="sng">
            <a:solidFill>
              <a:srgbClr val="5B68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54" name="Google Shape;554;p17">
            <a:extLst xmlns:a="http://schemas.openxmlformats.org/drawingml/2006/main">
              <a:ext uri="{FF2B5EF4-FFF2-40B4-BE49-F238E27FC236}">
                <a16:creationId xmlns:a16="http://schemas.microsoft.com/office/drawing/2014/main" id="{97BC110D-A21F-40BC-B570-418F0117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95" y="285750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55" name="Google Shape;555;p17">
            <a:extLst xmlns:a="http://schemas.openxmlformats.org/drawingml/2006/main">
              <a:ext uri="{FF2B5EF4-FFF2-40B4-BE49-F238E27FC236}">
                <a16:creationId xmlns:a16="http://schemas.microsoft.com/office/drawing/2014/main" id="{12C91778-9997-48C2-87FE-FFC8BB57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981" y="285750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56" name="Google Shape;556;p17">
            <a:extLst xmlns:a="http://schemas.openxmlformats.org/drawingml/2006/main">
              <a:ext uri="{FF2B5EF4-FFF2-40B4-BE49-F238E27FC236}">
                <a16:creationId xmlns:a16="http://schemas.microsoft.com/office/drawing/2014/main" id="{2E7F9308-C659-4C75-8676-434D445D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268" y="285750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57" name="Google Shape;557;p17">
            <a:extLst xmlns:a="http://schemas.openxmlformats.org/drawingml/2006/main">
              <a:ext uri="{FF2B5EF4-FFF2-40B4-BE49-F238E27FC236}">
                <a16:creationId xmlns:a16="http://schemas.microsoft.com/office/drawing/2014/main" id="{A39F4E3E-C433-4630-BC5F-B82388FB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555" y="285750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58" name="Google Shape;558;p17">
            <a:extLst xmlns:a="http://schemas.openxmlformats.org/drawingml/2006/main">
              <a:ext uri="{FF2B5EF4-FFF2-40B4-BE49-F238E27FC236}">
                <a16:creationId xmlns:a16="http://schemas.microsoft.com/office/drawing/2014/main" id="{4F91E3C8-41EF-476C-89C8-90CEB522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08" y="3328988"/>
            <a:ext cx="24765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59" name="Google Shape;559;p17">
            <a:extLst xmlns:a="http://schemas.openxmlformats.org/drawingml/2006/main">
              <a:ext uri="{FF2B5EF4-FFF2-40B4-BE49-F238E27FC236}">
                <a16:creationId xmlns:a16="http://schemas.microsoft.com/office/drawing/2014/main" id="{F907540C-5744-4F1A-9ACA-069BD701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08" y="3800475"/>
            <a:ext cx="24765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60" name="Google Shape;560;p17">
            <a:extLst xmlns:a="http://schemas.openxmlformats.org/drawingml/2006/main">
              <a:ext uri="{FF2B5EF4-FFF2-40B4-BE49-F238E27FC236}">
                <a16:creationId xmlns:a16="http://schemas.microsoft.com/office/drawing/2014/main" id="{009AF57D-B044-4DFF-AAF8-7E0B0F9D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08" y="4271963"/>
            <a:ext cx="24765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61" name="Google Shape;561;p17">
            <a:extLst xmlns:a="http://schemas.openxmlformats.org/drawingml/2006/main">
              <a:ext uri="{FF2B5EF4-FFF2-40B4-BE49-F238E27FC236}">
                <a16:creationId xmlns:a16="http://schemas.microsoft.com/office/drawing/2014/main" id="{724D2FAE-3C09-4C2E-AB2B-408DE725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179" y="3800475"/>
            <a:ext cx="342900" cy="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62" name="Google Shape;562;p17">
            <a:extLst xmlns:a="http://schemas.openxmlformats.org/drawingml/2006/main">
              <a:ext uri="{FF2B5EF4-FFF2-40B4-BE49-F238E27FC236}">
                <a16:creationId xmlns:a16="http://schemas.microsoft.com/office/drawing/2014/main" id="{2DF20A75-A797-429C-A8B5-134AAF41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625" y="3629025"/>
            <a:ext cx="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63" name="Google Shape;563;p17">
            <a:extLst xmlns:a="http://schemas.openxmlformats.org/drawingml/2006/main">
              <a:ext uri="{FF2B5EF4-FFF2-40B4-BE49-F238E27FC236}">
                <a16:creationId xmlns:a16="http://schemas.microsoft.com/office/drawing/2014/main" id="{45A82155-5CAD-4FA9-A6AF-EBD8B897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338" y="3333750"/>
            <a:ext cx="990600" cy="7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FFD44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64" name="Google Shape;564;p17">
            <a:extLst xmlns:a="http://schemas.openxmlformats.org/drawingml/2006/main">
              <a:ext uri="{FF2B5EF4-FFF2-40B4-BE49-F238E27FC236}">
                <a16:creationId xmlns:a16="http://schemas.microsoft.com/office/drawing/2014/main" id="{6F1BD94B-2AAD-48AD-B3FF-79E2D6AC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925" y="296227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5"/>
              <a:buFont typeface="Arial"/>
              <a:buNone/>
            </a:pPr>
            <a:r>
              <a:rPr sz="1525" b="0" i="0" u="none" cap="none">
                <a:solidFill>
                  <a:srgbClr val="FFD447"/>
                </a:solidFill>
                <a:latin typeface="Calibri"/>
                <a:ea typeface="Calibri"/>
                <a:cs typeface="Calibri"/>
              </a:rPr>
              <a:t>Tracking
Command</a:t>
            </a:r>
          </a:p>
        </p:txBody>
      </p:sp>
      <p:sp>
        <p:nvSpPr>
          <p:cNvPr id="565" name="Google Shape;565;p17">
            <a:extLst xmlns:a="http://schemas.openxmlformats.org/drawingml/2006/main">
              <a:ext uri="{FF2B5EF4-FFF2-40B4-BE49-F238E27FC236}">
                <a16:creationId xmlns:a16="http://schemas.microsoft.com/office/drawing/2014/main" id="{B6CAAEEE-3213-4DE2-8DB0-3D5926B9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219" y="3724275"/>
            <a:ext cx="133500" cy="1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FF"/>
          </a:solidFill>
          <a:ln xmlns:a="http://schemas.openxmlformats.org/drawingml/2006/main" w="9525" cmpd="sng">
            <a:solidFill>
              <a:srgbClr val="2E6B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66" name="Google Shape;566;p17">
            <a:extLst xmlns:a="http://schemas.openxmlformats.org/drawingml/2006/main">
              <a:ext uri="{FF2B5EF4-FFF2-40B4-BE49-F238E27FC236}">
                <a16:creationId xmlns:a16="http://schemas.microsoft.com/office/drawing/2014/main" id="{D4D65EBB-D3E3-4F4B-BC9B-72A63FE0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253" y="3650425"/>
            <a:ext cx="696300" cy="2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5"/>
              <a:buFont typeface="Arial"/>
              <a:buNone/>
            </a:pPr>
            <a:r>
              <a:rPr sz="1525" b="0" i="0" u="none" cap="none">
                <a:solidFill>
                  <a:srgbClr val="A9B8C4"/>
                </a:solidFill>
                <a:latin typeface="Calibri"/>
                <a:ea typeface="Calibri"/>
                <a:cs typeface="Calibri"/>
              </a:rPr>
              <a:t>error</a:t>
            </a:r>
          </a:p>
        </p:txBody>
      </p:sp>
      <p:sp>
        <p:nvSpPr>
          <p:cNvPr id="567" name="Google Shape;567;p17">
            <a:extLst xmlns:a="http://schemas.openxmlformats.org/drawingml/2006/main">
              <a:ext uri="{FF2B5EF4-FFF2-40B4-BE49-F238E27FC236}">
                <a16:creationId xmlns:a16="http://schemas.microsoft.com/office/drawing/2014/main" id="{87B10435-CDB9-44F0-A27A-12EEDF33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50">
                <a:solidFill>
                  <a:srgbClr val="F5FBFF"/>
                </a:solidFill>
              </a:defRPr>
            </a:pPr>
            <a:r>
              <a:rPr sz="1050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DZ 0.05｜yaw 0.35｜pitch 0.22</a:t>
            </a:r>
          </a:p>
        </p:txBody>
      </p:sp>
      <p:sp>
        <p:nvSpPr>
          <p:cNvPr id="568" name="Google Shape;568;p17">
            <a:extLst xmlns:a="http://schemas.openxmlformats.org/drawingml/2006/main">
              <a:ext uri="{FF2B5EF4-FFF2-40B4-BE49-F238E27FC236}">
                <a16:creationId xmlns:a16="http://schemas.microsoft.com/office/drawing/2014/main" id="{1BFA8234-3BDB-4291-B381-03035A39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76" y="5086350"/>
            <a:ext cx="4572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D1B25"/>
          </a:solidFill>
          <a:ln xmlns:a="http://schemas.openxmlformats.org/drawingml/2006/main" w="10475" cmpd="sng">
            <a:solidFill>
              <a:srgbClr val="FFD44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69" name="Google Shape;569;p17">
            <a:extLst xmlns:a="http://schemas.openxmlformats.org/drawingml/2006/main">
              <a:ext uri="{FF2B5EF4-FFF2-40B4-BE49-F238E27FC236}">
                <a16:creationId xmlns:a16="http://schemas.microsoft.com/office/drawing/2014/main" id="{D21C0A7E-2046-4F9F-B9B8-6BC5705C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  <a:defRPr sz="1050">
                <a:solidFill>
                  <a:srgbClr val="FFD166"/>
                </a:solidFill>
              </a:defRPr>
            </a:pPr>
            <a:r>
              <a:rPr sz="1050" b="1" i="0" u="none" cap="none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P + FF + smoothing；不收斂／靠邊／低信心／失追 → STOP／Home。</a:t>
            </a:r>
          </a:p>
        </p:txBody>
      </p:sp>
      <p:sp>
        <p:nvSpPr>
          <p:cNvPr id="570" name="Google Shape;570;p17">
            <a:extLst xmlns:a="http://schemas.openxmlformats.org/drawingml/2006/main">
              <a:ext uri="{FF2B5EF4-FFF2-40B4-BE49-F238E27FC236}">
                <a16:creationId xmlns:a16="http://schemas.microsoft.com/office/drawing/2014/main" id="{DA48B54B-44D5-4936-9119-7518FFA9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075" y="2038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1" i="0" u="none" cap="none">
                <a:solidFill>
                  <a:srgbClr val="FF6B2B"/>
                </a:solidFill>
                <a:latin typeface="Calibri"/>
                <a:ea typeface="Calibri"/>
                <a:cs typeface="Calibri"/>
              </a:rPr>
              <a:t>2. DockKitManager</a:t>
            </a:r>
          </a:p>
        </p:txBody>
      </p:sp>
      <p:sp>
        <p:nvSpPr>
          <p:cNvPr id="571" name="Google Shape;571;p17">
            <a:extLst xmlns:a="http://schemas.openxmlformats.org/drawingml/2006/main">
              <a:ext uri="{FF2B5EF4-FFF2-40B4-BE49-F238E27FC236}">
                <a16:creationId xmlns:a16="http://schemas.microsoft.com/office/drawing/2014/main" id="{7B27F061-23A0-4ECB-9FAC-B3C6505A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075" y="2362200"/>
            <a:ext cx="447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sz="145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Manual Mode → Tracking OFF confirmed → accessory motor API</a:t>
            </a:r>
          </a:p>
        </p:txBody>
      </p:sp>
      <p:sp>
        <p:nvSpPr>
          <p:cNvPr id="572" name="Google Shape;572;p17">
            <a:extLst xmlns:a="http://schemas.openxmlformats.org/drawingml/2006/main">
              <a:ext uri="{FF2B5EF4-FFF2-40B4-BE49-F238E27FC236}">
                <a16:creationId xmlns:a16="http://schemas.microsoft.com/office/drawing/2014/main" id="{52EF6994-3C98-446C-8280-1A92695B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223" y="2838450"/>
            <a:ext cx="23814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A"/>
          </a:solidFill>
          <a:ln xmlns:a="http://schemas.openxmlformats.org/drawingml/2006/main" w="9525" cmpd="sng">
            <a:solidFill>
              <a:srgbClr val="5B68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73" name="Google Shape;573;p17">
            <a:extLst xmlns:a="http://schemas.openxmlformats.org/drawingml/2006/main">
              <a:ext uri="{FF2B5EF4-FFF2-40B4-BE49-F238E27FC236}">
                <a16:creationId xmlns:a16="http://schemas.microsoft.com/office/drawing/2014/main" id="{E8F600DD-2817-4AA6-9506-496A41DF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461" y="283845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74" name="Google Shape;574;p17">
            <a:extLst xmlns:a="http://schemas.openxmlformats.org/drawingml/2006/main">
              <a:ext uri="{FF2B5EF4-FFF2-40B4-BE49-F238E27FC236}">
                <a16:creationId xmlns:a16="http://schemas.microsoft.com/office/drawing/2014/main" id="{0A58813F-1A0F-4439-B08D-428BDC9E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698" y="283845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75" name="Google Shape;575;p17">
            <a:extLst xmlns:a="http://schemas.openxmlformats.org/drawingml/2006/main">
              <a:ext uri="{FF2B5EF4-FFF2-40B4-BE49-F238E27FC236}">
                <a16:creationId xmlns:a16="http://schemas.microsoft.com/office/drawing/2014/main" id="{A7053C06-64D9-4A64-968F-AFDCD456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7935" y="283845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76" name="Google Shape;576;p17">
            <a:extLst xmlns:a="http://schemas.openxmlformats.org/drawingml/2006/main">
              <a:ext uri="{FF2B5EF4-FFF2-40B4-BE49-F238E27FC236}">
                <a16:creationId xmlns:a16="http://schemas.microsoft.com/office/drawing/2014/main" id="{A0142333-BEDF-40C3-BBA4-9D567E4E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73" y="283845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77" name="Google Shape;577;p17">
            <a:extLst xmlns:a="http://schemas.openxmlformats.org/drawingml/2006/main">
              <a:ext uri="{FF2B5EF4-FFF2-40B4-BE49-F238E27FC236}">
                <a16:creationId xmlns:a16="http://schemas.microsoft.com/office/drawing/2014/main" id="{076DC0E3-5675-49E3-B92F-FB018BF0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223" y="3309938"/>
            <a:ext cx="23814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78" name="Google Shape;578;p17">
            <a:extLst xmlns:a="http://schemas.openxmlformats.org/drawingml/2006/main">
              <a:ext uri="{FF2B5EF4-FFF2-40B4-BE49-F238E27FC236}">
                <a16:creationId xmlns:a16="http://schemas.microsoft.com/office/drawing/2014/main" id="{678AC242-5098-4576-B1D2-99F318FD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223" y="3781425"/>
            <a:ext cx="23814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79" name="Google Shape;579;p17">
            <a:extLst xmlns:a="http://schemas.openxmlformats.org/drawingml/2006/main">
              <a:ext uri="{FF2B5EF4-FFF2-40B4-BE49-F238E27FC236}">
                <a16:creationId xmlns:a16="http://schemas.microsoft.com/office/drawing/2014/main" id="{C1028393-61E3-48EE-AABE-42802226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223" y="4252913"/>
            <a:ext cx="23814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80" name="Google Shape;580;p17">
            <a:extLst xmlns:a="http://schemas.openxmlformats.org/drawingml/2006/main">
              <a:ext uri="{FF2B5EF4-FFF2-40B4-BE49-F238E27FC236}">
                <a16:creationId xmlns:a16="http://schemas.microsoft.com/office/drawing/2014/main" id="{0A7DE7E0-70B8-4D9B-8116-DBFAA03B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371" y="3781425"/>
            <a:ext cx="342900" cy="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81" name="Google Shape;581;p17">
            <a:extLst xmlns:a="http://schemas.openxmlformats.org/drawingml/2006/main">
              <a:ext uri="{FF2B5EF4-FFF2-40B4-BE49-F238E27FC236}">
                <a16:creationId xmlns:a16="http://schemas.microsoft.com/office/drawing/2014/main" id="{BBFA9031-10DB-4248-AD36-7D1D1C03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9817" y="3609975"/>
            <a:ext cx="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82" name="Google Shape;582;p17">
            <a:extLst xmlns:a="http://schemas.openxmlformats.org/drawingml/2006/main">
              <a:ext uri="{FF2B5EF4-FFF2-40B4-BE49-F238E27FC236}">
                <a16:creationId xmlns:a16="http://schemas.microsoft.com/office/drawing/2014/main" id="{8B42F582-1929-4018-BF2B-69443A5F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282" y="3343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FF"/>
          </a:solidFill>
          <a:ln xmlns:a="http://schemas.openxmlformats.org/drawingml/2006/main" w="9525" cmpd="sng">
            <a:solidFill>
              <a:srgbClr val="2E6B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83" name="Google Shape;583;p17">
            <a:extLst xmlns:a="http://schemas.openxmlformats.org/drawingml/2006/main">
              <a:ext uri="{FF2B5EF4-FFF2-40B4-BE49-F238E27FC236}">
                <a16:creationId xmlns:a16="http://schemas.microsoft.com/office/drawing/2014/main" id="{E9ABF02E-950E-48FD-AE38-F4510ED1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289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5"/>
              <a:buFont typeface="Arial"/>
              <a:buNone/>
              <a:defRPr sz="1050">
                <a:solidFill>
                  <a:srgbClr val="A9C3D3"/>
                </a:solidFill>
              </a:defRPr>
            </a:pPr>
            <a:r>
              <a:rPr sz="1050" b="0" i="0" u="none" cap="none">
                <a:solidFill>
                  <a:srgbClr val="A9C3D3"/>
                </a:solidFill>
                <a:latin typeface="Calibri"/>
                <a:ea typeface="Calibri"/>
                <a:cs typeface="Calibri"/>
              </a:rPr>
              <a:t>Manual</a:t>
            </a:r>
          </a:p>
        </p:txBody>
      </p:sp>
      <p:sp>
        <p:nvSpPr>
          <p:cNvPr id="584" name="Google Shape;584;p17">
            <a:extLst xmlns:a="http://schemas.openxmlformats.org/drawingml/2006/main">
              <a:ext uri="{FF2B5EF4-FFF2-40B4-BE49-F238E27FC236}">
                <a16:creationId xmlns:a16="http://schemas.microsoft.com/office/drawing/2014/main" id="{C8401FA9-12A5-46A3-8FBA-AF6E9FDD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9817" y="3781425"/>
            <a:ext cx="419100" cy="2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85" name="Google Shape;585;p17">
            <a:extLst xmlns:a="http://schemas.openxmlformats.org/drawingml/2006/main">
              <a:ext uri="{FF2B5EF4-FFF2-40B4-BE49-F238E27FC236}">
                <a16:creationId xmlns:a16="http://schemas.microsoft.com/office/drawing/2014/main" id="{7DAD8692-117A-47EA-BBD7-D0FC67C1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905" y="3438525"/>
            <a:ext cx="28500" cy="3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7E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86" name="Google Shape;586;p17">
            <a:extLst xmlns:a="http://schemas.openxmlformats.org/drawingml/2006/main">
              <a:ext uri="{FF2B5EF4-FFF2-40B4-BE49-F238E27FC236}">
                <a16:creationId xmlns:a16="http://schemas.microsoft.com/office/drawing/2014/main" id="{27DD312A-D2A9-4C74-953D-A1A768A8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29050"/>
            <a:ext cx="83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050">
                <a:solidFill>
                  <a:srgbClr val="FF6B2B"/>
                </a:solidFill>
              </a:defRPr>
            </a:pPr>
            <a:r>
              <a:rPr sz="1050" b="0" i="0" u="none" cap="none">
                <a:solidFill>
                  <a:srgbClr val="FF6B2B"/>
                </a:solidFill>
                <a:latin typeface="Calibri"/>
                <a:ea typeface="Calibri"/>
                <a:cs typeface="Calibri"/>
              </a:rPr>
              <a:t>Tracking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050">
                <a:solidFill>
                  <a:srgbClr val="FF6B2B"/>
                </a:solidFill>
              </a:defRPr>
            </a:pPr>
            <a:r>
              <a:rPr sz="1050" b="0" i="0" u="none" cap="none">
                <a:solidFill>
                  <a:srgbClr val="FF6B2B"/>
                </a:solidFill>
                <a:latin typeface="Calibri"/>
                <a:ea typeface="Calibri"/>
                <a:cs typeface="Calibri"/>
              </a:rPr>
              <a:t>OFF</a:t>
            </a:r>
          </a:p>
        </p:txBody>
      </p:sp>
      <p:sp>
        <p:nvSpPr>
          <p:cNvPr id="587" name="Google Shape;587;p17">
            <a:extLst xmlns:a="http://schemas.openxmlformats.org/drawingml/2006/main">
              <a:ext uri="{FF2B5EF4-FFF2-40B4-BE49-F238E27FC236}">
                <a16:creationId xmlns:a16="http://schemas.microsoft.com/office/drawing/2014/main" id="{AC94FE61-BBEE-4A78-99CB-6840E8D7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76625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050">
                <a:solidFill>
                  <a:srgbClr val="22D3DF"/>
                </a:solidFill>
              </a:defRPr>
            </a:pPr>
            <a:r>
              <a:rPr sz="1050" b="0" i="0" u="none" cap="none">
                <a:solidFill>
                  <a:srgbClr val="22D3DF"/>
                </a:solidFill>
                <a:latin typeface="Calibri"/>
                <a:ea typeface="Calibri"/>
                <a:cs typeface="Calibri"/>
              </a:rPr>
              <a:t>DockKit</a:t>
            </a:r>
          </a:p>
        </p:txBody>
      </p:sp>
      <p:sp>
        <p:nvSpPr>
          <p:cNvPr id="588" name="Google Shape;588;p17">
            <a:extLst xmlns:a="http://schemas.openxmlformats.org/drawingml/2006/main">
              <a:ext uri="{FF2B5EF4-FFF2-40B4-BE49-F238E27FC236}">
                <a16:creationId xmlns:a16="http://schemas.microsoft.com/office/drawing/2014/main" id="{BD0AD11E-1046-441E-B104-9F3523DB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268" y="3562350"/>
            <a:ext cx="2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sz="2250" b="1" i="0" u="none" cap="none">
                <a:solidFill>
                  <a:srgbClr val="A9B8C4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89" name="Google Shape;589;p17">
            <a:extLst xmlns:a="http://schemas.openxmlformats.org/drawingml/2006/main">
              <a:ext uri="{FF2B5EF4-FFF2-40B4-BE49-F238E27FC236}">
                <a16:creationId xmlns:a16="http://schemas.microsoft.com/office/drawing/2014/main" id="{0F813CED-EE32-4186-92F6-63EBA000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800" y="2857449"/>
            <a:ext cx="1886100" cy="7737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D1B25"/>
          </a:solidFill>
          <a:ln xmlns:a="http://schemas.openxmlformats.org/drawingml/2006/main" w="14500" cmpd="sng">
            <a:solidFill>
              <a:srgbClr val="FF6B2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16050" tIns="116050" rIns="116050" bIns="1160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90" name="Google Shape;590;p17">
            <a:extLst xmlns:a="http://schemas.openxmlformats.org/drawingml/2006/main">
              <a:ext uri="{FF2B5EF4-FFF2-40B4-BE49-F238E27FC236}">
                <a16:creationId xmlns:a16="http://schemas.microsoft.com/office/drawing/2014/main" id="{F8CC8763-244E-40FB-8296-6D5C0BC6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003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6050" tIns="58025" rIns="116050" bIns="58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9"/>
              <a:buFont typeface="Arial"/>
              <a:buNone/>
              <a:defRPr sz="1275" b="1">
                <a:solidFill>
                  <a:srgbClr val="FF6B2B"/>
                </a:solidFill>
              </a:defRPr>
            </a:pPr>
            <a:r>
              <a:rPr sz="1275" b="1" i="0" u="none" cap="none">
                <a:solidFill>
                  <a:srgbClr val="FF6B2B"/>
                </a:solidFill>
                <a:latin typeface="Calibri"/>
                <a:ea typeface="Calibri"/>
                <a:cs typeface="Calibri"/>
              </a:rPr>
              <a:t>Angular</a:t>
            </a:r>
          </a:p>
        </p:txBody>
      </p:sp>
      <p:sp>
        <p:nvSpPr>
          <p:cNvPr id="591" name="Google Shape;591;p17">
            <a:extLst xmlns:a="http://schemas.openxmlformats.org/drawingml/2006/main">
              <a:ext uri="{FF2B5EF4-FFF2-40B4-BE49-F238E27FC236}">
                <a16:creationId xmlns:a16="http://schemas.microsoft.com/office/drawing/2014/main" id="{8FF2DE2E-4B49-4ACB-92E1-81E5DE1B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337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6050" tIns="58025" rIns="116050" bIns="58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  <a:defRPr sz="1050">
                <a:solidFill>
                  <a:srgbClr val="F5FBFF"/>
                </a:solidFill>
              </a:defRPr>
            </a:pPr>
            <a:r>
              <a:rPr sz="1050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velocity API</a:t>
            </a:r>
          </a:p>
        </p:txBody>
      </p:sp>
      <p:sp>
        <p:nvSpPr>
          <p:cNvPr id="592" name="Google Shape;592;p17">
            <a:extLst xmlns:a="http://schemas.openxmlformats.org/drawingml/2006/main">
              <a:ext uri="{FF2B5EF4-FFF2-40B4-BE49-F238E27FC236}">
                <a16:creationId xmlns:a16="http://schemas.microsoft.com/office/drawing/2014/main" id="{63DC5581-B1D7-496F-97C1-3A9B2120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800" y="3969773"/>
            <a:ext cx="1886100" cy="7737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D1B25"/>
          </a:solidFill>
          <a:ln xmlns:a="http://schemas.openxmlformats.org/drawingml/2006/main" w="14500" cmpd="sng">
            <a:solidFill>
              <a:srgbClr val="00D7E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16050" tIns="116050" rIns="116050" bIns="1160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7"/>
              <a:buFont typeface="Arial"/>
              <a:buNone/>
            </a:pPr>
            <a:r>
              <a:t/>
            </a:r>
          </a:p>
        </p:txBody>
      </p:sp>
      <p:sp>
        <p:nvSpPr>
          <p:cNvPr id="593" name="Google Shape;593;p17">
            <a:extLst xmlns:a="http://schemas.openxmlformats.org/drawingml/2006/main">
              <a:ext uri="{FF2B5EF4-FFF2-40B4-BE49-F238E27FC236}">
                <a16:creationId xmlns:a16="http://schemas.microsoft.com/office/drawing/2014/main" id="{D9BAB235-BD8A-4255-8FE1-8A414C83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3385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6050" tIns="58025" rIns="116050" bIns="58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9"/>
              <a:buFont typeface="Arial"/>
              <a:buNone/>
              <a:defRPr sz="1275" b="1">
                <a:solidFill>
                  <a:srgbClr val="22D3DF"/>
                </a:solidFill>
              </a:defRPr>
            </a:pPr>
            <a:r>
              <a:rPr sz="1275" b="1" i="0" u="none" cap="none">
                <a:solidFill>
                  <a:srgbClr val="22D3DF"/>
                </a:solidFill>
                <a:latin typeface="Calibri"/>
                <a:ea typeface="Calibri"/>
                <a:cs typeface="Calibri"/>
              </a:rPr>
              <a:t>Relative</a:t>
            </a:r>
          </a:p>
        </p:txBody>
      </p:sp>
      <p:sp>
        <p:nvSpPr>
          <p:cNvPr id="594" name="Google Shape;594;p17">
            <a:extLst xmlns:a="http://schemas.openxmlformats.org/drawingml/2006/main">
              <a:ext uri="{FF2B5EF4-FFF2-40B4-BE49-F238E27FC236}">
                <a16:creationId xmlns:a16="http://schemas.microsoft.com/office/drawing/2014/main" id="{1D094336-C4C1-47BF-BFB3-5C8D218E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386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6050" tIns="58025" rIns="116050" bIns="58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  <a:defRPr sz="975">
                <a:solidFill>
                  <a:srgbClr val="F5FBFF"/>
                </a:solidFill>
              </a:defRPr>
            </a:pPr>
            <a:r>
              <a:rPr sz="975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orientation fallback</a:t>
            </a:r>
          </a:p>
        </p:txBody>
      </p:sp>
      <p:sp>
        <p:nvSpPr>
          <p:cNvPr id="595" name="Google Shape;595;p17">
            <a:extLst xmlns:a="http://schemas.openxmlformats.org/drawingml/2006/main">
              <a:ext uri="{FF2B5EF4-FFF2-40B4-BE49-F238E27FC236}">
                <a16:creationId xmlns:a16="http://schemas.microsoft.com/office/drawing/2014/main" id="{F7F1578B-AB1E-4C8A-8F4A-7439C254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775" y="5162550"/>
            <a:ext cx="1047900" cy="1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sz="1050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yaw / pitch / roll</a:t>
            </a:r>
          </a:p>
        </p:txBody>
      </p:sp>
      <p:sp>
        <p:nvSpPr>
          <p:cNvPr id="596" name="Google Shape;596;p17">
            <a:extLst xmlns:a="http://schemas.openxmlformats.org/drawingml/2006/main">
              <a:ext uri="{FF2B5EF4-FFF2-40B4-BE49-F238E27FC236}">
                <a16:creationId xmlns:a16="http://schemas.microsoft.com/office/drawing/2014/main" id="{53D00790-433D-438D-B162-39BE33B6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322" y="5086350"/>
            <a:ext cx="4572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D1B25"/>
          </a:solidFill>
          <a:ln xmlns:a="http://schemas.openxmlformats.org/drawingml/2006/main" w="10475" cmpd="sng">
            <a:solidFill>
              <a:srgbClr val="FF6B2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97" name="Google Shape;597;p17">
            <a:extLst xmlns:a="http://schemas.openxmlformats.org/drawingml/2006/main">
              <a:ext uri="{FF2B5EF4-FFF2-40B4-BE49-F238E27FC236}">
                <a16:creationId xmlns:a16="http://schemas.microsoft.com/office/drawing/2014/main" id="{DDBE0927-15E4-428B-BF3B-E109A3AB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482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5"/>
              <a:buFont typeface="Arial"/>
              <a:buNone/>
              <a:defRPr sz="1125">
                <a:solidFill>
                  <a:srgbClr val="FFD166"/>
                </a:solidFill>
              </a:defRPr>
            </a:pPr>
            <a:r>
              <a:rPr sz="1125" b="1" i="0" u="none" cap="none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STOP／Recenter／Set Home／Return Home／Capability Diagnostics</a:t>
            </a:r>
          </a:p>
        </p:txBody>
      </p:sp>
      <p:sp>
        <p:nvSpPr>
          <p:cNvPr id="598" name="Google Shape;598;p17">
            <a:extLst xmlns:a="http://schemas.openxmlformats.org/drawingml/2006/main">
              <a:ext uri="{FF2B5EF4-FFF2-40B4-BE49-F238E27FC236}">
                <a16:creationId xmlns:a16="http://schemas.microsoft.com/office/drawing/2014/main" id="{A843F26D-D376-4B39-B4BB-176BCEB0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687" y="6153150"/>
            <a:ext cx="7086300" cy="3621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D1B25"/>
          </a:solidFill>
          <a:ln xmlns:a="http://schemas.openxmlformats.org/drawingml/2006/main" w="10475" cmpd="sng">
            <a:solidFill>
              <a:srgbClr val="FF6B2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99" name="Google Shape;599;p17">
            <a:extLst xmlns:a="http://schemas.openxmlformats.org/drawingml/2006/main">
              <a:ext uri="{FF2B5EF4-FFF2-40B4-BE49-F238E27FC236}">
                <a16:creationId xmlns:a16="http://schemas.microsoft.com/office/drawing/2014/main" id="{7ABBA82D-2421-4365-8C0E-BCCA99FB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115050"/>
            <a:ext cx="979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5"/>
              <a:buFont typeface="Arial"/>
              <a:buNone/>
              <a:defRPr sz="1050">
                <a:solidFill>
                  <a:srgbClr val="F5FBFF"/>
                </a:solidFill>
              </a:defRPr>
            </a:pPr>
            <a:r>
              <a:rPr sz="1050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System Tracking 必須關閉；背景、undock、500 ms timeout、倒序／無效 JSON 立即 STOP。Return Home 後等 5 個 stable lock frame 才恢復。</a:t>
            </a:r>
          </a:p>
        </p:txBody>
      </p:sp>
      <p:pic>
        <p:nvPicPr>
          <p:cNvPr id="661" name="Google Shape;600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893b0f526e473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48978" y="2770121"/>
            <a:ext cx="2056925" cy="213691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8109484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9" name="Google Shape;249;p8">
            <a:extLst xmlns:a="http://schemas.openxmlformats.org/drawingml/2006/main">
              <a:ext uri="{FF2B5EF4-FFF2-40B4-BE49-F238E27FC236}">
                <a16:creationId xmlns:a16="http://schemas.microsoft.com/office/drawing/2014/main" id="{14364BF0-3F85-4967-9272-551A181F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50" name="Google Shape;250;p8">
            <a:extLst xmlns:a="http://schemas.openxmlformats.org/drawingml/2006/main">
              <a:ext uri="{FF2B5EF4-FFF2-40B4-BE49-F238E27FC236}">
                <a16:creationId xmlns:a16="http://schemas.microsoft.com/office/drawing/2014/main" id="{418BB72D-4A49-4DA4-BB4E-A028B82C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51" name="Google Shape;251;p8">
            <a:extLst xmlns:a="http://schemas.openxmlformats.org/drawingml/2006/main">
              <a:ext uri="{FF2B5EF4-FFF2-40B4-BE49-F238E27FC236}">
                <a16:creationId xmlns:a16="http://schemas.microsoft.com/office/drawing/2014/main" id="{A2FEBF2C-9C0F-4AA1-BD69-17632C39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52" name="Google Shape;252;p8">
            <a:extLst xmlns:a="http://schemas.openxmlformats.org/drawingml/2006/main">
              <a:ext uri="{FF2B5EF4-FFF2-40B4-BE49-F238E27FC236}">
                <a16:creationId xmlns:a16="http://schemas.microsoft.com/office/drawing/2014/main" id="{4459826A-1A6A-43BC-AC0A-A7D4A756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53" name="Google Shape;253;p8">
            <a:extLst xmlns:a="http://schemas.openxmlformats.org/drawingml/2006/main">
              <a:ext uri="{FF2B5EF4-FFF2-40B4-BE49-F238E27FC236}">
                <a16:creationId xmlns:a16="http://schemas.microsoft.com/office/drawing/2014/main" id="{3CB0FD4B-6D5B-4A5A-968B-422E6AFD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54" name="Google Shape;254;p8">
            <a:extLst xmlns:a="http://schemas.openxmlformats.org/drawingml/2006/main">
              <a:ext uri="{FF2B5EF4-FFF2-40B4-BE49-F238E27FC236}">
                <a16:creationId xmlns:a16="http://schemas.microsoft.com/office/drawing/2014/main" id="{198CE409-2F2A-4713-83B4-F5560ABC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12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07 KEY PROBLEM</a:t>
            </a:r>
          </a:p>
        </p:txBody>
      </p:sp>
      <p:sp>
        <p:nvSpPr>
          <p:cNvPr id="255" name="Google Shape;255;p8">
            <a:extLst xmlns:a="http://schemas.openxmlformats.org/drawingml/2006/main">
              <a:ext uri="{FF2B5EF4-FFF2-40B4-BE49-F238E27FC236}">
                <a16:creationId xmlns:a16="http://schemas.microsoft.com/office/drawing/2014/main" id="{0C0CA1CB-EC48-412E-B5AB-95E314B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2600"/>
              <a:buFont typeface="Microsoft JhengHei"/>
              <a:buNone/>
            </a:pPr>
            <a:r>
              <a:rPr sz="228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核心困難：偵測得到車，不代表長期認得同一台車</a:t>
            </a:r>
          </a:p>
        </p:txBody>
      </p:sp>
      <p:sp>
        <p:nvSpPr>
          <p:cNvPr id="256" name="Google Shape;256;p8">
            <a:extLst xmlns:a="http://schemas.openxmlformats.org/drawingml/2006/main">
              <a:ext uri="{FF2B5EF4-FFF2-40B4-BE49-F238E27FC236}">
                <a16:creationId xmlns:a16="http://schemas.microsoft.com/office/drawing/2014/main" id="{8EE5B8F1-C1B6-43B7-BA13-61B05963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4983480" cy="43891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5225" cmpd="sng">
            <a:solidFill>
              <a:srgbClr val="FF386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57" name="Google Shape;257;p8">
            <a:extLst xmlns:a="http://schemas.openxmlformats.org/drawingml/2006/main">
              <a:ext uri="{FF2B5EF4-FFF2-40B4-BE49-F238E27FC236}">
                <a16:creationId xmlns:a16="http://schemas.microsoft.com/office/drawing/2014/main" id="{F39EED2E-E196-4C60-BD75-A3A435BA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780" y="1627632"/>
            <a:ext cx="43890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700"/>
              <a:buFont typeface="Microsoft JhengHei"/>
              <a:buNone/>
            </a:pPr>
            <a:r>
              <a:rPr sz="17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只有 Detector / Tracker 時</a:t>
            </a:r>
          </a:p>
        </p:txBody>
      </p:sp>
      <p:sp>
        <p:nvSpPr>
          <p:cNvPr id="258" name="Google Shape;258;p8">
            <a:extLst xmlns:a="http://schemas.openxmlformats.org/drawingml/2006/main">
              <a:ext uri="{FF2B5EF4-FFF2-40B4-BE49-F238E27FC236}">
                <a16:creationId xmlns:a16="http://schemas.microsoft.com/office/drawing/2014/main" id="{45B28E5D-CCAD-4114-B8E5-542455DA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00" y="2029419"/>
            <a:ext cx="4251900" cy="96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75" tIns="375" rIns="375" bIns="375" anchor="t">
            <a:normAutofit/>
          </a:bodyPr>
          <a:lstStyle xmlns:a="http://schemas.openxmlformats.org/drawingml/2006/main"/>
          <a:p xmlns:a="http://schemas.openxmlformats.org/drawingml/2006/main">
            <a:pPr marL="457200" marR="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500"/>
              <a:buFont typeface="Microsoft JhengHei"/>
              <a:buChar char="●"/>
            </a:pPr>
            <a:r>
              <a:rPr sz="1369" b="0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知道畫面中有車與 bbox 位置</a:t>
            </a:r>
          </a:p>
          <a:p xmlns:a="http://schemas.openxmlformats.org/drawingml/2006/main">
            <a:pPr marL="457200" marR="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500"/>
              <a:buFont typeface="Microsoft JhengHei"/>
              <a:buChar char="●"/>
            </a:pPr>
            <a:r>
              <a:rPr sz="1369" b="0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產生當前片段的短期 LID</a:t>
            </a:r>
          </a:p>
          <a:p xmlns:a="http://schemas.openxmlformats.org/drawingml/2006/main">
            <a:pPr marL="457200" marR="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500"/>
              <a:buFont typeface="Microsoft JhengHei"/>
              <a:buChar char="●"/>
            </a:pPr>
            <a:r>
              <a:rPr sz="1369" b="0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能維持連續幀內的 track continuity</a:t>
            </a:r>
          </a:p>
          <a:p xmlns:a="http://schemas.openxmlformats.org/drawingml/2006/main">
            <a:pPr marL="457200" marR="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500"/>
              <a:buFont typeface="Microsoft JhengHei"/>
              <a:buChar char="●"/>
            </a:pPr>
            <a:r>
              <a:rPr sz="1369" b="0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但離框、遮擋或切鏡後，LID 仍可能改變</a:t>
            </a:r>
          </a:p>
        </p:txBody>
      </p:sp>
      <p:sp>
        <p:nvSpPr>
          <p:cNvPr id="259" name="Google Shape;259;p8">
            <a:extLst xmlns:a="http://schemas.openxmlformats.org/drawingml/2006/main">
              <a:ext uri="{FF2B5EF4-FFF2-40B4-BE49-F238E27FC236}">
                <a16:creationId xmlns:a16="http://schemas.microsoft.com/office/drawing/2014/main" id="{6688CB22-E2CD-4811-96CC-007DE8B8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25880"/>
            <a:ext cx="4983480" cy="438912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5225" cmpd="sng">
            <a:solidFill>
              <a:srgbClr val="4CE08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60" name="Google Shape;260;p8">
            <a:extLst xmlns:a="http://schemas.openxmlformats.org/drawingml/2006/main">
              <a:ext uri="{FF2B5EF4-FFF2-40B4-BE49-F238E27FC236}">
                <a16:creationId xmlns:a16="http://schemas.microsoft.com/office/drawing/2014/main" id="{CABEFEF0-0AAD-4673-9CAB-19D07829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865" y="1627632"/>
            <a:ext cx="43890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700"/>
              <a:buFont typeface="Microsoft JhengHei"/>
              <a:buNone/>
            </a:pPr>
            <a:r>
              <a:rPr sz="17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加入 GID / ReID Identity Pipeline 後</a:t>
            </a:r>
          </a:p>
        </p:txBody>
      </p:sp>
      <p:sp>
        <p:nvSpPr>
          <p:cNvPr id="261" name="Google Shape;261;p8">
            <a:extLst xmlns:a="http://schemas.openxmlformats.org/drawingml/2006/main">
              <a:ext uri="{FF2B5EF4-FFF2-40B4-BE49-F238E27FC236}">
                <a16:creationId xmlns:a16="http://schemas.microsoft.com/office/drawing/2014/main" id="{3EBD9727-DC59-4F5D-AE76-FD19992C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575" y="2029425"/>
            <a:ext cx="4576200" cy="96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75" tIns="375" rIns="375" bIns="375" anchor="t">
            <a:normAutofit/>
          </a:bodyPr>
          <a:lstStyle xmlns:a="http://schemas.openxmlformats.org/drawingml/2006/main"/>
          <a:p xmlns:a="http://schemas.openxmlformats.org/drawingml/2006/main">
            <a:pPr marL="457200" marR="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500"/>
              <a:buFont typeface="Microsoft JhengHei"/>
              <a:buChar char="●"/>
            </a:pPr>
            <a:r>
              <a:rPr sz="1095" b="0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把選定車輛保存成長期 GID</a:t>
            </a:r>
          </a:p>
          <a:p xmlns:a="http://schemas.openxmlformats.org/drawingml/2006/main">
            <a:pPr marL="457200" marR="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500"/>
              <a:buFont typeface="Microsoft JhengHei"/>
              <a:buChar char="●"/>
            </a:pPr>
            <a:r>
              <a:rPr sz="1095" b="0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Feature Gallery 保存高品質身份特徵</a:t>
            </a:r>
          </a:p>
          <a:p xmlns:a="http://schemas.openxmlformats.org/drawingml/2006/main">
            <a:pPr marL="457200" marR="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500"/>
              <a:buFont typeface="Microsoft JhengHei"/>
              <a:buChar char="●"/>
            </a:pPr>
            <a:r>
              <a:rPr sz="1095" b="0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短失追先 coasting，之後可 search / reacquire</a:t>
            </a:r>
          </a:p>
          <a:p xmlns:a="http://schemas.openxmlformats.org/drawingml/2006/main">
            <a:pPr marL="457200" marR="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500"/>
              <a:buFont typeface="Microsoft JhengHei"/>
              <a:buChar char="●"/>
            </a:pPr>
            <a:r>
              <a:rPr sz="1095" b="0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SQLite 保存 metadata 與 feature provenance</a:t>
            </a:r>
          </a:p>
          <a:p xmlns:a="http://schemas.openxmlformats.org/drawingml/2006/main">
            <a:pPr marL="457200" marR="0" lvl="0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500"/>
              <a:buFont typeface="Microsoft JhengHei"/>
              <a:buChar char="●"/>
            </a:pPr>
            <a:r>
              <a:rPr sz="1095" b="0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追蹤的是指定身份，而不只是當下 bbox</a:t>
            </a:r>
          </a:p>
        </p:txBody>
      </p:sp>
      <p:sp>
        <p:nvSpPr>
          <p:cNvPr id="262" name="Google Shape;262;p8">
            <a:extLst xmlns:a="http://schemas.openxmlformats.org/drawingml/2006/main">
              <a:ext uri="{FF2B5EF4-FFF2-40B4-BE49-F238E27FC236}">
                <a16:creationId xmlns:a16="http://schemas.microsoft.com/office/drawing/2014/main" id="{E0ED4979-556A-4001-B653-F849426C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99" y="6050601"/>
            <a:ext cx="8165700" cy="367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4D00">
              <a:alpha val="92157"/>
            </a:srgbClr>
          </a:solidFill>
          <a:ln xmlns:a="http://schemas.openxmlformats.org/drawingml/2006/main" w="15975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15000" tIns="115000" rIns="115000" bIns="1150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63" name="Google Shape;263;p8">
            <a:extLst xmlns:a="http://schemas.openxmlformats.org/drawingml/2006/main">
              <a:ext uri="{FF2B5EF4-FFF2-40B4-BE49-F238E27FC236}">
                <a16:creationId xmlns:a16="http://schemas.microsoft.com/office/drawing/2014/main" id="{924E7004-03B2-48DE-B33E-73E03B1C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93" y="6142406"/>
            <a:ext cx="7981500" cy="1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5000" tIns="57475" rIns="115000" bIns="574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12"/>
              <a:buFont typeface="Microsoft JhengHei"/>
              <a:buNone/>
            </a:pPr>
            <a:r>
              <a:rPr sz="1913" b="1" i="0" u="none" cap="non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Detector 找候選；GID / ReID 身份層才負責長期認車與找回</a:t>
            </a:r>
          </a:p>
        </p:txBody>
      </p:sp>
      <p:sp>
        <p:nvSpPr>
          <p:cNvPr id="264" name="Google Shape;264;p8">
            <a:extLst xmlns:a="http://schemas.openxmlformats.org/drawingml/2006/main">
              <a:ext uri="{FF2B5EF4-FFF2-40B4-BE49-F238E27FC236}">
                <a16:creationId xmlns:a16="http://schemas.microsoft.com/office/drawing/2014/main" id="{93406D51-CE5A-44D3-9ED8-60F372850E7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pic>
        <p:nvPicPr>
          <p:cNvPr id="283" name="Google Shape;265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81b22d5d94e45f6">
            <a:alphaModFix/>
          </a:blip>
          <a:srcRect xmlns:a="http://schemas.openxmlformats.org/drawingml/2006/main" l="17454" t="20851" r="14607" b="16645"/>
          <a:stretch xmlns:a="http://schemas.openxmlformats.org/drawingml/2006/main"/>
        </p:blipFill>
        <p:spPr>
          <a:xfrm xmlns:a="http://schemas.openxmlformats.org/drawingml/2006/main">
            <a:off x="1166638" y="3223550"/>
            <a:ext cx="4027624" cy="2055300"/>
          </a:xfrm>
          <a:prstGeom xmlns:a="http://schemas.openxmlformats.org/drawingml/2006/main" prst="rect">
            <a:avLst/>
          </a:prstGeom>
          <a:ln xmlns:a="http://schemas.openxmlformats.org/drawingml/2006/main" w="15225" cap="flat" cmpd="sng">
            <a:solidFill>
              <a:srgbClr val="FF3860"/>
            </a:solidFill>
            <a:prstDash val="solid"/>
            <a:round/>
          </a:ln>
        </p:spPr>
      </p:pic>
      <p:pic>
        <p:nvPicPr>
          <p:cNvPr id="284" name="Google Shape;266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65096083b6c4c73">
            <a:alphaModFix/>
          </a:blip>
          <a:srcRect xmlns:a="http://schemas.openxmlformats.org/drawingml/2006/main" l="8301" t="11224" r="8108" b="10011"/>
          <a:stretch xmlns:a="http://schemas.openxmlformats.org/drawingml/2006/main"/>
        </p:blipFill>
        <p:spPr>
          <a:xfrm xmlns:a="http://schemas.openxmlformats.org/drawingml/2006/main">
            <a:off x="6842563" y="3223550"/>
            <a:ext cx="4027624" cy="2120201"/>
          </a:xfrm>
          <a:prstGeom xmlns:a="http://schemas.openxmlformats.org/drawingml/2006/main" prst="rect">
            <a:avLst/>
          </a:prstGeom>
          <a:ln xmlns:a="http://schemas.openxmlformats.org/drawingml/2006/main" w="15225" cap="flat" cmpd="sng">
            <a:solidFill>
              <a:srgbClr val="4CE08A"/>
            </a:solidFill>
            <a:prstDash val="solid"/>
            <a:round/>
          </a:ln>
        </p:spPr>
      </p:pic>
    </p:spTree>
    <p:extLst>
      <p:ext uri="{BB962C8B-B14F-4D97-AF65-F5344CB8AC3E}">
        <p14:creationId xmlns:p14="http://schemas.microsoft.com/office/powerpoint/2010/main" val="5134348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2" name="Google Shape;272;p9">
            <a:extLst xmlns:a="http://schemas.openxmlformats.org/drawingml/2006/main">
              <a:ext uri="{FF2B5EF4-FFF2-40B4-BE49-F238E27FC236}">
                <a16:creationId xmlns:a16="http://schemas.microsoft.com/office/drawing/2014/main" id="{2DE29816-9E2F-41DF-BDC4-4595DF1B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73" name="Google Shape;273;p9">
            <a:extLst xmlns:a="http://schemas.openxmlformats.org/drawingml/2006/main">
              <a:ext uri="{FF2B5EF4-FFF2-40B4-BE49-F238E27FC236}">
                <a16:creationId xmlns:a16="http://schemas.microsoft.com/office/drawing/2014/main" id="{61F9F6E2-286D-43BB-A6C2-C8663B7D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74" name="Google Shape;274;p9">
            <a:extLst xmlns:a="http://schemas.openxmlformats.org/drawingml/2006/main">
              <a:ext uri="{FF2B5EF4-FFF2-40B4-BE49-F238E27FC236}">
                <a16:creationId xmlns:a16="http://schemas.microsoft.com/office/drawing/2014/main" id="{3AEC80E8-5BDC-4462-A754-D55F953D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75" name="Google Shape;275;p9">
            <a:extLst xmlns:a="http://schemas.openxmlformats.org/drawingml/2006/main">
              <a:ext uri="{FF2B5EF4-FFF2-40B4-BE49-F238E27FC236}">
                <a16:creationId xmlns:a16="http://schemas.microsoft.com/office/drawing/2014/main" id="{DD0764CC-4291-4336-9F4C-53BEBE2B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76" name="Google Shape;276;p9">
            <a:extLst xmlns:a="http://schemas.openxmlformats.org/drawingml/2006/main">
              <a:ext uri="{FF2B5EF4-FFF2-40B4-BE49-F238E27FC236}">
                <a16:creationId xmlns:a16="http://schemas.microsoft.com/office/drawing/2014/main" id="{F22CA9A2-B095-4FFA-BF60-049EC485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77" name="Google Shape;277;p9">
            <a:extLst xmlns:a="http://schemas.openxmlformats.org/drawingml/2006/main">
              <a:ext uri="{FF2B5EF4-FFF2-40B4-BE49-F238E27FC236}">
                <a16:creationId xmlns:a16="http://schemas.microsoft.com/office/drawing/2014/main" id="{5B2CB3E2-2F86-4E08-983D-9581B5E3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12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08 IDENTITY DATABASE</a:t>
            </a:r>
          </a:p>
        </p:txBody>
      </p:sp>
      <p:sp>
        <p:nvSpPr>
          <p:cNvPr id="278" name="Google Shape;278;p9">
            <a:extLst xmlns:a="http://schemas.openxmlformats.org/drawingml/2006/main">
              <a:ext uri="{FF2B5EF4-FFF2-40B4-BE49-F238E27FC236}">
                <a16:creationId xmlns:a16="http://schemas.microsoft.com/office/drawing/2014/main" id="{240E4D3E-D0A7-468C-9D13-C255CAEC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2600"/>
              <a:buFont typeface="Microsoft JhengHei"/>
              <a:buNone/>
            </a:pPr>
            <a:r>
              <a:rPr sz="228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解法：以 GID + Feature Gallery 建立長期身份</a:t>
            </a:r>
          </a:p>
        </p:txBody>
      </p:sp>
      <p:sp>
        <p:nvSpPr>
          <p:cNvPr id="279" name="Google Shape;279;p9">
            <a:extLst xmlns:a="http://schemas.openxmlformats.org/drawingml/2006/main">
              <a:ext uri="{FF2B5EF4-FFF2-40B4-BE49-F238E27FC236}">
                <a16:creationId xmlns:a16="http://schemas.microsoft.com/office/drawing/2014/main" id="{F72214FD-BFB2-4749-B23D-2C21EA56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39075"/>
            <a:ext cx="2240400" cy="123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13950" cmpd="sng">
            <a:solidFill>
              <a:srgbClr val="00FF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80" name="Google Shape;280;p9">
            <a:extLst xmlns:a="http://schemas.openxmlformats.org/drawingml/2006/main">
              <a:ext uri="{FF2B5EF4-FFF2-40B4-BE49-F238E27FC236}">
                <a16:creationId xmlns:a16="http://schemas.microsoft.com/office/drawing/2014/main" id="{C705B03E-49DC-4710-9234-BB610D55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3667"/>
            <a:ext cx="19659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800"/>
              <a:buFont typeface="Microsoft JhengHei"/>
              <a:buNone/>
            </a:pPr>
            <a:r>
              <a:rPr sz="18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點選車輛 </a:t>
            </a:r>
            <a:r>
              <a:rPr sz="1800" b="1" i="0" u="sng" cap="none">
                <a:solidFill>
                  <a:srgbClr val="4CE08A"/>
                </a:solidFill>
                <a:latin typeface="Microsoft JhengHei"/>
                <a:ea typeface="Microsoft JhengHei"/>
                <a:cs typeface="Microsoft JhengHei"/>
              </a:rPr>
              <a:t>bbox</a:t>
            </a:r>
          </a:p>
        </p:txBody>
      </p:sp>
      <p:sp>
        <p:nvSpPr>
          <p:cNvPr id="281" name="Google Shape;281;p9">
            <a:extLst xmlns:a="http://schemas.openxmlformats.org/drawingml/2006/main">
              <a:ext uri="{FF2B5EF4-FFF2-40B4-BE49-F238E27FC236}">
                <a16:creationId xmlns:a16="http://schemas.microsoft.com/office/drawing/2014/main" id="{BEEA4067-DBC9-486E-BA5B-730C6F99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00" y="2226675"/>
            <a:ext cx="21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320"/>
              <a:buFont typeface="Microsoft JhengHei"/>
              <a:buNone/>
            </a:pPr>
            <a:r>
              <a:rPr sz="152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使用者選定要追蹤的車</a:t>
            </a:r>
          </a:p>
        </p:txBody>
      </p:sp>
      <p:cxnSp>
        <p:nvCxnSpPr>
          <p:cNvPr id="385" name="Google Shape;282;p9"/>
          <p:cNvCxnSpPr/>
          <p:nvPr/>
        </p:nvCxnSpPr>
        <p:spPr>
          <a:xfrm xmlns:a="http://schemas.openxmlformats.org/drawingml/2006/main">
            <a:off x="3035808" y="2260867"/>
            <a:ext cx="57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12D6D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3" name="Google Shape;283;p9">
            <a:extLst xmlns:a="http://schemas.openxmlformats.org/drawingml/2006/main">
              <a:ext uri="{FF2B5EF4-FFF2-40B4-BE49-F238E27FC236}">
                <a16:creationId xmlns:a16="http://schemas.microsoft.com/office/drawing/2014/main" id="{AC0DAB5B-428A-4C20-A5AE-FF5C7C08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1639075"/>
            <a:ext cx="2240400" cy="123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13950" cmpd="sng">
            <a:solidFill>
              <a:srgbClr val="12D6D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84" name="Google Shape;284;p9">
            <a:extLst xmlns:a="http://schemas.openxmlformats.org/drawingml/2006/main">
              <a:ext uri="{FF2B5EF4-FFF2-40B4-BE49-F238E27FC236}">
                <a16:creationId xmlns:a16="http://schemas.microsoft.com/office/drawing/2014/main" id="{26BB67B8-AEFE-4627-A3BC-A9CC80B5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263" y="1772477"/>
            <a:ext cx="25185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600"/>
              <a:buFont typeface="Microsoft JhengHei"/>
              <a:buNone/>
            </a:pPr>
            <a:r>
              <a:rPr sz="16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建立 GID 與身份 metadata</a:t>
            </a:r>
          </a:p>
        </p:txBody>
      </p:sp>
      <p:sp>
        <p:nvSpPr>
          <p:cNvPr id="285" name="Google Shape;285;p9">
            <a:extLst xmlns:a="http://schemas.openxmlformats.org/drawingml/2006/main">
              <a:ext uri="{FF2B5EF4-FFF2-40B4-BE49-F238E27FC236}">
                <a16:creationId xmlns:a16="http://schemas.microsoft.com/office/drawing/2014/main" id="{A4256619-A8A8-4FEB-98E9-EF91DFB1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325" y="2226650"/>
            <a:ext cx="201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320"/>
              <a:buFont typeface="Microsoft JhengHei"/>
              <a:buNone/>
            </a:pPr>
            <a:r>
              <a:rPr sz="120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SQLite 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320"/>
              <a:buFont typeface="Microsoft JhengHei"/>
              <a:buNone/>
            </a:pPr>
            <a:r>
              <a:rPr sz="120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保存長期身份與狀態</a:t>
            </a:r>
          </a:p>
        </p:txBody>
      </p:sp>
      <p:cxnSp>
        <p:nvCxnSpPr>
          <p:cNvPr id="389" name="Google Shape;286;p9"/>
          <p:cNvCxnSpPr/>
          <p:nvPr/>
        </p:nvCxnSpPr>
        <p:spPr>
          <a:xfrm xmlns:a="http://schemas.openxmlformats.org/drawingml/2006/main">
            <a:off x="5897880" y="2260867"/>
            <a:ext cx="57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12D6D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7" name="Google Shape;287;p9">
            <a:extLst xmlns:a="http://schemas.openxmlformats.org/drawingml/2006/main">
              <a:ext uri="{FF2B5EF4-FFF2-40B4-BE49-F238E27FC236}">
                <a16:creationId xmlns:a16="http://schemas.microsoft.com/office/drawing/2014/main" id="{BDC83826-2E51-47A4-A8AD-0B2C3916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1639075"/>
            <a:ext cx="2240400" cy="123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13950" cmpd="sng">
            <a:solidFill>
              <a:srgbClr val="FFD16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88" name="Google Shape;288;p9">
            <a:extLst xmlns:a="http://schemas.openxmlformats.org/drawingml/2006/main">
              <a:ext uri="{FF2B5EF4-FFF2-40B4-BE49-F238E27FC236}">
                <a16:creationId xmlns:a16="http://schemas.microsoft.com/office/drawing/2014/main" id="{C2DBA925-DACD-4694-BE5D-88701D91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426" y="1803675"/>
            <a:ext cx="24363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600"/>
              <a:buFont typeface="Microsoft JhengHei"/>
              <a:buNone/>
            </a:pPr>
            <a:r>
              <a:rPr sz="16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通過品質門檻後寫入特徵</a:t>
            </a:r>
          </a:p>
        </p:txBody>
      </p:sp>
      <p:sp>
        <p:nvSpPr>
          <p:cNvPr id="289" name="Google Shape;289;p9">
            <a:extLst xmlns:a="http://schemas.openxmlformats.org/drawingml/2006/main">
              <a:ext uri="{FF2B5EF4-FFF2-40B4-BE49-F238E27FC236}">
                <a16:creationId xmlns:a16="http://schemas.microsoft.com/office/drawing/2014/main" id="{4A91EA40-8090-43A6-9188-0CB535A5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9063" y="2133338"/>
            <a:ext cx="2075700" cy="64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320"/>
              <a:buFont typeface="Microsoft JhengHei"/>
              <a:buNone/>
            </a:pPr>
            <a:r>
              <a:rPr sz="1089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CropQuality → Encoder </a:t>
            </a:r>
          </a:p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320"/>
              <a:buFont typeface="Microsoft JhengHei"/>
              <a:buNone/>
            </a:pPr>
            <a:r>
              <a:rPr sz="1089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→ Policy → Index</a:t>
            </a:r>
          </a:p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320"/>
              <a:buFont typeface="Microsoft JhengHei"/>
              <a:buNone/>
            </a:pPr>
            <a:r>
              <a:rPr sz="1089" b="1" i="0" u="sng" cap="none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形成可稽核的 Master feature</a:t>
            </a:r>
          </a:p>
        </p:txBody>
      </p:sp>
      <p:cxnSp>
        <p:nvCxnSpPr>
          <p:cNvPr id="393" name="Google Shape;290;p9"/>
          <p:cNvCxnSpPr/>
          <p:nvPr/>
        </p:nvCxnSpPr>
        <p:spPr>
          <a:xfrm xmlns:a="http://schemas.openxmlformats.org/drawingml/2006/main">
            <a:off x="8759952" y="2260867"/>
            <a:ext cx="57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12D6D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91" name="Google Shape;291;p9">
            <a:extLst xmlns:a="http://schemas.openxmlformats.org/drawingml/2006/main">
              <a:ext uri="{FF2B5EF4-FFF2-40B4-BE49-F238E27FC236}">
                <a16:creationId xmlns:a16="http://schemas.microsoft.com/office/drawing/2014/main" id="{600308FB-30B6-4A9F-9EA2-37D1699D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1639075"/>
            <a:ext cx="2240400" cy="123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13950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92" name="Google Shape;292;p9">
            <a:extLst xmlns:a="http://schemas.openxmlformats.org/drawingml/2006/main">
              <a:ext uri="{FF2B5EF4-FFF2-40B4-BE49-F238E27FC236}">
                <a16:creationId xmlns:a16="http://schemas.microsoft.com/office/drawing/2014/main" id="{661E8F53-054A-41C8-B926-9029774D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862" y="1803675"/>
            <a:ext cx="23229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700"/>
              <a:buFont typeface="Microsoft JhengHei"/>
              <a:buNone/>
            </a:pPr>
            <a:r>
              <a:rPr sz="1700" b="1" i="0" u="non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</a:rPr>
              <a:t>Find GID / Auto Reacquire</a:t>
            </a:r>
          </a:p>
        </p:txBody>
      </p:sp>
      <p:sp>
        <p:nvSpPr>
          <p:cNvPr id="293" name="Google Shape;293;p9">
            <a:extLst xmlns:a="http://schemas.openxmlformats.org/drawingml/2006/main">
              <a:ext uri="{FF2B5EF4-FFF2-40B4-BE49-F238E27FC236}">
                <a16:creationId xmlns:a16="http://schemas.microsoft.com/office/drawing/2014/main" id="{2385909F-E624-4E3E-9049-3267FDFC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660" y="2226675"/>
            <a:ext cx="21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320"/>
              <a:buFont typeface="Microsoft JhengHei"/>
              <a:buNone/>
            </a:pPr>
            <a:r>
              <a:rPr sz="120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依 identity decision 找回指定目標</a:t>
            </a:r>
          </a:p>
        </p:txBody>
      </p:sp>
      <p:sp>
        <p:nvSpPr>
          <p:cNvPr id="294" name="Google Shape;294;p9">
            <a:extLst xmlns:a="http://schemas.openxmlformats.org/drawingml/2006/main">
              <a:ext uri="{FF2B5EF4-FFF2-40B4-BE49-F238E27FC236}">
                <a16:creationId xmlns:a16="http://schemas.microsoft.com/office/drawing/2014/main" id="{75EDDF15-A890-41BA-ADBD-4D889825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0" y="5531500"/>
            <a:ext cx="10241400" cy="6894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2700" cmpd="sng">
            <a:solidFill>
              <a:srgbClr val="12D6DF">
                <a:alpha val="7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295" name="Google Shape;295;p9">
            <a:extLst xmlns:a="http://schemas.openxmlformats.org/drawingml/2006/main">
              <a:ext uri="{FF2B5EF4-FFF2-40B4-BE49-F238E27FC236}">
                <a16:creationId xmlns:a16="http://schemas.microsoft.com/office/drawing/2014/main" id="{23399F73-7E38-4AA0-9CEB-9E20ECB8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75" y="5721226"/>
            <a:ext cx="9903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2000"/>
              <a:buFont typeface="Microsoft JhengHei"/>
              <a:buNone/>
            </a:pPr>
            <a:r>
              <a:rPr sz="1369" b="1" i="0" u="sng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系統把車輛轉成可保存、可驗證、可搜尋的身份資料，並避免低品質樣本污染 Master Gallery。</a:t>
            </a:r>
          </a:p>
        </p:txBody>
      </p:sp>
      <p:sp>
        <p:nvSpPr>
          <p:cNvPr id="296" name="Google Shape;296;p9">
            <a:extLst xmlns:a="http://schemas.openxmlformats.org/drawingml/2006/main">
              <a:ext uri="{FF2B5EF4-FFF2-40B4-BE49-F238E27FC236}">
                <a16:creationId xmlns:a16="http://schemas.microsoft.com/office/drawing/2014/main" id="{BD47AA58-15CD-4BE2-9BAF-09733BF5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93268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17E"/>
              </a:buClr>
              <a:buSzPts val="580"/>
              <a:buFont typeface="Microsoft JhengHei"/>
              <a:buNone/>
            </a:pPr>
            <a:r>
              <a:rPr sz="580" b="0" i="0" u="none" cap="none">
                <a:solidFill>
                  <a:srgbClr val="66717E"/>
                </a:solidFill>
                <a:latin typeface="Microsoft JhengHei"/>
                <a:ea typeface="Microsoft JhengHei"/>
                <a:cs typeface="Microsoft JhengHei"/>
              </a:rPr>
              <a:t>依據：AI Vision Director V2.3 README、identity / feature gallery / SQLite architecture。</a:t>
            </a:r>
          </a:p>
        </p:txBody>
      </p:sp>
      <p:sp>
        <p:nvSpPr>
          <p:cNvPr id="297" name="Google Shape;297;p9">
            <a:extLst xmlns:a="http://schemas.openxmlformats.org/drawingml/2006/main">
              <a:ext uri="{FF2B5EF4-FFF2-40B4-BE49-F238E27FC236}">
                <a16:creationId xmlns:a16="http://schemas.microsoft.com/office/drawing/2014/main" id="{42C272D1-CCB0-4C90-8E55-89A7A3F7FA1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pic>
        <p:nvPicPr>
          <p:cNvPr id="401" name="Google Shape;298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3f0dc2111644ef">
            <a:alphaModFix/>
          </a:blip>
          <a:srcRect xmlns:a="http://schemas.openxmlformats.org/drawingml/2006/main" l="10915" t="0" r="19742" b="0"/>
          <a:stretch xmlns:a="http://schemas.openxmlformats.org/drawingml/2006/main"/>
        </p:blipFill>
        <p:spPr>
          <a:xfrm xmlns:a="http://schemas.openxmlformats.org/drawingml/2006/main">
            <a:off x="795575" y="3120813"/>
            <a:ext cx="2704699" cy="2163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99" name="Google Shape;299;p9">
            <a:extLst xmlns:a="http://schemas.openxmlformats.org/drawingml/2006/main">
              <a:ext uri="{FF2B5EF4-FFF2-40B4-BE49-F238E27FC236}">
                <a16:creationId xmlns:a16="http://schemas.microsoft.com/office/drawing/2014/main" id="{6A1B011F-5F6B-4E4B-A0FF-1FF4C90E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75" y="3776788"/>
            <a:ext cx="3000000" cy="66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3100"/>
              <a:buFont typeface="Microsoft JhengHei"/>
              <a:buNone/>
            </a:pPr>
            <a:r>
              <a:rPr sz="3100" b="1" i="0" u="none" cap="none">
                <a:solidFill>
                  <a:srgbClr val="00FF00"/>
                </a:solidFill>
                <a:latin typeface="Microsoft JhengHei"/>
                <a:ea typeface="Microsoft JhengHei"/>
                <a:cs typeface="Microsoft JhengHei"/>
              </a:rPr>
              <a:t>bbox</a:t>
            </a:r>
          </a:p>
        </p:txBody>
      </p:sp>
      <p:pic>
        <p:nvPicPr>
          <p:cNvPr id="403" name="Google Shape;300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b26ed0af60475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30399" y="3567152"/>
            <a:ext cx="4389125" cy="127077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04" name="Google Shape;301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38728e9dcb84040">
            <a:alphaModFix/>
          </a:blip>
          <a:srcRect xmlns:a="http://schemas.openxmlformats.org/drawingml/2006/main" l="16907" t="13191" r="13860" b="9349"/>
          <a:stretch xmlns:a="http://schemas.openxmlformats.org/drawingml/2006/main"/>
        </p:blipFill>
        <p:spPr>
          <a:xfrm xmlns:a="http://schemas.openxmlformats.org/drawingml/2006/main">
            <a:off x="8549638" y="3459450"/>
            <a:ext cx="3145250" cy="1675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02" name="Google Shape;302;p9">
            <a:extLst xmlns:a="http://schemas.openxmlformats.org/drawingml/2006/main">
              <a:ext uri="{FF2B5EF4-FFF2-40B4-BE49-F238E27FC236}">
                <a16:creationId xmlns:a16="http://schemas.microsoft.com/office/drawing/2014/main" id="{B06264C8-D59F-48B3-80BE-484964B9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00" y="3147386"/>
            <a:ext cx="3000000" cy="44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0"/>
              <a:buFont typeface="Arial"/>
              <a:buNone/>
            </a:pPr>
            <a:r>
              <a:rPr sz="1720" b="1" i="0" u="sng" cap="none">
                <a:solidFill>
                  <a:srgbClr val="12D6DF"/>
                </a:solidFill>
                <a:latin typeface="Microsoft JhengHei"/>
                <a:ea typeface="Microsoft JhengHei"/>
                <a:cs typeface="Microsoft JhengHei"/>
              </a:rPr>
              <a:t>GID / metadata</a:t>
            </a:r>
          </a:p>
        </p:txBody>
      </p:sp>
      <p:sp>
        <p:nvSpPr>
          <p:cNvPr id="303" name="Google Shape;303;p9">
            <a:extLst xmlns:a="http://schemas.openxmlformats.org/drawingml/2006/main">
              <a:ext uri="{FF2B5EF4-FFF2-40B4-BE49-F238E27FC236}">
                <a16:creationId xmlns:a16="http://schemas.microsoft.com/office/drawing/2014/main" id="{5DBA22F7-6B5A-41CA-B3F5-19938654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225" y="3870600"/>
            <a:ext cx="43692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0" cmpd="sng">
            <a:solidFill>
              <a:srgbClr val="00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304" name="Google Shape;304;p9">
            <a:extLst xmlns:a="http://schemas.openxmlformats.org/drawingml/2006/main">
              <a:ext uri="{FF2B5EF4-FFF2-40B4-BE49-F238E27FC236}">
                <a16:creationId xmlns:a16="http://schemas.microsoft.com/office/drawing/2014/main" id="{C4492A38-0BFC-4A67-93B0-092C56CA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525" y="3549950"/>
            <a:ext cx="477900" cy="123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 cmpd="sng">
            <a:solidFill>
              <a:srgbClr val="FFD16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305" name="Google Shape;305;p9">
            <a:extLst xmlns:a="http://schemas.openxmlformats.org/drawingml/2006/main">
              <a:ext uri="{FF2B5EF4-FFF2-40B4-BE49-F238E27FC236}">
                <a16:creationId xmlns:a16="http://schemas.microsoft.com/office/drawing/2014/main" id="{D2375C4A-179C-4EC2-814F-1C6B49CB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525" y="3147378"/>
            <a:ext cx="2518500" cy="44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0"/>
              <a:buFont typeface="Arial"/>
              <a:buNone/>
            </a:pPr>
            <a:r>
              <a:rPr sz="1720" b="1" i="0" u="sng" cap="none">
                <a:solidFill>
                  <a:srgbClr val="F5C440"/>
                </a:solidFill>
                <a:latin typeface="Microsoft JhengHei"/>
                <a:ea typeface="Microsoft JhengHei"/>
                <a:cs typeface="Microsoft JhengHei"/>
              </a:rPr>
              <a:t>Master features</a:t>
            </a:r>
          </a:p>
        </p:txBody>
      </p:sp>
    </p:spTree>
    <p:extLst>
      <p:ext uri="{BB962C8B-B14F-4D97-AF65-F5344CB8AC3E}">
        <p14:creationId xmlns:p14="http://schemas.microsoft.com/office/powerpoint/2010/main" val="14266812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1" name="Google Shape;311;p10">
            <a:extLst xmlns:a="http://schemas.openxmlformats.org/drawingml/2006/main">
              <a:ext uri="{FF2B5EF4-FFF2-40B4-BE49-F238E27FC236}">
                <a16:creationId xmlns:a16="http://schemas.microsoft.com/office/drawing/2014/main" id="{0E5D2DCC-207F-443E-BFDC-0AC99D8F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12" name="Google Shape;312;p10">
            <a:extLst xmlns:a="http://schemas.openxmlformats.org/drawingml/2006/main">
              <a:ext uri="{FF2B5EF4-FFF2-40B4-BE49-F238E27FC236}">
                <a16:creationId xmlns:a16="http://schemas.microsoft.com/office/drawing/2014/main" id="{8562FAB0-F01D-449E-A210-D57D36CB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13" name="Google Shape;313;p10">
            <a:extLst xmlns:a="http://schemas.openxmlformats.org/drawingml/2006/main">
              <a:ext uri="{FF2B5EF4-FFF2-40B4-BE49-F238E27FC236}">
                <a16:creationId xmlns:a16="http://schemas.microsoft.com/office/drawing/2014/main" id="{0B22AF00-B226-4C0C-8512-D16ED69F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14" name="Google Shape;314;p10">
            <a:extLst xmlns:a="http://schemas.openxmlformats.org/drawingml/2006/main">
              <a:ext uri="{FF2B5EF4-FFF2-40B4-BE49-F238E27FC236}">
                <a16:creationId xmlns:a16="http://schemas.microsoft.com/office/drawing/2014/main" id="{01D8925C-91F9-4EDB-B069-375B4B74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15" name="Google Shape;315;p10">
            <a:extLst xmlns:a="http://schemas.openxmlformats.org/drawingml/2006/main">
              <a:ext uri="{FF2B5EF4-FFF2-40B4-BE49-F238E27FC236}">
                <a16:creationId xmlns:a16="http://schemas.microsoft.com/office/drawing/2014/main" id="{2BA7960F-BD88-4318-97CC-412F370D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16" name="Google Shape;316;p10">
            <a:extLst xmlns:a="http://schemas.openxmlformats.org/drawingml/2006/main">
              <a:ext uri="{FF2B5EF4-FFF2-40B4-BE49-F238E27FC236}">
                <a16:creationId xmlns:a16="http://schemas.microsoft.com/office/drawing/2014/main" id="{459803D5-DB65-4726-973C-892C750E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12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09 IDENTITY LOGIC</a:t>
            </a:r>
          </a:p>
        </p:txBody>
      </p:sp>
      <p:sp>
        <p:nvSpPr>
          <p:cNvPr id="317" name="Google Shape;317;p10">
            <a:extLst xmlns:a="http://schemas.openxmlformats.org/drawingml/2006/main">
              <a:ext uri="{FF2B5EF4-FFF2-40B4-BE49-F238E27FC236}">
                <a16:creationId xmlns:a16="http://schemas.microsoft.com/office/drawing/2014/main" id="{9A7397FF-7898-45FC-BE43-340A9A38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2600"/>
              <a:buFont typeface="Microsoft JhengHei"/>
              <a:buNone/>
            </a:pPr>
            <a:r>
              <a:rPr sz="228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LID / GID：把短期 tracker identity 接到長期車輛身份</a:t>
            </a:r>
          </a:p>
        </p:txBody>
      </p:sp>
      <p:sp>
        <p:nvSpPr>
          <p:cNvPr id="318" name="Google Shape;318;p10">
            <a:extLst xmlns:a="http://schemas.openxmlformats.org/drawingml/2006/main">
              <a:ext uri="{FF2B5EF4-FFF2-40B4-BE49-F238E27FC236}">
                <a16:creationId xmlns:a16="http://schemas.microsoft.com/office/drawing/2014/main" id="{EA673D67-5838-48D3-9031-0463C3D6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783080"/>
            <a:ext cx="2743200" cy="150876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13950" cmpd="sng">
            <a:solidFill>
              <a:srgbClr val="FF4D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19" name="Google Shape;319;p10">
            <a:extLst xmlns:a="http://schemas.openxmlformats.org/drawingml/2006/main">
              <a:ext uri="{FF2B5EF4-FFF2-40B4-BE49-F238E27FC236}">
                <a16:creationId xmlns:a16="http://schemas.microsoft.com/office/drawing/2014/main" id="{FFD22865-C98E-4274-8DDD-18212FEB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984990"/>
            <a:ext cx="2469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2600"/>
              <a:buFont typeface="Microsoft JhengHei"/>
              <a:buNone/>
            </a:pPr>
            <a:r>
              <a:rPr sz="2600" b="1" i="0" u="sng" cap="none">
                <a:solidFill>
                  <a:srgbClr val="00FF00"/>
                </a:solidFill>
                <a:latin typeface="Microsoft JhengHei"/>
                <a:ea typeface="Microsoft JhengHei"/>
                <a:cs typeface="Microsoft JhengHei"/>
              </a:rPr>
              <a:t>LID</a:t>
            </a:r>
          </a:p>
        </p:txBody>
      </p:sp>
      <p:sp>
        <p:nvSpPr>
          <p:cNvPr id="320" name="Google Shape;320;p10">
            <a:extLst xmlns:a="http://schemas.openxmlformats.org/drawingml/2006/main">
              <a:ext uri="{FF2B5EF4-FFF2-40B4-BE49-F238E27FC236}">
                <a16:creationId xmlns:a16="http://schemas.microsoft.com/office/drawing/2014/main" id="{7AC93FF5-BC7E-47B9-8A8E-FB595927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625" y="2246100"/>
            <a:ext cx="2578500" cy="100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"/>
              <a:buFont typeface="Microsoft JhengHei"/>
              <a:buNone/>
            </a:pPr>
            <a:r>
              <a:rPr sz="150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Local ID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"/>
              <a:buFont typeface="Microsoft JhengHei"/>
              <a:buNone/>
            </a:pPr>
            <a:r>
              <a:rPr sz="150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Tracker Adapter 產生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"/>
              <a:buFont typeface="Microsoft JhengHei"/>
              <a:buNone/>
            </a:pPr>
            <a:r>
              <a:rPr sz="150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短期，只在當前連續片段有效</a:t>
            </a:r>
          </a:p>
        </p:txBody>
      </p:sp>
      <p:sp>
        <p:nvSpPr>
          <p:cNvPr id="321" name="Google Shape;321;p10">
            <a:extLst xmlns:a="http://schemas.openxmlformats.org/drawingml/2006/main">
              <a:ext uri="{FF2B5EF4-FFF2-40B4-BE49-F238E27FC236}">
                <a16:creationId xmlns:a16="http://schemas.microsoft.com/office/drawing/2014/main" id="{CD7F85DB-72E6-4BCE-9DA0-B9891508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35" y="1810542"/>
            <a:ext cx="2743200" cy="15087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13950" cmpd="sng">
            <a:solidFill>
              <a:srgbClr val="12D6D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22" name="Google Shape;322;p10">
            <a:extLst xmlns:a="http://schemas.openxmlformats.org/drawingml/2006/main">
              <a:ext uri="{FF2B5EF4-FFF2-40B4-BE49-F238E27FC236}">
                <a16:creationId xmlns:a16="http://schemas.microsoft.com/office/drawing/2014/main" id="{135E720C-87D8-4FB8-8FD8-F858DBF8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985002"/>
            <a:ext cx="246900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860"/>
              </a:buClr>
              <a:buSzPts val="2600"/>
              <a:buFont typeface="Microsoft JhengHei"/>
              <a:buNone/>
            </a:pPr>
            <a:r>
              <a:rPr sz="2600" b="1" i="0" u="sng" cap="none">
                <a:solidFill>
                  <a:srgbClr val="FF3860"/>
                </a:solidFill>
                <a:latin typeface="Microsoft JhengHei"/>
                <a:ea typeface="Microsoft JhengHei"/>
                <a:cs typeface="Microsoft JhengHei"/>
              </a:rPr>
              <a:t>GID</a:t>
            </a:r>
          </a:p>
        </p:txBody>
      </p:sp>
      <p:sp>
        <p:nvSpPr>
          <p:cNvPr id="323" name="Google Shape;323;p10">
            <a:extLst xmlns:a="http://schemas.openxmlformats.org/drawingml/2006/main">
              <a:ext uri="{FF2B5EF4-FFF2-40B4-BE49-F238E27FC236}">
                <a16:creationId xmlns:a16="http://schemas.microsoft.com/office/drawing/2014/main" id="{B990D944-35D8-4A8C-AF85-91C93789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75" y="2369388"/>
            <a:ext cx="2624400" cy="8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Microsoft JhengHei"/>
              <a:buNone/>
            </a:pPr>
            <a:r>
              <a:rPr sz="1546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Global ID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Microsoft JhengHei"/>
              <a:buNone/>
            </a:pPr>
            <a:r>
              <a:rPr sz="1546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Identity Pipeline + SQLite 保存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Microsoft JhengHei"/>
              <a:buNone/>
            </a:pPr>
            <a:r>
              <a:rPr sz="1546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長期，可跨片段搜尋與找回</a:t>
            </a:r>
          </a:p>
        </p:txBody>
      </p:sp>
      <p:cxnSp>
        <p:nvCxnSpPr>
          <p:cNvPr id="418" name="Google Shape;324;p10"/>
          <p:cNvCxnSpPr/>
          <p:nvPr/>
        </p:nvCxnSpPr>
        <p:spPr>
          <a:xfrm xmlns:a="http://schemas.openxmlformats.org/drawingml/2006/main">
            <a:off x="3858768" y="2514600"/>
            <a:ext cx="448056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12D6D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25" name="Google Shape;325;p10">
            <a:extLst xmlns:a="http://schemas.openxmlformats.org/drawingml/2006/main">
              <a:ext uri="{FF2B5EF4-FFF2-40B4-BE49-F238E27FC236}">
                <a16:creationId xmlns:a16="http://schemas.microsoft.com/office/drawing/2014/main" id="{8E97785E-939D-4EB6-9091-E7875DD0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078" y="1783075"/>
            <a:ext cx="4233600" cy="75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3000"/>
              <a:buFont typeface="Arial"/>
              <a:buNone/>
            </a:pPr>
            <a:r>
              <a:rPr sz="2500" b="1" i="0" u="none" cap="none">
                <a:solidFill>
                  <a:srgbClr val="F4F7FA"/>
                </a:solidFill>
                <a:latin typeface="Arial"/>
                <a:ea typeface="Arial"/>
                <a:cs typeface="Arial"/>
              </a:rPr>
              <a:t>進入 Identity Pipeline</a:t>
            </a:r>
          </a:p>
        </p:txBody>
      </p:sp>
      <p:sp>
        <p:nvSpPr>
          <p:cNvPr id="326" name="Google Shape;326;p10">
            <a:extLst xmlns:a="http://schemas.openxmlformats.org/drawingml/2006/main">
              <a:ext uri="{FF2B5EF4-FFF2-40B4-BE49-F238E27FC236}">
                <a16:creationId xmlns:a16="http://schemas.microsoft.com/office/drawing/2014/main" id="{59431076-5587-4997-980B-ED07775B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922" y="5601275"/>
            <a:ext cx="6702300" cy="8361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0025" cmpd="sng">
            <a:solidFill>
              <a:srgbClr val="33425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2050" tIns="72050" rIns="72050" bIns="720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27" name="Google Shape;327;p10">
            <a:extLst xmlns:a="http://schemas.openxmlformats.org/drawingml/2006/main">
              <a:ext uri="{FF2B5EF4-FFF2-40B4-BE49-F238E27FC236}">
                <a16:creationId xmlns:a16="http://schemas.microsoft.com/office/drawing/2014/main" id="{5081EFD4-B142-49E7-8A4C-2DC6253F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8338" y="5846367"/>
            <a:ext cx="6881400" cy="34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2050" tIns="36025" rIns="72050" bIns="36025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576"/>
              <a:buFont typeface="Microsoft JhengHei"/>
              <a:buNone/>
            </a:pPr>
            <a:r>
              <a:rPr sz="1681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LID 是 tracker 的臨時編號；GID 是系統保存的車輛身份。</a:t>
            </a:r>
          </a:p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576"/>
              <a:buFont typeface="Microsoft JhengHei"/>
              <a:buNone/>
            </a:pPr>
            <a:r>
              <a:rPr sz="1681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LID 可以改變，GID 才是跨片段延續的</a:t>
            </a:r>
            <a:r>
              <a:rPr sz="1681" b="1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關</a:t>
            </a:r>
            <a:r>
              <a:rPr sz="1681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鍵。</a:t>
            </a:r>
          </a:p>
        </p:txBody>
      </p:sp>
      <p:sp>
        <p:nvSpPr>
          <p:cNvPr id="328" name="Google Shape;328;p10">
            <a:extLst xmlns:a="http://schemas.openxmlformats.org/drawingml/2006/main">
              <a:ext uri="{FF2B5EF4-FFF2-40B4-BE49-F238E27FC236}">
                <a16:creationId xmlns:a16="http://schemas.microsoft.com/office/drawing/2014/main" id="{E838237C-B8CF-4FF7-AE3E-A7DE20C2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93268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17E"/>
              </a:buClr>
              <a:buSzPts val="580"/>
              <a:buFont typeface="Microsoft JhengHei"/>
              <a:buNone/>
            </a:pPr>
            <a:r>
              <a:rPr sz="580" b="0" i="0" u="none" cap="none">
                <a:solidFill>
                  <a:srgbClr val="66717E"/>
                </a:solidFill>
                <a:latin typeface="Microsoft JhengHei"/>
                <a:ea typeface="Microsoft JhengHei"/>
                <a:cs typeface="Microsoft JhengHei"/>
              </a:rPr>
              <a:t>依據：AI Vision Director V2.3 domain contracts 與 identity architecture。</a:t>
            </a:r>
          </a:p>
        </p:txBody>
      </p:sp>
      <p:sp>
        <p:nvSpPr>
          <p:cNvPr id="329" name="Google Shape;329;p10">
            <a:extLst xmlns:a="http://schemas.openxmlformats.org/drawingml/2006/main">
              <a:ext uri="{FF2B5EF4-FFF2-40B4-BE49-F238E27FC236}">
                <a16:creationId xmlns:a16="http://schemas.microsoft.com/office/drawing/2014/main" id="{A80D0FAF-98D2-4E78-83D0-76E74BF77FA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pic>
        <p:nvPicPr>
          <p:cNvPr id="424" name="Google Shape;330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8fc62e23df8493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11752" y="3413585"/>
            <a:ext cx="3247625" cy="1795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425" name="Google Shape;331;p10"/>
          <p:cNvCxnSpPr/>
          <p:nvPr/>
        </p:nvCxnSpPr>
        <p:spPr>
          <a:xfrm xmlns:a="http://schemas.openxmlformats.org/drawingml/2006/main">
            <a:off x="4262575" y="4372525"/>
            <a:ext cx="375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12D6DF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426" name="Google Shape;332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c7bc0854ce4ca4">
            <a:alphaModFix/>
          </a:blip>
          <a:srcRect xmlns:a="http://schemas.openxmlformats.org/drawingml/2006/main" l="9996" t="17937" r="10036" b="12782"/>
          <a:stretch xmlns:a="http://schemas.openxmlformats.org/drawingml/2006/main"/>
        </p:blipFill>
        <p:spPr>
          <a:xfrm xmlns:a="http://schemas.openxmlformats.org/drawingml/2006/main">
            <a:off x="8122075" y="3508632"/>
            <a:ext cx="3247625" cy="172777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3" name="Google Shape;333;p10">
            <a:extLst xmlns:a="http://schemas.openxmlformats.org/drawingml/2006/main">
              <a:ext uri="{FF2B5EF4-FFF2-40B4-BE49-F238E27FC236}">
                <a16:creationId xmlns:a16="http://schemas.microsoft.com/office/drawing/2014/main" id="{DA36BDF8-5DAB-4EE5-81F4-4769038C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875" y="3413575"/>
            <a:ext cx="3000000" cy="52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2200"/>
              <a:buFont typeface="Microsoft JhengHei"/>
              <a:buNone/>
            </a:pPr>
            <a:r>
              <a:rPr sz="2200" b="1" i="0" u="none" cap="none">
                <a:solidFill>
                  <a:srgbClr val="00FF00"/>
                </a:solidFill>
                <a:latin typeface="Microsoft JhengHei"/>
                <a:ea typeface="Microsoft JhengHei"/>
                <a:cs typeface="Microsoft JhengHei"/>
              </a:rPr>
              <a:t>LID</a:t>
            </a:r>
          </a:p>
        </p:txBody>
      </p:sp>
    </p:spTree>
    <p:extLst>
      <p:ext uri="{BB962C8B-B14F-4D97-AF65-F5344CB8AC3E}">
        <p14:creationId xmlns:p14="http://schemas.microsoft.com/office/powerpoint/2010/main" val="1433690429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ca37eb6c51494515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9" name="Google Shape;339;p11">
            <a:extLst xmlns:a="http://schemas.openxmlformats.org/drawingml/2006/main">
              <a:ext uri="{FF2B5EF4-FFF2-40B4-BE49-F238E27FC236}">
                <a16:creationId xmlns:a16="http://schemas.microsoft.com/office/drawing/2014/main" id="{6A5C91CC-F767-4BBB-8EB0-3F7BDED3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6FF"/>
              </a:buClr>
              <a:buSzPts val="700"/>
              <a:buFont typeface="Microsoft JhengHei"/>
              <a:buNone/>
            </a:pPr>
            <a:r>
              <a:rPr sz="700" b="1" i="0" u="none" cap="none">
                <a:solidFill>
                  <a:srgbClr val="00D6FF"/>
                </a:solidFill>
                <a:latin typeface="Microsoft JhengHei"/>
                <a:ea typeface="Microsoft JhengHei"/>
                <a:cs typeface="Microsoft JhengHei"/>
              </a:rPr>
              <a:t>10 FEATURE GALLERY</a:t>
            </a:r>
          </a:p>
        </p:txBody>
      </p:sp>
      <p:sp>
        <p:nvSpPr>
          <p:cNvPr id="340" name="Google Shape;340;p11">
            <a:extLst xmlns:a="http://schemas.openxmlformats.org/drawingml/2006/main">
              <a:ext uri="{FF2B5EF4-FFF2-40B4-BE49-F238E27FC236}">
                <a16:creationId xmlns:a16="http://schemas.microsoft.com/office/drawing/2014/main" id="{754BA4A8-9676-40C1-B5A6-997DCAF2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8961000" cy="43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2600"/>
              <a:buFont typeface="Microsoft JhengHei"/>
              <a:buNone/>
            </a:pPr>
            <a:r>
              <a:rPr sz="2600" b="1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Feature Gallery：品質、編碼、政策與持久化各自解耦</a:t>
            </a:r>
          </a:p>
        </p:txBody>
      </p:sp>
      <p:sp>
        <p:nvSpPr>
          <p:cNvPr id="341" name="Google Shape;341;p11">
            <a:extLst xmlns:a="http://schemas.openxmlformats.org/drawingml/2006/main">
              <a:ext uri="{FF2B5EF4-FFF2-40B4-BE49-F238E27FC236}">
                <a16:creationId xmlns:a16="http://schemas.microsoft.com/office/drawing/2014/main" id="{7EFA8B9E-BF3D-4979-9D2C-D0B040B1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47472"/>
            <a:ext cx="109728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1A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42" name="Google Shape;342;p11">
            <a:extLst xmlns:a="http://schemas.openxmlformats.org/drawingml/2006/main">
              <a:ext uri="{FF2B5EF4-FFF2-40B4-BE49-F238E27FC236}">
                <a16:creationId xmlns:a16="http://schemas.microsoft.com/office/drawing/2014/main" id="{CD26E784-0A65-4FC4-8865-6D8DFF84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9768"/>
            <a:ext cx="12344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6FF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43" name="Google Shape;343;p11">
            <a:extLst xmlns:a="http://schemas.openxmlformats.org/drawingml/2006/main">
              <a:ext uri="{FF2B5EF4-FFF2-40B4-BE49-F238E27FC236}">
                <a16:creationId xmlns:a16="http://schemas.microsoft.com/office/drawing/2014/main" id="{D575F7CF-FCA6-4E4E-B985-11F9B16A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2064"/>
            <a:ext cx="105156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1A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44" name="Google Shape;344;p11">
            <a:extLst xmlns:a="http://schemas.openxmlformats.org/drawingml/2006/main">
              <a:ext uri="{FF2B5EF4-FFF2-40B4-BE49-F238E27FC236}">
                <a16:creationId xmlns:a16="http://schemas.microsoft.com/office/drawing/2014/main" id="{92F4F67F-BA29-4DD4-A06F-91CF6296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94360"/>
            <a:ext cx="9144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6FF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45" name="Google Shape;345;p11">
            <a:extLst xmlns:a="http://schemas.openxmlformats.org/drawingml/2006/main">
              <a:ext uri="{FF2B5EF4-FFF2-40B4-BE49-F238E27FC236}">
                <a16:creationId xmlns:a16="http://schemas.microsoft.com/office/drawing/2014/main" id="{AF888AC7-E8CE-497A-9A51-C55005EB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25880"/>
            <a:ext cx="3429000" cy="4526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B25"/>
          </a:solidFill>
          <a:ln xmlns:a="http://schemas.openxmlformats.org/drawingml/2006/main" w="15225" cmpd="sng">
            <a:solidFill>
              <a:srgbClr val="00D6F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46" name="Google Shape;346;p11">
            <a:extLst xmlns:a="http://schemas.openxmlformats.org/drawingml/2006/main">
              <a:ext uri="{FF2B5EF4-FFF2-40B4-BE49-F238E27FC236}">
                <a16:creationId xmlns:a16="http://schemas.microsoft.com/office/drawing/2014/main" id="{15C690DE-EC73-4286-B994-68246AC2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317" y="1554455"/>
            <a:ext cx="2331600" cy="32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6FF"/>
              </a:buClr>
              <a:buSzPts val="1900"/>
              <a:buFont typeface="Microsoft JhengHei"/>
              <a:buNone/>
            </a:pPr>
            <a:r>
              <a:rPr sz="1900" b="1" i="0" u="none" cap="none">
                <a:solidFill>
                  <a:srgbClr val="00D6FF"/>
                </a:solidFill>
                <a:latin typeface="Microsoft JhengHei"/>
                <a:ea typeface="Microsoft JhengHei"/>
                <a:cs typeface="Microsoft JhengHei"/>
              </a:rPr>
              <a:t>特徵品質與編碼</a:t>
            </a:r>
          </a:p>
        </p:txBody>
      </p:sp>
      <p:sp>
        <p:nvSpPr>
          <p:cNvPr id="347" name="Google Shape;347;p11">
            <a:extLst xmlns:a="http://schemas.openxmlformats.org/drawingml/2006/main">
              <a:ext uri="{FF2B5EF4-FFF2-40B4-BE49-F238E27FC236}">
                <a16:creationId xmlns:a16="http://schemas.microsoft.com/office/drawing/2014/main" id="{DC75846F-EA89-49FC-8F8B-918FA411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00" y="2027600"/>
            <a:ext cx="3136200" cy="11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18275" rIns="45700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EF7FA"/>
              </a:buClr>
              <a:buSzPts val="1800"/>
              <a:buFont typeface="Microsoft JhengHei"/>
              <a:buNone/>
            </a:pPr>
            <a:r>
              <a:rPr sz="1500" i="0" u="none" cap="none">
                <a:solidFill>
                  <a:srgbClr val="F3F6F8"/>
                </a:solidFill>
                <a:latin typeface="Microsoft JhengHei"/>
                <a:ea typeface="Microsoft JhengHei"/>
                <a:cs typeface="Microsoft JhengHei"/>
              </a:rPr>
              <a:t>CropQualityAssessor 先檢查尺寸、清晰度與有效性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500">
                <a:solidFill>
                  <a:srgbClr val="F3F6F8"/>
                </a:solidFill>
              </a:rPr>
              <a:t>EmbeddingEncoder 產生身份向量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500">
                <a:solidFill>
                  <a:srgbClr val="F3F6F8"/>
                </a:solidFill>
              </a:rPr>
              <a:t>Master feature 保存可追溯</a:t>
            </a:r>
            <a:r>
              <a:rPr sz="1500">
                <a:solidFill>
                  <a:srgbClr val="F3F6F8"/>
                </a:solidFill>
                <a:latin typeface="Arial"/>
                <a:ea typeface="Arial"/>
                <a:cs typeface="Arial"/>
              </a:rPr>
              <a:t>的身份記憶</a:t>
            </a:r>
          </a:p>
        </p:txBody>
      </p:sp>
      <p:sp>
        <p:nvSpPr>
          <p:cNvPr id="348" name="Google Shape;348;p11">
            <a:extLst xmlns:a="http://schemas.openxmlformats.org/drawingml/2006/main">
              <a:ext uri="{FF2B5EF4-FFF2-40B4-BE49-F238E27FC236}">
                <a16:creationId xmlns:a16="http://schemas.microsoft.com/office/drawing/2014/main" id="{1620BD46-E40A-49F3-9AF5-4A371FE7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325880"/>
            <a:ext cx="3429000" cy="4526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B25"/>
          </a:solidFill>
          <a:ln xmlns:a="http://schemas.openxmlformats.org/drawingml/2006/main" w="15225" cmpd="sng">
            <a:solidFill>
              <a:srgbClr val="FF5B1A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49" name="Google Shape;349;p11">
            <a:extLst xmlns:a="http://schemas.openxmlformats.org/drawingml/2006/main">
              <a:ext uri="{FF2B5EF4-FFF2-40B4-BE49-F238E27FC236}">
                <a16:creationId xmlns:a16="http://schemas.microsoft.com/office/drawing/2014/main" id="{6EF3430B-DDBB-4CFE-8AA5-71781057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1554480"/>
            <a:ext cx="2331600" cy="32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B1A"/>
              </a:buClr>
              <a:buSzPts val="1900"/>
              <a:buFont typeface="Microsoft JhengHei"/>
              <a:buNone/>
            </a:pPr>
            <a:r>
              <a:rPr sz="1900" b="1" i="0" u="none" cap="none">
                <a:solidFill>
                  <a:srgbClr val="FF5B1A"/>
                </a:solidFill>
                <a:latin typeface="Microsoft JhengHei"/>
                <a:ea typeface="Microsoft JhengHei"/>
                <a:cs typeface="Microsoft JhengHei"/>
              </a:rPr>
              <a:t>政策、索引與持久化</a:t>
            </a:r>
          </a:p>
        </p:txBody>
      </p:sp>
      <p:sp>
        <p:nvSpPr>
          <p:cNvPr id="350" name="Google Shape;350;p11">
            <a:extLst xmlns:a="http://schemas.openxmlformats.org/drawingml/2006/main">
              <a:ext uri="{FF2B5EF4-FFF2-40B4-BE49-F238E27FC236}">
                <a16:creationId xmlns:a16="http://schemas.microsoft.com/office/drawing/2014/main" id="{BEABB514-81C6-4781-86A4-1F946AC8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13" y="2050700"/>
            <a:ext cx="3429000" cy="10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18275" rIns="45700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800"/>
              <a:buFont typeface="Microsoft JhengHei"/>
              <a:buNone/>
            </a:pPr>
            <a:r>
              <a:rPr sz="1500" b="0" i="0" u="none" cap="none">
                <a:solidFill>
                  <a:srgbClr val="F3F6F8"/>
                </a:solidFill>
                <a:latin typeface="Microsoft JhengHei"/>
                <a:ea typeface="Microsoft JhengHei"/>
                <a:cs typeface="Microsoft JhengHei"/>
              </a:rPr>
              <a:t>GalleryPolicy 決定是否接受新樣本</a:t>
            </a: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800"/>
              <a:buFont typeface="Microsoft JhengHei"/>
              <a:buNone/>
            </a:pPr>
            <a:r>
              <a:rPr sz="1500" b="0" i="0" u="none" cap="none">
                <a:solidFill>
                  <a:srgbClr val="F3F6F8"/>
                </a:solidFill>
                <a:latin typeface="Microsoft JhengHei"/>
                <a:ea typeface="Microsoft JhengHei"/>
                <a:cs typeface="Microsoft JhengHei"/>
              </a:rPr>
              <a:t>VectorIndex 負責近鄰搜尋</a:t>
            </a: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800"/>
              <a:buFont typeface="Microsoft JhengHei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800"/>
              <a:buFont typeface="Microsoft JhengHei"/>
              <a:buNone/>
            </a:pPr>
            <a:r>
              <a:rPr sz="1500" b="1" i="0" u="sng" cap="none">
                <a:solidFill>
                  <a:srgbClr val="F3F6F8"/>
                </a:solidFill>
                <a:latin typeface="Microsoft JhengHei"/>
                <a:ea typeface="Microsoft JhengHei"/>
                <a:cs typeface="Microsoft JhengHei"/>
              </a:rPr>
              <a:t>SQLiteWorker 以單一 owner thread 持久化</a:t>
            </a:r>
          </a:p>
        </p:txBody>
      </p:sp>
      <p:sp>
        <p:nvSpPr>
          <p:cNvPr id="351" name="Google Shape;351;p11">
            <a:extLst xmlns:a="http://schemas.openxmlformats.org/drawingml/2006/main">
              <a:ext uri="{FF2B5EF4-FFF2-40B4-BE49-F238E27FC236}">
                <a16:creationId xmlns:a16="http://schemas.microsoft.com/office/drawing/2014/main" id="{3A341166-8369-4065-ABAD-C7A7D2F4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325880"/>
            <a:ext cx="3429000" cy="45262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B25"/>
          </a:solidFill>
          <a:ln xmlns:a="http://schemas.openxmlformats.org/drawingml/2006/main" w="15225" cmpd="sng">
            <a:solidFill>
              <a:srgbClr val="22EC9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52" name="Google Shape;352;p11">
            <a:extLst xmlns:a="http://schemas.openxmlformats.org/drawingml/2006/main">
              <a:ext uri="{FF2B5EF4-FFF2-40B4-BE49-F238E27FC236}">
                <a16:creationId xmlns:a16="http://schemas.microsoft.com/office/drawing/2014/main" id="{18EDD100-059C-4876-81ED-CE0BF603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9687" y="1554480"/>
            <a:ext cx="2331600" cy="32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EC9C"/>
              </a:buClr>
              <a:buSzPts val="1900"/>
              <a:buFont typeface="Microsoft JhengHei"/>
              <a:buNone/>
            </a:pPr>
            <a:r>
              <a:rPr sz="1900" b="1" i="0" u="none" cap="none">
                <a:solidFill>
                  <a:srgbClr val="22EC9C"/>
                </a:solidFill>
                <a:latin typeface="Microsoft JhengHei"/>
                <a:ea typeface="Microsoft JhengHei"/>
                <a:cs typeface="Microsoft JhengHei"/>
              </a:rPr>
              <a:t>寫入防護與稽核</a:t>
            </a:r>
          </a:p>
        </p:txBody>
      </p:sp>
      <p:sp>
        <p:nvSpPr>
          <p:cNvPr id="353" name="Google Shape;353;p11">
            <a:extLst xmlns:a="http://schemas.openxmlformats.org/drawingml/2006/main">
              <a:ext uri="{FF2B5EF4-FFF2-40B4-BE49-F238E27FC236}">
                <a16:creationId xmlns:a16="http://schemas.microsoft.com/office/drawing/2014/main" id="{1FF3FA9E-AB4A-4601-BA92-FB39471F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975" y="2076975"/>
            <a:ext cx="3378900" cy="9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18275" rIns="45700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800"/>
              <a:buFont typeface="Microsoft JhengHei"/>
              <a:buNone/>
            </a:pPr>
            <a:r>
              <a:rPr sz="1500" b="0" i="0" u="none" cap="none">
                <a:solidFill>
                  <a:srgbClr val="F3F6F8"/>
                </a:solidFill>
                <a:latin typeface="Microsoft JhengHei"/>
                <a:ea typeface="Microsoft JhengHei"/>
                <a:cs typeface="Microsoft JhengHei"/>
              </a:rPr>
              <a:t>class / ReID / quality / duplicate 全通過才寫入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800"/>
              <a:buFont typeface="Microsoft JhengHei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800"/>
              <a:buFont typeface="Microsoft JhengHei"/>
              <a:buNone/>
            </a:pPr>
            <a:r>
              <a:rPr sz="1500" b="1" i="0" u="sng" cap="none">
                <a:solidFill>
                  <a:srgbClr val="F3F6F8"/>
                </a:solidFill>
                <a:latin typeface="Microsoft JhengHei"/>
                <a:ea typeface="Microsoft JhengHei"/>
                <a:cs typeface="Microsoft JhengHei"/>
              </a:rPr>
              <a:t>保留 provenance 與 decision reason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800"/>
              <a:buFont typeface="Microsoft JhengHei"/>
              <a:buNone/>
            </a:pPr>
            <a:r>
              <a:rPr sz="1500" b="0" i="0" u="none" cap="none">
                <a:solidFill>
                  <a:srgbClr val="F3F6F8"/>
                </a:solidFill>
                <a:latin typeface="Microsoft JhengHei"/>
                <a:ea typeface="Microsoft JhengHei"/>
                <a:cs typeface="Microsoft JhengHei"/>
              </a:rPr>
              <a:t>疑似污染可隔離或撤銷</a:t>
            </a:r>
          </a:p>
        </p:txBody>
      </p:sp>
      <p:sp>
        <p:nvSpPr>
          <p:cNvPr id="354" name="Google Shape;354;p11">
            <a:extLst xmlns:a="http://schemas.openxmlformats.org/drawingml/2006/main">
              <a:ext uri="{FF2B5EF4-FFF2-40B4-BE49-F238E27FC236}">
                <a16:creationId xmlns:a16="http://schemas.microsoft.com/office/drawing/2014/main" id="{898D177F-4263-4D00-85E8-72CC03A3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900" y="6028350"/>
            <a:ext cx="767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B25"/>
          </a:solidFill>
          <a:ln xmlns:a="http://schemas.openxmlformats.org/drawingml/2006/main" w="16825" cmpd="sng">
            <a:solidFill>
              <a:srgbClr val="FF5B1A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4211" dist="25421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101050" tIns="50500" rIns="101050" bIns="505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55" name="Google Shape;355;p11">
            <a:extLst xmlns:a="http://schemas.openxmlformats.org/drawingml/2006/main">
              <a:ext uri="{FF2B5EF4-FFF2-40B4-BE49-F238E27FC236}">
                <a16:creationId xmlns:a16="http://schemas.microsoft.com/office/drawing/2014/main" id="{FA7939F8-BFED-410A-BAB9-6DE31246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860" y="6103633"/>
            <a:ext cx="9197100" cy="32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0200" tIns="20200" rIns="20200" bIns="202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858"/>
              <a:buFont typeface="Microsoft JhengHei"/>
              <a:buNone/>
            </a:pPr>
            <a:r>
              <a:rPr sz="1858" b="1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Gallery 越乾淨、決策越可追溯，GID reacquire 就越可靠</a:t>
            </a:r>
          </a:p>
        </p:txBody>
      </p:sp>
      <p:pic>
        <p:nvPicPr>
          <p:cNvPr id="379" name="Google Shape;356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18cced206a451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4050" y="1467443"/>
            <a:ext cx="457201" cy="4572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0" name="Google Shape;357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5da0c3f13c4bd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645142" y="1513317"/>
            <a:ext cx="384050" cy="384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1" name="Google Shape;358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6684750b7a24a6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77325" y="1513326"/>
            <a:ext cx="457201" cy="4572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2" name="Google Shape;359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37eb6c5149451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2100" y="3587362"/>
            <a:ext cx="3421274" cy="171063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3" name="Google Shape;36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e90737b1714f1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89125" y="3587350"/>
            <a:ext cx="3428998" cy="1881613"/>
          </a:xfrm>
          <a:prstGeom xmlns:a="http://schemas.openxmlformats.org/drawingml/2006/main" prst="rect">
            <a:avLst/>
          </a:prstGeom>
          <a:ln xmlns:a="http://schemas.openxmlformats.org/drawingml/2006/main" w="15225" cap="flat" cmpd="sng">
            <a:solidFill>
              <a:srgbClr val="FF5B1A"/>
            </a:solidFill>
            <a:prstDash val="solid"/>
            <a:round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</p:pic>
      <p:pic>
        <p:nvPicPr>
          <p:cNvPr id="384" name="Google Shape;361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35c62d33ffa457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83900" y="3587350"/>
            <a:ext cx="3421286" cy="1881625"/>
          </a:xfrm>
          <a:prstGeom xmlns:a="http://schemas.openxmlformats.org/drawingml/2006/main" prst="rect">
            <a:avLst/>
          </a:prstGeom>
          <a:ln xmlns:a="http://schemas.openxmlformats.org/drawingml/2006/main" w="15225" cap="flat" cmpd="sng">
            <a:solidFill>
              <a:srgbClr val="22EC9C"/>
            </a:solidFill>
            <a:prstDash val="solid"/>
            <a:round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57317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7" name="Google Shape;367;p12">
            <a:extLst xmlns:a="http://schemas.openxmlformats.org/drawingml/2006/main">
              <a:ext uri="{FF2B5EF4-FFF2-40B4-BE49-F238E27FC236}">
                <a16:creationId xmlns:a16="http://schemas.microsoft.com/office/drawing/2014/main" id="{A66358C7-1C71-4095-8572-063D7FBD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68" name="Google Shape;368;p12">
            <a:extLst xmlns:a="http://schemas.openxmlformats.org/drawingml/2006/main">
              <a:ext uri="{FF2B5EF4-FFF2-40B4-BE49-F238E27FC236}">
                <a16:creationId xmlns:a16="http://schemas.microsoft.com/office/drawing/2014/main" id="{8BD76014-A295-4D12-AF6D-C332464D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69" name="Google Shape;369;p12">
            <a:extLst xmlns:a="http://schemas.openxmlformats.org/drawingml/2006/main">
              <a:ext uri="{FF2B5EF4-FFF2-40B4-BE49-F238E27FC236}">
                <a16:creationId xmlns:a16="http://schemas.microsoft.com/office/drawing/2014/main" id="{FA0E972A-3776-46DB-B0C8-D1E65E63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70" name="Google Shape;370;p12">
            <a:extLst xmlns:a="http://schemas.openxmlformats.org/drawingml/2006/main">
              <a:ext uri="{FF2B5EF4-FFF2-40B4-BE49-F238E27FC236}">
                <a16:creationId xmlns:a16="http://schemas.microsoft.com/office/drawing/2014/main" id="{D8FBD910-A696-475D-B915-E66B45AB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71" name="Google Shape;371;p12">
            <a:extLst xmlns:a="http://schemas.openxmlformats.org/drawingml/2006/main">
              <a:ext uri="{FF2B5EF4-FFF2-40B4-BE49-F238E27FC236}">
                <a16:creationId xmlns:a16="http://schemas.microsoft.com/office/drawing/2014/main" id="{82B3B3A5-1EA3-4121-BD68-D3715000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72" name="Google Shape;372;p12">
            <a:extLst xmlns:a="http://schemas.openxmlformats.org/drawingml/2006/main">
              <a:ext uri="{FF2B5EF4-FFF2-40B4-BE49-F238E27FC236}">
                <a16:creationId xmlns:a16="http://schemas.microsoft.com/office/drawing/2014/main" id="{4748E4F2-C686-41C8-9983-F28118E329B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1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sp>
        <p:nvSpPr>
          <p:cNvPr id="373" name="Google Shape;373;p12">
            <a:extLst xmlns:a="http://schemas.openxmlformats.org/drawingml/2006/main">
              <a:ext uri="{FF2B5EF4-FFF2-40B4-BE49-F238E27FC236}">
                <a16:creationId xmlns:a16="http://schemas.microsoft.com/office/drawing/2014/main" id="{9F1FCD53-1611-4C17-88C0-531AEEAF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333" y="684687"/>
            <a:ext cx="9635009" cy="5564404"/>
          </a:xfrm>
          <a:custGeom xmlns:a="http://schemas.openxmlformats.org/drawingml/2006/main">
            <a:rect l="l" t="t" r="r" b="b"/>
            <a:pathLst>
              <a:path w="11139512" h="6433284">
                <a:moveTo>
                  <a:pt x="0" y="0"/>
                </a:moveTo>
                <a:lnTo>
                  <a:pt x="11139512" y="0"/>
                </a:lnTo>
                <a:lnTo>
                  <a:pt x="11139512" y="6433284"/>
                </a:lnTo>
                <a:lnTo>
                  <a:pt x="0" y="64332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84c6a6e5ed934fa6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374" name="Google Shape;374;p12">
            <a:extLst xmlns:a="http://schemas.openxmlformats.org/drawingml/2006/main">
              <a:ext uri="{FF2B5EF4-FFF2-40B4-BE49-F238E27FC236}">
                <a16:creationId xmlns:a16="http://schemas.microsoft.com/office/drawing/2014/main" id="{5D684699-319E-4223-A647-AAA5D4D7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333" y="684687"/>
            <a:ext cx="2112924" cy="1558177"/>
          </a:xfrm>
          <a:custGeom xmlns:a="http://schemas.openxmlformats.org/drawingml/2006/main">
            <a:rect l="l" t="t" r="r" b="b"/>
            <a:pathLst>
              <a:path w="643776" h="474753">
                <a:moveTo>
                  <a:pt x="0" y="0"/>
                </a:moveTo>
                <a:lnTo>
                  <a:pt x="643776" y="0"/>
                </a:lnTo>
                <a:lnTo>
                  <a:pt x="643776" y="474753"/>
                </a:lnTo>
                <a:lnTo>
                  <a:pt x="0" y="47475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900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5" name="Google Shape;375;p12">
            <a:extLst xmlns:a="http://schemas.openxmlformats.org/drawingml/2006/main">
              <a:ext uri="{FF2B5EF4-FFF2-40B4-BE49-F238E27FC236}">
                <a16:creationId xmlns:a16="http://schemas.microsoft.com/office/drawing/2014/main" id="{3D4F5362-4D43-4024-9FA8-5A3AF92F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333" y="528378"/>
            <a:ext cx="2113003" cy="1714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75" tIns="43875" rIns="43875" bIns="438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6"/>
              <a:buFont typeface="Arial"/>
              <a:buNone/>
            </a:pPr>
            <a:r>
              <a:t/>
            </a:r>
          </a:p>
        </p:txBody>
      </p:sp>
      <p:sp>
        <p:nvSpPr>
          <p:cNvPr id="376" name="Google Shape;376;p12">
            <a:extLst xmlns:a="http://schemas.openxmlformats.org/drawingml/2006/main">
              <a:ext uri="{FF2B5EF4-FFF2-40B4-BE49-F238E27FC236}">
                <a16:creationId xmlns:a16="http://schemas.microsoft.com/office/drawing/2014/main" id="{740DBA49-AF20-4750-AD4D-F5BF2C86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202" y="684687"/>
            <a:ext cx="3499797" cy="1558177"/>
          </a:xfrm>
          <a:custGeom xmlns:a="http://schemas.openxmlformats.org/drawingml/2006/main">
            <a:rect l="l" t="t" r="r" b="b"/>
            <a:pathLst>
              <a:path w="1066335" h="474753">
                <a:moveTo>
                  <a:pt x="0" y="0"/>
                </a:moveTo>
                <a:lnTo>
                  <a:pt x="1066335" y="0"/>
                </a:lnTo>
                <a:lnTo>
                  <a:pt x="1066335" y="474753"/>
                </a:lnTo>
                <a:lnTo>
                  <a:pt x="0" y="47475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900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7" name="Google Shape;377;p12">
            <a:extLst xmlns:a="http://schemas.openxmlformats.org/drawingml/2006/main">
              <a:ext uri="{FF2B5EF4-FFF2-40B4-BE49-F238E27FC236}">
                <a16:creationId xmlns:a16="http://schemas.microsoft.com/office/drawing/2014/main" id="{04B8A1EC-58BE-4ED6-B5D5-512C38CA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202" y="528378"/>
            <a:ext cx="3499353" cy="1714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75" tIns="43875" rIns="43875" bIns="438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6"/>
              <a:buFont typeface="Arial"/>
              <a:buNone/>
            </a:pPr>
            <a:r>
              <a:t/>
            </a:r>
          </a:p>
        </p:txBody>
      </p:sp>
      <p:sp>
        <p:nvSpPr>
          <p:cNvPr id="378" name="Google Shape;378;p12">
            <a:extLst xmlns:a="http://schemas.openxmlformats.org/drawingml/2006/main">
              <a:ext uri="{FF2B5EF4-FFF2-40B4-BE49-F238E27FC236}">
                <a16:creationId xmlns:a16="http://schemas.microsoft.com/office/drawing/2014/main" id="{7CA2763E-5EF2-49D0-ADAF-F5AF5FD8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0908" y="684687"/>
            <a:ext cx="2091463" cy="1558177"/>
          </a:xfrm>
          <a:custGeom xmlns:a="http://schemas.openxmlformats.org/drawingml/2006/main">
            <a:rect l="l" t="t" r="r" b="b"/>
            <a:pathLst>
              <a:path w="637237" h="474753">
                <a:moveTo>
                  <a:pt x="0" y="0"/>
                </a:moveTo>
                <a:lnTo>
                  <a:pt x="637237" y="0"/>
                </a:lnTo>
                <a:lnTo>
                  <a:pt x="637237" y="474753"/>
                </a:lnTo>
                <a:lnTo>
                  <a:pt x="0" y="47475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900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9" name="Google Shape;379;p12">
            <a:extLst xmlns:a="http://schemas.openxmlformats.org/drawingml/2006/main">
              <a:ext uri="{FF2B5EF4-FFF2-40B4-BE49-F238E27FC236}">
                <a16:creationId xmlns:a16="http://schemas.microsoft.com/office/drawing/2014/main" id="{F9387AB6-88FF-42D6-9333-6EDC4640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0908" y="528378"/>
            <a:ext cx="2091342" cy="1714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75" tIns="43875" rIns="43875" bIns="438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6"/>
              <a:buFont typeface="Arial"/>
              <a:buNone/>
            </a:pPr>
            <a:r>
              <a:t/>
            </a:r>
          </a:p>
        </p:txBody>
      </p:sp>
      <p:sp>
        <p:nvSpPr>
          <p:cNvPr id="380" name="Google Shape;380;p12">
            <a:extLst xmlns:a="http://schemas.openxmlformats.org/drawingml/2006/main">
              <a:ext uri="{FF2B5EF4-FFF2-40B4-BE49-F238E27FC236}">
                <a16:creationId xmlns:a16="http://schemas.microsoft.com/office/drawing/2014/main" id="{C3A45DB7-FB2C-46DD-87C0-8CEBB3F8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348" y="684687"/>
            <a:ext cx="1934956" cy="5561036"/>
          </a:xfrm>
          <a:custGeom xmlns:a="http://schemas.openxmlformats.org/drawingml/2006/main">
            <a:rect l="l" t="t" r="r" b="b"/>
            <a:pathLst>
              <a:path w="589552" h="1694363">
                <a:moveTo>
                  <a:pt x="0" y="0"/>
                </a:moveTo>
                <a:lnTo>
                  <a:pt x="589552" y="0"/>
                </a:lnTo>
                <a:lnTo>
                  <a:pt x="589552" y="1694363"/>
                </a:lnTo>
                <a:lnTo>
                  <a:pt x="0" y="16943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900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1" name="Google Shape;381;p12">
            <a:extLst xmlns:a="http://schemas.openxmlformats.org/drawingml/2006/main">
              <a:ext uri="{FF2B5EF4-FFF2-40B4-BE49-F238E27FC236}">
                <a16:creationId xmlns:a16="http://schemas.microsoft.com/office/drawing/2014/main" id="{F6529382-1309-4680-85B9-6C027631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348" y="528378"/>
            <a:ext cx="1934786" cy="571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75" tIns="43875" rIns="43875" bIns="438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6"/>
              <a:buFont typeface="Arial"/>
              <a:buNone/>
            </a:pPr>
            <a:r>
              <a:t/>
            </a:r>
          </a:p>
        </p:txBody>
      </p:sp>
      <p:sp>
        <p:nvSpPr>
          <p:cNvPr id="382" name="Google Shape;382;p12">
            <a:extLst xmlns:a="http://schemas.openxmlformats.org/drawingml/2006/main">
              <a:ext uri="{FF2B5EF4-FFF2-40B4-BE49-F238E27FC236}">
                <a16:creationId xmlns:a16="http://schemas.microsoft.com/office/drawing/2014/main" id="{974CCC80-3DD6-4537-9B00-79586704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766" y="168449"/>
            <a:ext cx="1975933" cy="409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sz="2241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來源選擇</a:t>
            </a:r>
          </a:p>
        </p:txBody>
      </p:sp>
      <p:sp>
        <p:nvSpPr>
          <p:cNvPr id="383" name="Google Shape;383;p12">
            <a:extLst xmlns:a="http://schemas.openxmlformats.org/drawingml/2006/main">
              <a:ext uri="{FF2B5EF4-FFF2-40B4-BE49-F238E27FC236}">
                <a16:creationId xmlns:a16="http://schemas.microsoft.com/office/drawing/2014/main" id="{44370B0A-527C-4B2D-959A-FDEF662C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1" y="168449"/>
            <a:ext cx="1317288" cy="409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sz="2241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即時追蹤</a:t>
            </a:r>
          </a:p>
        </p:txBody>
      </p:sp>
      <p:sp>
        <p:nvSpPr>
          <p:cNvPr id="384" name="Google Shape;384;p12">
            <a:extLst xmlns:a="http://schemas.openxmlformats.org/drawingml/2006/main">
              <a:ext uri="{FF2B5EF4-FFF2-40B4-BE49-F238E27FC236}">
                <a16:creationId xmlns:a16="http://schemas.microsoft.com/office/drawing/2014/main" id="{93520D1E-9C85-4A04-BB88-E78CE2FC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944" y="168449"/>
            <a:ext cx="1317288" cy="409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sz="2241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構圖預覽</a:t>
            </a:r>
          </a:p>
        </p:txBody>
      </p:sp>
      <p:sp>
        <p:nvSpPr>
          <p:cNvPr id="385" name="Google Shape;385;p12">
            <a:extLst xmlns:a="http://schemas.openxmlformats.org/drawingml/2006/main">
              <a:ext uri="{FF2B5EF4-FFF2-40B4-BE49-F238E27FC236}">
                <a16:creationId xmlns:a16="http://schemas.microsoft.com/office/drawing/2014/main" id="{CD24D9D0-F0F6-46A4-8F36-905B3AB8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7857" y="168449"/>
            <a:ext cx="1283864" cy="409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sz="2241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GID / ReID</a:t>
            </a:r>
          </a:p>
        </p:txBody>
      </p:sp>
      <p:sp>
        <p:nvSpPr>
          <p:cNvPr id="386" name="Google Shape;386;p12">
            <a:extLst xmlns:a="http://schemas.openxmlformats.org/drawingml/2006/main">
              <a:ext uri="{FF2B5EF4-FFF2-40B4-BE49-F238E27FC236}">
                <a16:creationId xmlns:a16="http://schemas.microsoft.com/office/drawing/2014/main" id="{AF6D93AE-D28C-4317-9B42-2C1DC2C8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328" y="2703723"/>
            <a:ext cx="3862862" cy="3541956"/>
          </a:xfrm>
          <a:custGeom xmlns:a="http://schemas.openxmlformats.org/drawingml/2006/main">
            <a:rect l="l" t="t" r="r" b="b"/>
            <a:pathLst>
              <a:path w="1156093" h="1079180">
                <a:moveTo>
                  <a:pt x="0" y="0"/>
                </a:moveTo>
                <a:lnTo>
                  <a:pt x="1156093" y="0"/>
                </a:lnTo>
                <a:lnTo>
                  <a:pt x="1156093" y="1079180"/>
                </a:lnTo>
                <a:lnTo>
                  <a:pt x="0" y="10791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900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7" name="Google Shape;387;p12">
            <a:extLst xmlns:a="http://schemas.openxmlformats.org/drawingml/2006/main">
              <a:ext uri="{FF2B5EF4-FFF2-40B4-BE49-F238E27FC236}">
                <a16:creationId xmlns:a16="http://schemas.microsoft.com/office/drawing/2014/main" id="{82EE9189-75C5-4228-8138-2CC9371F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328" y="2547414"/>
            <a:ext cx="3863219" cy="3698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75" tIns="43875" rIns="43875" bIns="438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6"/>
              <a:buFont typeface="Arial"/>
              <a:buNone/>
            </a:pPr>
            <a:r>
              <a:t/>
            </a:r>
          </a:p>
        </p:txBody>
      </p:sp>
      <p:sp>
        <p:nvSpPr>
          <p:cNvPr id="388" name="Google Shape;388;p12">
            <a:extLst xmlns:a="http://schemas.openxmlformats.org/drawingml/2006/main">
              <a:ext uri="{FF2B5EF4-FFF2-40B4-BE49-F238E27FC236}">
                <a16:creationId xmlns:a16="http://schemas.microsoft.com/office/drawing/2014/main" id="{B5E6D150-58EE-40DE-82A0-F6B3EA59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166" y="6344394"/>
            <a:ext cx="3622544" cy="409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sz="2241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選定目標前畫面</a:t>
            </a:r>
          </a:p>
        </p:txBody>
      </p:sp>
      <p:sp>
        <p:nvSpPr>
          <p:cNvPr id="389" name="Google Shape;389;p12">
            <a:extLst xmlns:a="http://schemas.openxmlformats.org/drawingml/2006/main">
              <a:ext uri="{FF2B5EF4-FFF2-40B4-BE49-F238E27FC236}">
                <a16:creationId xmlns:a16="http://schemas.microsoft.com/office/drawing/2014/main" id="{016195CA-2E33-4C6E-94EF-306EB7ED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9942" y="6344394"/>
            <a:ext cx="1646611" cy="819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sz="2241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追蹤與構圖輸出</a:t>
            </a:r>
          </a:p>
        </p:txBody>
      </p:sp>
      <p:sp>
        <p:nvSpPr>
          <p:cNvPr id="390" name="Google Shape;390;p12">
            <a:extLst xmlns:a="http://schemas.openxmlformats.org/drawingml/2006/main">
              <a:ext uri="{FF2B5EF4-FFF2-40B4-BE49-F238E27FC236}">
                <a16:creationId xmlns:a16="http://schemas.microsoft.com/office/drawing/2014/main" id="{46DD2B3E-E4E9-454F-8A0F-21D1816F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132" y="2703719"/>
            <a:ext cx="3794390" cy="3541956"/>
          </a:xfrm>
          <a:custGeom xmlns:a="http://schemas.openxmlformats.org/drawingml/2006/main">
            <a:rect l="l" t="t" r="r" b="b"/>
            <a:pathLst>
              <a:path w="1156093" h="1079180">
                <a:moveTo>
                  <a:pt x="0" y="0"/>
                </a:moveTo>
                <a:lnTo>
                  <a:pt x="1156093" y="0"/>
                </a:lnTo>
                <a:lnTo>
                  <a:pt x="1156093" y="1079180"/>
                </a:lnTo>
                <a:lnTo>
                  <a:pt x="0" y="10791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900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1" name="Google Shape;391;p12">
            <a:extLst xmlns:a="http://schemas.openxmlformats.org/drawingml/2006/main">
              <a:ext uri="{FF2B5EF4-FFF2-40B4-BE49-F238E27FC236}">
                <a16:creationId xmlns:a16="http://schemas.microsoft.com/office/drawing/2014/main" id="{F69BBEC9-4835-4978-ADAA-FC1F459D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132" y="2547410"/>
            <a:ext cx="3794742" cy="3698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3875" tIns="43875" rIns="43875" bIns="438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6"/>
              <a:buFont typeface="Arial"/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189304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7" name="Google Shape;397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1e0d08efa840c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28750" y="1066800"/>
            <a:ext cx="9334500" cy="5638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98" name="Google Shape;398;p13">
            <a:extLst xmlns:a="http://schemas.openxmlformats.org/drawingml/2006/main">
              <a:ext uri="{FF2B5EF4-FFF2-40B4-BE49-F238E27FC236}">
                <a16:creationId xmlns:a16="http://schemas.microsoft.com/office/drawing/2014/main" id="{8FC85049-572E-44C4-BEEB-3C0A6D63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399" name="Google Shape;399;p13">
            <a:extLst xmlns:a="http://schemas.openxmlformats.org/drawingml/2006/main">
              <a:ext uri="{FF2B5EF4-FFF2-40B4-BE49-F238E27FC236}">
                <a16:creationId xmlns:a16="http://schemas.microsoft.com/office/drawing/2014/main" id="{2CA75BDF-8A69-4668-8D3A-CCE75DC7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00" name="Google Shape;400;p13">
            <a:extLst xmlns:a="http://schemas.openxmlformats.org/drawingml/2006/main">
              <a:ext uri="{FF2B5EF4-FFF2-40B4-BE49-F238E27FC236}">
                <a16:creationId xmlns:a16="http://schemas.microsoft.com/office/drawing/2014/main" id="{A3AD45F7-0FD2-467C-A39B-16DBE0B9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01" name="Google Shape;401;p13">
            <a:extLst xmlns:a="http://schemas.openxmlformats.org/drawingml/2006/main">
              <a:ext uri="{FF2B5EF4-FFF2-40B4-BE49-F238E27FC236}">
                <a16:creationId xmlns:a16="http://schemas.microsoft.com/office/drawing/2014/main" id="{248A40F0-7835-416F-A64A-A8CCC8B6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02" name="Google Shape;402;p13">
            <a:extLst xmlns:a="http://schemas.openxmlformats.org/drawingml/2006/main">
              <a:ext uri="{FF2B5EF4-FFF2-40B4-BE49-F238E27FC236}">
                <a16:creationId xmlns:a16="http://schemas.microsoft.com/office/drawing/2014/main" id="{72BD2A93-2CBB-4EAC-BB0D-87C16D8B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03" name="Google Shape;403;p13">
            <a:extLst xmlns:a="http://schemas.openxmlformats.org/drawingml/2006/main">
              <a:ext uri="{FF2B5EF4-FFF2-40B4-BE49-F238E27FC236}">
                <a16:creationId xmlns:a16="http://schemas.microsoft.com/office/drawing/2014/main" id="{39A49769-0C0E-4DA2-9E88-53719A5F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000" cy="21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11 DESKTOP DEMO</a:t>
            </a:r>
          </a:p>
        </p:txBody>
      </p:sp>
      <p:sp>
        <p:nvSpPr>
          <p:cNvPr id="404" name="Google Shape;404;p13">
            <a:extLst xmlns:a="http://schemas.openxmlformats.org/drawingml/2006/main">
              <a:ext uri="{FF2B5EF4-FFF2-40B4-BE49-F238E27FC236}">
                <a16:creationId xmlns:a16="http://schemas.microsoft.com/office/drawing/2014/main" id="{1BCA2DB3-480C-4DB7-AE6A-F72733AB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607100" cy="43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2400"/>
              <a:buFont typeface="Microsoft JhengHei"/>
              <a:buNone/>
            </a:pPr>
            <a:r>
              <a:rPr sz="24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Demo：Desktop 的目標建立與追蹤流程</a:t>
            </a:r>
          </a:p>
        </p:txBody>
      </p:sp>
      <p:sp>
        <p:nvSpPr>
          <p:cNvPr id="405" name="Google Shape;405;p13">
            <a:extLst xmlns:a="http://schemas.openxmlformats.org/drawingml/2006/main">
              <a:ext uri="{FF2B5EF4-FFF2-40B4-BE49-F238E27FC236}">
                <a16:creationId xmlns:a16="http://schemas.microsoft.com/office/drawing/2014/main" id="{E760DA08-73BA-4008-8C30-4AFDB2A24D1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1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sp>
        <p:nvSpPr>
          <p:cNvPr id="406" name="Google Shape;406;p13">
            <a:extLst xmlns:a="http://schemas.openxmlformats.org/drawingml/2006/main">
              <a:ext uri="{FF2B5EF4-FFF2-40B4-BE49-F238E27FC236}">
                <a16:creationId xmlns:a16="http://schemas.microsoft.com/office/drawing/2014/main" id="{D7E0A9C7-C613-4729-A10C-BEEF7195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2475" y="4828200"/>
            <a:ext cx="3000000" cy="4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 i="0" u="sng" cap="none">
                <a:solidFill>
                  <a:srgbClr val="CC0000"/>
                </a:solidFill>
                <a:latin typeface="Arial"/>
                <a:ea typeface="Arial"/>
                <a:cs typeface="Arial"/>
              </a:rPr>
              <a:t>1. 選模型，啟動追蹤</a:t>
            </a:r>
          </a:p>
        </p:txBody>
      </p:sp>
      <p:sp>
        <p:nvSpPr>
          <p:cNvPr id="407" name="Google Shape;407;p13">
            <a:extLst xmlns:a="http://schemas.openxmlformats.org/drawingml/2006/main">
              <a:ext uri="{FF2B5EF4-FFF2-40B4-BE49-F238E27FC236}">
                <a16:creationId xmlns:a16="http://schemas.microsoft.com/office/drawing/2014/main" id="{92EFEF08-E582-4E15-BBAE-7DEACCCF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759255" y="2665522"/>
            <a:ext cx="3259303" cy="186750"/>
          </a:xfrm>
          <a:custGeom xmlns:a="http://schemas.openxmlformats.org/drawingml/2006/main">
            <a:rect l="l" t="t" r="r" b="b"/>
            <a:pathLst>
              <a:path w="1372165" h="78622">
                <a:moveTo>
                  <a:pt x="0" y="0"/>
                </a:moveTo>
                <a:lnTo>
                  <a:pt x="1372165" y="0"/>
                </a:lnTo>
                <a:lnTo>
                  <a:pt x="1372165" y="78622"/>
                </a:lnTo>
                <a:lnTo>
                  <a:pt x="0" y="786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825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8" name="Google Shape;408;p13">
            <a:extLst xmlns:a="http://schemas.openxmlformats.org/drawingml/2006/main">
              <a:ext uri="{FF2B5EF4-FFF2-40B4-BE49-F238E27FC236}">
                <a16:creationId xmlns:a16="http://schemas.microsoft.com/office/drawing/2014/main" id="{CD5988B1-3A3E-4671-B03A-6E97BECC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759255" y="2552399"/>
            <a:ext cx="3259386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1775" tIns="31775" rIns="31775" bIns="317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6"/>
              <a:buFont typeface="Arial"/>
              <a:buNone/>
            </a:pPr>
            <a:r>
              <a:t/>
            </a:r>
          </a:p>
        </p:txBody>
      </p:sp>
      <p:sp>
        <p:nvSpPr>
          <p:cNvPr id="409" name="Google Shape;409;p13">
            <a:extLst xmlns:a="http://schemas.openxmlformats.org/drawingml/2006/main">
              <a:ext uri="{FF2B5EF4-FFF2-40B4-BE49-F238E27FC236}">
                <a16:creationId xmlns:a16="http://schemas.microsoft.com/office/drawing/2014/main" id="{1983B3F2-85CD-444F-B404-121D989D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8775" y="2201658"/>
            <a:ext cx="2515800" cy="481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9"/>
              <a:buFont typeface="Arial"/>
              <a:buNone/>
            </a:pPr>
            <a:r>
              <a:rPr sz="1399" b="1" i="0" u="sng" cap="none">
                <a:solidFill>
                  <a:srgbClr val="CC0000"/>
                </a:solidFill>
                <a:latin typeface="Arial"/>
                <a:ea typeface="Arial"/>
                <a:cs typeface="Arial"/>
              </a:rPr>
              <a:t>2. 點 bbox 建立 GID</a:t>
            </a:r>
          </a:p>
        </p:txBody>
      </p:sp>
      <p:sp>
        <p:nvSpPr>
          <p:cNvPr id="410" name="Google Shape;410;p13">
            <a:extLst xmlns:a="http://schemas.openxmlformats.org/drawingml/2006/main">
              <a:ext uri="{FF2B5EF4-FFF2-40B4-BE49-F238E27FC236}">
                <a16:creationId xmlns:a16="http://schemas.microsoft.com/office/drawing/2014/main" id="{51435B5F-DB64-483E-BF97-48B1E780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263" y="3766976"/>
            <a:ext cx="3259382" cy="197596"/>
          </a:xfrm>
          <a:custGeom xmlns:a="http://schemas.openxmlformats.org/drawingml/2006/main">
            <a:rect l="l" t="t" r="r" b="b"/>
            <a:pathLst>
              <a:path w="1160790" h="57165">
                <a:moveTo>
                  <a:pt x="0" y="0"/>
                </a:moveTo>
                <a:lnTo>
                  <a:pt x="1160790" y="0"/>
                </a:lnTo>
                <a:lnTo>
                  <a:pt x="1160790" y="57165"/>
                </a:lnTo>
                <a:lnTo>
                  <a:pt x="0" y="571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200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1" name="Google Shape;411;p13">
            <a:extLst xmlns:a="http://schemas.openxmlformats.org/drawingml/2006/main">
              <a:ext uri="{FF2B5EF4-FFF2-40B4-BE49-F238E27FC236}">
                <a16:creationId xmlns:a16="http://schemas.microsoft.com/office/drawing/2014/main" id="{D90CB927-4E92-4733-BE1C-4860C1EA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263" y="3602356"/>
            <a:ext cx="3259129" cy="36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7575" tIns="37575" rIns="37575" bIns="375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1"/>
              <a:buFont typeface="Arial"/>
              <a:buNone/>
            </a:pPr>
            <a:r>
              <a:t/>
            </a:r>
          </a:p>
        </p:txBody>
      </p:sp>
      <p:sp>
        <p:nvSpPr>
          <p:cNvPr id="412" name="Google Shape;412;p13">
            <a:extLst xmlns:a="http://schemas.openxmlformats.org/drawingml/2006/main">
              <a:ext uri="{FF2B5EF4-FFF2-40B4-BE49-F238E27FC236}">
                <a16:creationId xmlns:a16="http://schemas.microsoft.com/office/drawing/2014/main" id="{77756790-6DEC-477F-93BA-6DDFCA66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747" y="5721767"/>
            <a:ext cx="1263821" cy="159754"/>
          </a:xfrm>
          <a:custGeom xmlns:a="http://schemas.openxmlformats.org/drawingml/2006/main">
            <a:rect l="l" t="t" r="r" b="b"/>
            <a:pathLst>
              <a:path w="661271" h="83593">
                <a:moveTo>
                  <a:pt x="0" y="0"/>
                </a:moveTo>
                <a:lnTo>
                  <a:pt x="661271" y="0"/>
                </a:lnTo>
                <a:lnTo>
                  <a:pt x="661271" y="83593"/>
                </a:lnTo>
                <a:lnTo>
                  <a:pt x="0" y="835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75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3" name="Google Shape;413;p13">
            <a:extLst xmlns:a="http://schemas.openxmlformats.org/drawingml/2006/main">
              <a:ext uri="{FF2B5EF4-FFF2-40B4-BE49-F238E27FC236}">
                <a16:creationId xmlns:a16="http://schemas.microsoft.com/office/drawing/2014/main" id="{5D0919A6-0EA5-4AE8-8FC9-5FF91FDE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747" y="5630751"/>
            <a:ext cx="1263685" cy="250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575" tIns="25575" rIns="25575" bIns="255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6"/>
              <a:buFont typeface="Arial"/>
              <a:buNone/>
            </a:pPr>
            <a:r>
              <a:t/>
            </a:r>
          </a:p>
        </p:txBody>
      </p:sp>
      <p:sp>
        <p:nvSpPr>
          <p:cNvPr id="414" name="Google Shape;414;p13">
            <a:extLst xmlns:a="http://schemas.openxmlformats.org/drawingml/2006/main">
              <a:ext uri="{FF2B5EF4-FFF2-40B4-BE49-F238E27FC236}">
                <a16:creationId xmlns:a16="http://schemas.microsoft.com/office/drawing/2014/main" id="{73DC6D95-C438-47AB-8F6E-C51E3CF6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5296" y="5404650"/>
            <a:ext cx="2011800" cy="438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</a:pPr>
            <a:r>
              <a:rPr sz="1199" b="1" i="0" u="sng" cap="none">
                <a:solidFill>
                  <a:srgbClr val="CC0000"/>
                </a:solidFill>
                <a:latin typeface="Arial"/>
                <a:ea typeface="Arial"/>
                <a:cs typeface="Arial"/>
              </a:rPr>
              <a:t>3. 通過 gate 才寫入</a:t>
            </a:r>
          </a:p>
        </p:txBody>
      </p:sp>
      <p:sp>
        <p:nvSpPr>
          <p:cNvPr id="415" name="Google Shape;415;p13">
            <a:extLst xmlns:a="http://schemas.openxmlformats.org/drawingml/2006/main">
              <a:ext uri="{FF2B5EF4-FFF2-40B4-BE49-F238E27FC236}">
                <a16:creationId xmlns:a16="http://schemas.microsoft.com/office/drawing/2014/main" id="{B9826E1F-B1F2-4AF1-93AF-D1A0E9FF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9950" y="3288838"/>
            <a:ext cx="3000000" cy="481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9"/>
              <a:buFont typeface="Arial"/>
              <a:buNone/>
            </a:pPr>
            <a:r>
              <a:rPr sz="1399" b="1" i="0" u="sng" cap="none">
                <a:solidFill>
                  <a:srgbClr val="CC0000"/>
                </a:solidFill>
                <a:latin typeface="Arial"/>
                <a:ea typeface="Arial"/>
                <a:cs typeface="Arial"/>
              </a:rPr>
              <a:t>SQLite identity data</a:t>
            </a:r>
          </a:p>
        </p:txBody>
      </p:sp>
    </p:spTree>
    <p:extLst>
      <p:ext uri="{BB962C8B-B14F-4D97-AF65-F5344CB8AC3E}">
        <p14:creationId xmlns:p14="http://schemas.microsoft.com/office/powerpoint/2010/main" val="17069638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1" name="Google Shape;421;p14">
            <a:extLst xmlns:a="http://schemas.openxmlformats.org/drawingml/2006/main">
              <a:ext uri="{FF2B5EF4-FFF2-40B4-BE49-F238E27FC236}">
                <a16:creationId xmlns:a16="http://schemas.microsoft.com/office/drawing/2014/main" id="{D02EBC9B-226D-4052-B81D-6756264B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22" name="Google Shape;422;p14">
            <a:extLst xmlns:a="http://schemas.openxmlformats.org/drawingml/2006/main">
              <a:ext uri="{FF2B5EF4-FFF2-40B4-BE49-F238E27FC236}">
                <a16:creationId xmlns:a16="http://schemas.microsoft.com/office/drawing/2014/main" id="{F00288C1-6A4B-4E73-80EA-FCA22588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23" name="Google Shape;423;p14">
            <a:extLst xmlns:a="http://schemas.openxmlformats.org/drawingml/2006/main">
              <a:ext uri="{FF2B5EF4-FFF2-40B4-BE49-F238E27FC236}">
                <a16:creationId xmlns:a16="http://schemas.microsoft.com/office/drawing/2014/main" id="{5F3F1F9A-ED54-46AF-ACD1-82E63BE8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24" name="Google Shape;424;p14">
            <a:extLst xmlns:a="http://schemas.openxmlformats.org/drawingml/2006/main">
              <a:ext uri="{FF2B5EF4-FFF2-40B4-BE49-F238E27FC236}">
                <a16:creationId xmlns:a16="http://schemas.microsoft.com/office/drawing/2014/main" id="{509DAEC9-CD86-4468-A032-BC0EC7DD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25" name="Google Shape;425;p14">
            <a:extLst xmlns:a="http://schemas.openxmlformats.org/drawingml/2006/main">
              <a:ext uri="{FF2B5EF4-FFF2-40B4-BE49-F238E27FC236}">
                <a16:creationId xmlns:a16="http://schemas.microsoft.com/office/drawing/2014/main" id="{A32808E7-19C8-4A32-B844-C3C73A0B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800" cy="109800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26" name="Google Shape;426;p14">
            <a:extLst xmlns:a="http://schemas.openxmlformats.org/drawingml/2006/main">
              <a:ext uri="{FF2B5EF4-FFF2-40B4-BE49-F238E27FC236}">
                <a16:creationId xmlns:a16="http://schemas.microsoft.com/office/drawing/2014/main" id="{016F6751-2B30-4D8F-B15F-9E649581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000" cy="21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12 END-TO-END DEMO</a:t>
            </a:r>
          </a:p>
        </p:txBody>
      </p:sp>
      <p:sp>
        <p:nvSpPr>
          <p:cNvPr id="427" name="Google Shape;427;p14">
            <a:extLst xmlns:a="http://schemas.openxmlformats.org/drawingml/2006/main">
              <a:ext uri="{FF2B5EF4-FFF2-40B4-BE49-F238E27FC236}">
                <a16:creationId xmlns:a16="http://schemas.microsoft.com/office/drawing/2014/main" id="{85E435A7-1010-4F3A-ABB3-0676BCBC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8368"/>
            <a:ext cx="104775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2400"/>
              <a:buFont typeface="Microsoft JhengHei"/>
              <a:buNone/>
            </a:pPr>
            <a:r>
              <a:rPr sz="24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Demo：Desktop 與 iPhone / DockKit 協同操作</a:t>
            </a:r>
          </a:p>
        </p:txBody>
      </p:sp>
      <p:sp>
        <p:nvSpPr>
          <p:cNvPr id="428" name="Google Shape;428;p14">
            <a:extLst xmlns:a="http://schemas.openxmlformats.org/drawingml/2006/main">
              <a:ext uri="{FF2B5EF4-FFF2-40B4-BE49-F238E27FC236}">
                <a16:creationId xmlns:a16="http://schemas.microsoft.com/office/drawing/2014/main" id="{F4D91DEF-7F8D-40FC-848F-E7D9223CB81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1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pic>
        <p:nvPicPr>
          <p:cNvPr id="438" name="Google Shape;429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b9888c70a3c460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95375" y="1143000"/>
            <a:ext cx="10001250" cy="5619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4309180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5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5" name="Google Shape;435;p15">
            <a:extLst xmlns:a="http://schemas.openxmlformats.org/drawingml/2006/main">
              <a:ext uri="{FF2B5EF4-FFF2-40B4-BE49-F238E27FC236}">
                <a16:creationId xmlns:a16="http://schemas.microsoft.com/office/drawing/2014/main" id="{56941A19-CE27-4D89-A1FE-C0CCD412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6FF"/>
              </a:buClr>
              <a:buSzPts val="700"/>
              <a:buFont typeface="Microsoft JhengHei"/>
              <a:buNone/>
            </a:pPr>
            <a:r>
              <a:rPr sz="700" b="1" i="0" u="none" cap="none">
                <a:solidFill>
                  <a:srgbClr val="00D6FF"/>
                </a:solidFill>
                <a:latin typeface="Microsoft JhengHei"/>
                <a:ea typeface="Microsoft JhengHei"/>
                <a:cs typeface="Microsoft JhengHei"/>
              </a:rPr>
              <a:t>13 TRACKING VS IDENTITY</a:t>
            </a:r>
          </a:p>
        </p:txBody>
      </p:sp>
      <p:sp>
        <p:nvSpPr>
          <p:cNvPr id="436" name="Google Shape;436;p15">
            <a:extLst xmlns:a="http://schemas.openxmlformats.org/drawingml/2006/main">
              <a:ext uri="{FF2B5EF4-FFF2-40B4-BE49-F238E27FC236}">
                <a16:creationId xmlns:a16="http://schemas.microsoft.com/office/drawing/2014/main" id="{0537C1E5-C12F-4248-A3A4-0792A05B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8961000" cy="43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2600"/>
              <a:buFont typeface="Microsoft JhengHei"/>
              <a:buNone/>
            </a:pPr>
            <a:r>
              <a:rPr sz="2600" b="1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從短期 track id 升級為可保存、可找回的 GID 身份</a:t>
            </a:r>
          </a:p>
        </p:txBody>
      </p:sp>
      <p:sp>
        <p:nvSpPr>
          <p:cNvPr id="437" name="Google Shape;437;p15">
            <a:extLst xmlns:a="http://schemas.openxmlformats.org/drawingml/2006/main">
              <a:ext uri="{FF2B5EF4-FFF2-40B4-BE49-F238E27FC236}">
                <a16:creationId xmlns:a16="http://schemas.microsoft.com/office/drawing/2014/main" id="{00038DE8-7C4E-45A1-B36F-554B575A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47472"/>
            <a:ext cx="109728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1A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38" name="Google Shape;438;p15">
            <a:extLst xmlns:a="http://schemas.openxmlformats.org/drawingml/2006/main">
              <a:ext uri="{FF2B5EF4-FFF2-40B4-BE49-F238E27FC236}">
                <a16:creationId xmlns:a16="http://schemas.microsoft.com/office/drawing/2014/main" id="{7744F01D-32BE-40C0-B584-A950678B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9768"/>
            <a:ext cx="123444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6FF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39" name="Google Shape;439;p15">
            <a:extLst xmlns:a="http://schemas.openxmlformats.org/drawingml/2006/main">
              <a:ext uri="{FF2B5EF4-FFF2-40B4-BE49-F238E27FC236}">
                <a16:creationId xmlns:a16="http://schemas.microsoft.com/office/drawing/2014/main" id="{9C9AF722-1559-4998-BF97-55844736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2064"/>
            <a:ext cx="105156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1A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40" name="Google Shape;440;p15">
            <a:extLst xmlns:a="http://schemas.openxmlformats.org/drawingml/2006/main">
              <a:ext uri="{FF2B5EF4-FFF2-40B4-BE49-F238E27FC236}">
                <a16:creationId xmlns:a16="http://schemas.microsoft.com/office/drawing/2014/main" id="{B71236A2-B67C-4B91-8ED6-84648D73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94360"/>
            <a:ext cx="9144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6FF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41" name="Google Shape;441;p15">
            <a:extLst xmlns:a="http://schemas.openxmlformats.org/drawingml/2006/main">
              <a:ext uri="{FF2B5EF4-FFF2-40B4-BE49-F238E27FC236}">
                <a16:creationId xmlns:a16="http://schemas.microsoft.com/office/drawing/2014/main" id="{3F8C2CBD-A645-4809-A882-20FDD2B1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257800" cy="20116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B25"/>
          </a:solidFill>
          <a:ln xmlns:a="http://schemas.openxmlformats.org/drawingml/2006/main" w="15225" cmpd="sng">
            <a:solidFill>
              <a:srgbClr val="FF5B1A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42" name="Google Shape;442;p15">
            <a:extLst xmlns:a="http://schemas.openxmlformats.org/drawingml/2006/main">
              <a:ext uri="{FF2B5EF4-FFF2-40B4-BE49-F238E27FC236}">
                <a16:creationId xmlns:a16="http://schemas.microsoft.com/office/drawing/2014/main" id="{72B18FA4-42A6-4565-8624-E2D30512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028" y="1746095"/>
            <a:ext cx="3200400" cy="34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B1A"/>
              </a:buClr>
              <a:buSzPts val="2000"/>
              <a:buFont typeface="Microsoft JhengHei"/>
              <a:buNone/>
            </a:pPr>
            <a:r>
              <a:rPr sz="2000" b="1" i="0" u="none" cap="none">
                <a:solidFill>
                  <a:srgbClr val="FF5B1A"/>
                </a:solidFill>
                <a:latin typeface="Microsoft JhengHei"/>
                <a:ea typeface="Microsoft JhengHei"/>
                <a:cs typeface="Microsoft JhengHei"/>
              </a:rPr>
              <a:t>Detector + Tracker</a:t>
            </a:r>
          </a:p>
        </p:txBody>
      </p:sp>
      <p:sp>
        <p:nvSpPr>
          <p:cNvPr id="443" name="Google Shape;443;p15">
            <a:extLst xmlns:a="http://schemas.openxmlformats.org/drawingml/2006/main">
              <a:ext uri="{FF2B5EF4-FFF2-40B4-BE49-F238E27FC236}">
                <a16:creationId xmlns:a16="http://schemas.microsoft.com/office/drawing/2014/main" id="{BC2CDAE3-196E-4A8F-BE8C-0C8828E9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107" y="2239871"/>
            <a:ext cx="4572000" cy="8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18275" rIns="45700" bIns="18275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3365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700"/>
              <a:buFont typeface="Microsoft JhengHei"/>
              <a:buChar char="●"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偵測車輛與 bbox 位置</a:t>
            </a:r>
          </a:p>
          <a:p xmlns:a="http://schemas.openxmlformats.org/drawingml/2006/main">
            <a:pPr marL="457200" marR="0" lvl="0" indent="-3365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700"/>
              <a:buFont typeface="Microsoft JhengHei"/>
              <a:buChar char="●"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以 LID 維持當前片段 continuity</a:t>
            </a:r>
          </a:p>
          <a:p xmlns:a="http://schemas.openxmlformats.org/drawingml/2006/main">
            <a:pPr marL="457200" marR="0" lvl="0" indent="-3365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700"/>
              <a:buFont typeface="Microsoft JhengHei"/>
              <a:buChar char="●"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適合短期追蹤，不保存長期身份</a:t>
            </a:r>
          </a:p>
        </p:txBody>
      </p:sp>
      <p:sp>
        <p:nvSpPr>
          <p:cNvPr id="444" name="Google Shape;444;p15">
            <a:extLst xmlns:a="http://schemas.openxmlformats.org/drawingml/2006/main">
              <a:ext uri="{FF2B5EF4-FFF2-40B4-BE49-F238E27FC236}">
                <a16:creationId xmlns:a16="http://schemas.microsoft.com/office/drawing/2014/main" id="{4C0A2C7D-1EF7-4E80-9959-04FE3D94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17320"/>
            <a:ext cx="5257800" cy="20116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B25"/>
          </a:solidFill>
          <a:ln xmlns:a="http://schemas.openxmlformats.org/drawingml/2006/main" w="15225" cmpd="sng">
            <a:solidFill>
              <a:srgbClr val="22EC9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45" name="Google Shape;445;p15">
            <a:extLst xmlns:a="http://schemas.openxmlformats.org/drawingml/2006/main">
              <a:ext uri="{FF2B5EF4-FFF2-40B4-BE49-F238E27FC236}">
                <a16:creationId xmlns:a16="http://schemas.microsoft.com/office/drawing/2014/main" id="{3A79269C-AA92-4652-A955-0F074701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8" y="1746082"/>
            <a:ext cx="3200400" cy="34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EC9C"/>
              </a:buClr>
              <a:buSzPts val="2000"/>
              <a:buFont typeface="Microsoft JhengHei"/>
              <a:buNone/>
            </a:pPr>
            <a:r>
              <a:rPr sz="2000" b="1" i="0" u="none" cap="none">
                <a:solidFill>
                  <a:srgbClr val="22EC9C"/>
                </a:solidFill>
                <a:latin typeface="Microsoft JhengHei"/>
                <a:ea typeface="Microsoft JhengHei"/>
                <a:cs typeface="Microsoft JhengHei"/>
              </a:rPr>
              <a:t>Tracker + GID / ReID</a:t>
            </a:r>
          </a:p>
        </p:txBody>
      </p:sp>
      <p:sp>
        <p:nvSpPr>
          <p:cNvPr id="446" name="Google Shape;446;p15">
            <a:extLst xmlns:a="http://schemas.openxmlformats.org/drawingml/2006/main">
              <a:ext uri="{FF2B5EF4-FFF2-40B4-BE49-F238E27FC236}">
                <a16:creationId xmlns:a16="http://schemas.microsoft.com/office/drawing/2014/main" id="{8F83322D-D543-4403-89DA-F7C9E333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8" y="2239858"/>
            <a:ext cx="4572000" cy="82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18275" rIns="45700" bIns="18275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3365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700"/>
              <a:buFont typeface="Microsoft JhengHei"/>
              <a:buChar char="●"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Detector 找候選，ReID 比對身份</a:t>
            </a:r>
          </a:p>
          <a:p xmlns:a="http://schemas.openxmlformats.org/drawingml/2006/main">
            <a:pPr marL="457200" marR="0" lvl="0" indent="-3365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700"/>
              <a:buFont typeface="Microsoft JhengHei"/>
              <a:buChar char="●"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GID 與 SQLite 保存長期身份</a:t>
            </a:r>
          </a:p>
          <a:p xmlns:a="http://schemas.openxmlformats.org/drawingml/2006/main">
            <a:pPr marL="457200" marR="0" lvl="0" indent="-3365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700"/>
              <a:buFont typeface="Microsoft JhengHei"/>
              <a:buChar char="●"/>
            </a:pPr>
            <a:r>
              <a:rPr sz="17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coasting、search 與 reacquire 負責找回</a:t>
            </a:r>
          </a:p>
        </p:txBody>
      </p:sp>
      <p:sp>
        <p:nvSpPr>
          <p:cNvPr id="447" name="Google Shape;447;p15">
            <a:extLst xmlns:a="http://schemas.openxmlformats.org/drawingml/2006/main">
              <a:ext uri="{FF2B5EF4-FFF2-40B4-BE49-F238E27FC236}">
                <a16:creationId xmlns:a16="http://schemas.microsoft.com/office/drawing/2014/main" id="{AF8C41FF-C712-4384-996C-654FC68F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1088136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E"/>
          </a:solidFill>
          <a:ln xmlns:a="http://schemas.openxmlformats.org/drawingml/2006/main" w="15225" cmpd="sng">
            <a:solidFill>
              <a:srgbClr val="00D6F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48" name="Google Shape;448;p15">
            <a:extLst xmlns:a="http://schemas.openxmlformats.org/drawingml/2006/main">
              <a:ext uri="{FF2B5EF4-FFF2-40B4-BE49-F238E27FC236}">
                <a16:creationId xmlns:a16="http://schemas.microsoft.com/office/drawing/2014/main" id="{1A61D151-A862-4744-BE01-168FC089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2461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837"/>
          </a:solidFill>
          <a:ln xmlns:a="http://schemas.openxmlformats.org/drawingml/2006/main" w="9525" cmpd="sng">
            <a:solidFill>
              <a:srgbClr val="00D6F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49" name="Google Shape;449;p15">
            <a:extLst xmlns:a="http://schemas.openxmlformats.org/drawingml/2006/main">
              <a:ext uri="{FF2B5EF4-FFF2-40B4-BE49-F238E27FC236}">
                <a16:creationId xmlns:a16="http://schemas.microsoft.com/office/drawing/2014/main" id="{C24BAD81-223B-4612-9EA3-5D8B1516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831335"/>
            <a:ext cx="3026663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6FF"/>
              </a:buClr>
              <a:buSzPts val="1200"/>
              <a:buFont typeface="Microsoft JhengHei"/>
              <a:buNone/>
            </a:pPr>
            <a:r>
              <a:rPr sz="1200" b="1" i="0" u="none" cap="none">
                <a:solidFill>
                  <a:srgbClr val="00D6FF"/>
                </a:solidFill>
                <a:latin typeface="Microsoft JhengHei"/>
                <a:ea typeface="Microsoft JhengHei"/>
                <a:cs typeface="Microsoft JhengHei"/>
              </a:rPr>
              <a:t>評估項目</a:t>
            </a:r>
          </a:p>
        </p:txBody>
      </p:sp>
      <p:sp>
        <p:nvSpPr>
          <p:cNvPr id="450" name="Google Shape;450;p15">
            <a:extLst xmlns:a="http://schemas.openxmlformats.org/drawingml/2006/main">
              <a:ext uri="{FF2B5EF4-FFF2-40B4-BE49-F238E27FC236}">
                <a16:creationId xmlns:a16="http://schemas.microsoft.com/office/drawing/2014/main" id="{FBCB39E2-E49B-4600-A160-74875895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7" y="3703320"/>
            <a:ext cx="361188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837"/>
          </a:solidFill>
          <a:ln xmlns:a="http://schemas.openxmlformats.org/drawingml/2006/main" w="9525" cmpd="sng">
            <a:solidFill>
              <a:srgbClr val="00D6F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51" name="Google Shape;451;p15">
            <a:extLst xmlns:a="http://schemas.openxmlformats.org/drawingml/2006/main">
              <a:ext uri="{FF2B5EF4-FFF2-40B4-BE49-F238E27FC236}">
                <a16:creationId xmlns:a16="http://schemas.microsoft.com/office/drawing/2014/main" id="{CCCD98D2-9822-47E0-8DE9-84E08710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215" y="3831335"/>
            <a:ext cx="3392424" cy="21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200"/>
              <a:buFont typeface="Microsoft JhengHei"/>
              <a:buNone/>
            </a:pPr>
            <a:r>
              <a:rPr sz="1200" b="1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只有 Detector / Tracker</a:t>
            </a:r>
          </a:p>
        </p:txBody>
      </p:sp>
      <p:sp>
        <p:nvSpPr>
          <p:cNvPr id="452" name="Google Shape;452;p15">
            <a:extLst xmlns:a="http://schemas.openxmlformats.org/drawingml/2006/main">
              <a:ext uri="{FF2B5EF4-FFF2-40B4-BE49-F238E27FC236}">
                <a16:creationId xmlns:a16="http://schemas.microsoft.com/office/drawing/2014/main" id="{6F29F793-040B-493B-AFA1-865F453B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7" y="3703320"/>
            <a:ext cx="402336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837"/>
          </a:solidFill>
          <a:ln xmlns:a="http://schemas.openxmlformats.org/drawingml/2006/main" w="9525" cmpd="sng">
            <a:solidFill>
              <a:srgbClr val="00D6F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53" name="Google Shape;453;p15">
            <a:extLst xmlns:a="http://schemas.openxmlformats.org/drawingml/2006/main">
              <a:ext uri="{FF2B5EF4-FFF2-40B4-BE49-F238E27FC236}">
                <a16:creationId xmlns:a16="http://schemas.microsoft.com/office/drawing/2014/main" id="{407F42E4-0021-4BD4-8545-949FD54A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5" y="3831335"/>
            <a:ext cx="3803904" cy="219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200"/>
              <a:buFont typeface="Microsoft JhengHei"/>
              <a:buNone/>
            </a:pPr>
            <a:r>
              <a:rPr sz="1200" b="1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GID / ReID Identity Pipeline</a:t>
            </a:r>
          </a:p>
        </p:txBody>
      </p:sp>
      <p:sp>
        <p:nvSpPr>
          <p:cNvPr id="454" name="Google Shape;454;p15">
            <a:extLst xmlns:a="http://schemas.openxmlformats.org/drawingml/2006/main">
              <a:ext uri="{FF2B5EF4-FFF2-40B4-BE49-F238E27FC236}">
                <a16:creationId xmlns:a16="http://schemas.microsoft.com/office/drawing/2014/main" id="{A7BE7FC6-79FA-49D8-9A88-6B9D6356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42231"/>
            <a:ext cx="324612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55" name="Google Shape;455;p15">
            <a:extLst xmlns:a="http://schemas.openxmlformats.org/drawingml/2006/main">
              <a:ext uri="{FF2B5EF4-FFF2-40B4-BE49-F238E27FC236}">
                <a16:creationId xmlns:a16="http://schemas.microsoft.com/office/drawing/2014/main" id="{6E46F6D0-B65D-4D14-AB74-ED895FFD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79392"/>
            <a:ext cx="3063239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300"/>
              <a:buFont typeface="Microsoft JhengHei"/>
              <a:buNone/>
            </a:pPr>
            <a:r>
              <a:rPr sz="13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遮擋後找回同一台車</a:t>
            </a:r>
          </a:p>
        </p:txBody>
      </p:sp>
      <p:sp>
        <p:nvSpPr>
          <p:cNvPr id="456" name="Google Shape;456;p15">
            <a:extLst xmlns:a="http://schemas.openxmlformats.org/drawingml/2006/main">
              <a:ext uri="{FF2B5EF4-FFF2-40B4-BE49-F238E27FC236}">
                <a16:creationId xmlns:a16="http://schemas.microsoft.com/office/drawing/2014/main" id="{486BDC7F-64D1-4078-8576-72E2332A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7" y="4142231"/>
            <a:ext cx="361188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57" name="Google Shape;457;p15">
            <a:extLst xmlns:a="http://schemas.openxmlformats.org/drawingml/2006/main">
              <a:ext uri="{FF2B5EF4-FFF2-40B4-BE49-F238E27FC236}">
                <a16:creationId xmlns:a16="http://schemas.microsoft.com/office/drawing/2014/main" id="{918923B3-F9D4-4394-A176-CFD68D90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927" y="4279392"/>
            <a:ext cx="34290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400"/>
              <a:buFont typeface="Microsoft JhengHei"/>
              <a:buNone/>
            </a:pPr>
            <a:r>
              <a:rPr sz="14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依 tracker continuity</a:t>
            </a:r>
          </a:p>
        </p:txBody>
      </p:sp>
      <p:sp>
        <p:nvSpPr>
          <p:cNvPr id="458" name="Google Shape;458;p15">
            <a:extLst xmlns:a="http://schemas.openxmlformats.org/drawingml/2006/main">
              <a:ext uri="{FF2B5EF4-FFF2-40B4-BE49-F238E27FC236}">
                <a16:creationId xmlns:a16="http://schemas.microsoft.com/office/drawing/2014/main" id="{AF2AAC0F-ECC1-4847-A6A5-51CAA586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7" y="4142231"/>
            <a:ext cx="402336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59" name="Google Shape;459;p15">
            <a:extLst xmlns:a="http://schemas.openxmlformats.org/drawingml/2006/main">
              <a:ext uri="{FF2B5EF4-FFF2-40B4-BE49-F238E27FC236}">
                <a16:creationId xmlns:a16="http://schemas.microsoft.com/office/drawing/2014/main" id="{A0A4B5D2-AD86-4C43-AC2F-116FBA75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7" y="4279392"/>
            <a:ext cx="384048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EC9C"/>
              </a:buClr>
              <a:buSzPts val="1400"/>
              <a:buFont typeface="Microsoft JhengHei"/>
              <a:buNone/>
            </a:pPr>
            <a:r>
              <a:rPr sz="1400" b="1" i="0" u="none" cap="none">
                <a:solidFill>
                  <a:srgbClr val="22EC9C"/>
                </a:solidFill>
                <a:latin typeface="Microsoft JhengHei"/>
                <a:ea typeface="Microsoft JhengHei"/>
                <a:cs typeface="Microsoft JhengHei"/>
              </a:rPr>
              <a:t>Reacquire / Find GID</a:t>
            </a:r>
          </a:p>
        </p:txBody>
      </p:sp>
      <p:sp>
        <p:nvSpPr>
          <p:cNvPr id="460" name="Google Shape;460;p15">
            <a:extLst xmlns:a="http://schemas.openxmlformats.org/drawingml/2006/main">
              <a:ext uri="{FF2B5EF4-FFF2-40B4-BE49-F238E27FC236}">
                <a16:creationId xmlns:a16="http://schemas.microsoft.com/office/drawing/2014/main" id="{FB38F998-F70D-4A2E-898D-57DCFADE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615433"/>
            <a:ext cx="324612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61" name="Google Shape;461;p15">
            <a:extLst xmlns:a="http://schemas.openxmlformats.org/drawingml/2006/main">
              <a:ext uri="{FF2B5EF4-FFF2-40B4-BE49-F238E27FC236}">
                <a16:creationId xmlns:a16="http://schemas.microsoft.com/office/drawing/2014/main" id="{70F58EB7-40CE-4274-B040-DA8C94F6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52594"/>
            <a:ext cx="3063239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300"/>
              <a:buFont typeface="Microsoft JhengHei"/>
              <a:buNone/>
            </a:pPr>
            <a:r>
              <a:rPr sz="13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ID 穩定性</a:t>
            </a:r>
          </a:p>
        </p:txBody>
      </p:sp>
      <p:sp>
        <p:nvSpPr>
          <p:cNvPr id="462" name="Google Shape;462;p15">
            <a:extLst xmlns:a="http://schemas.openxmlformats.org/drawingml/2006/main">
              <a:ext uri="{FF2B5EF4-FFF2-40B4-BE49-F238E27FC236}">
                <a16:creationId xmlns:a16="http://schemas.microsoft.com/office/drawing/2014/main" id="{FEA28168-A5F7-4541-BC48-156D50FC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7" y="4615433"/>
            <a:ext cx="361188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63" name="Google Shape;463;p15">
            <a:extLst xmlns:a="http://schemas.openxmlformats.org/drawingml/2006/main">
              <a:ext uri="{FF2B5EF4-FFF2-40B4-BE49-F238E27FC236}">
                <a16:creationId xmlns:a16="http://schemas.microsoft.com/office/drawing/2014/main" id="{83901CEB-DE3B-4E47-85E5-7BC8285C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927" y="4752594"/>
            <a:ext cx="34290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400"/>
              <a:buFont typeface="Microsoft JhengHei"/>
              <a:buNone/>
            </a:pPr>
            <a:r>
              <a:rPr sz="14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只在單段內有效</a:t>
            </a:r>
          </a:p>
        </p:txBody>
      </p:sp>
      <p:sp>
        <p:nvSpPr>
          <p:cNvPr id="464" name="Google Shape;464;p15">
            <a:extLst xmlns:a="http://schemas.openxmlformats.org/drawingml/2006/main">
              <a:ext uri="{FF2B5EF4-FFF2-40B4-BE49-F238E27FC236}">
                <a16:creationId xmlns:a16="http://schemas.microsoft.com/office/drawing/2014/main" id="{2391775F-0E04-4DE6-A048-ABF3BAFE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7" y="4615433"/>
            <a:ext cx="402336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65" name="Google Shape;465;p15">
            <a:extLst xmlns:a="http://schemas.openxmlformats.org/drawingml/2006/main">
              <a:ext uri="{FF2B5EF4-FFF2-40B4-BE49-F238E27FC236}">
                <a16:creationId xmlns:a16="http://schemas.microsoft.com/office/drawing/2014/main" id="{FD5B1F57-F51F-41E0-8942-8979D229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7" y="4752594"/>
            <a:ext cx="384048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EC9C"/>
              </a:buClr>
              <a:buSzPts val="1400"/>
              <a:buFont typeface="Microsoft JhengHei"/>
              <a:buNone/>
            </a:pPr>
            <a:r>
              <a:rPr sz="1400" b="1" i="0" u="none" cap="none">
                <a:solidFill>
                  <a:srgbClr val="22EC9C"/>
                </a:solidFill>
                <a:latin typeface="Microsoft JhengHei"/>
                <a:ea typeface="Microsoft JhengHei"/>
                <a:cs typeface="Microsoft JhengHei"/>
              </a:rPr>
              <a:t>GID 跨片段保存</a:t>
            </a:r>
          </a:p>
        </p:txBody>
      </p:sp>
      <p:sp>
        <p:nvSpPr>
          <p:cNvPr id="466" name="Google Shape;466;p15">
            <a:extLst xmlns:a="http://schemas.openxmlformats.org/drawingml/2006/main">
              <a:ext uri="{FF2B5EF4-FFF2-40B4-BE49-F238E27FC236}">
                <a16:creationId xmlns:a16="http://schemas.microsoft.com/office/drawing/2014/main" id="{5C47F69F-8E00-40CB-9BAE-951F19C0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088636"/>
            <a:ext cx="324612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67" name="Google Shape;467;p15">
            <a:extLst xmlns:a="http://schemas.openxmlformats.org/drawingml/2006/main">
              <a:ext uri="{FF2B5EF4-FFF2-40B4-BE49-F238E27FC236}">
                <a16:creationId xmlns:a16="http://schemas.microsoft.com/office/drawing/2014/main" id="{82D79FCA-9ED4-45C3-BF7F-5DC20A83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25796"/>
            <a:ext cx="3063239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300"/>
              <a:buFont typeface="Microsoft JhengHei"/>
              <a:buNone/>
            </a:pPr>
            <a:r>
              <a:rPr sz="13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錯追風險</a:t>
            </a:r>
          </a:p>
        </p:txBody>
      </p:sp>
      <p:sp>
        <p:nvSpPr>
          <p:cNvPr id="468" name="Google Shape;468;p15">
            <a:extLst xmlns:a="http://schemas.openxmlformats.org/drawingml/2006/main">
              <a:ext uri="{FF2B5EF4-FFF2-40B4-BE49-F238E27FC236}">
                <a16:creationId xmlns:a16="http://schemas.microsoft.com/office/drawing/2014/main" id="{E95C7618-0C98-4793-A33C-957EED7C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7" y="5088636"/>
            <a:ext cx="361188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69" name="Google Shape;469;p15">
            <a:extLst xmlns:a="http://schemas.openxmlformats.org/drawingml/2006/main">
              <a:ext uri="{FF2B5EF4-FFF2-40B4-BE49-F238E27FC236}">
                <a16:creationId xmlns:a16="http://schemas.microsoft.com/office/drawing/2014/main" id="{0D04C4C4-6F33-4BF7-A923-E6D56512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927" y="5225796"/>
            <a:ext cx="34290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400"/>
              <a:buFont typeface="Microsoft JhengHei"/>
              <a:buNone/>
            </a:pPr>
            <a:r>
              <a:rPr sz="14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密集、遮擋時易切換</a:t>
            </a:r>
          </a:p>
        </p:txBody>
      </p:sp>
      <p:sp>
        <p:nvSpPr>
          <p:cNvPr id="470" name="Google Shape;470;p15">
            <a:extLst xmlns:a="http://schemas.openxmlformats.org/drawingml/2006/main">
              <a:ext uri="{FF2B5EF4-FFF2-40B4-BE49-F238E27FC236}">
                <a16:creationId xmlns:a16="http://schemas.microsoft.com/office/drawing/2014/main" id="{6867A168-9A42-42B2-A0FD-C28DC429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7" y="5088636"/>
            <a:ext cx="402336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71" name="Google Shape;471;p15">
            <a:extLst xmlns:a="http://schemas.openxmlformats.org/drawingml/2006/main">
              <a:ext uri="{FF2B5EF4-FFF2-40B4-BE49-F238E27FC236}">
                <a16:creationId xmlns:a16="http://schemas.microsoft.com/office/drawing/2014/main" id="{40A119AA-47C9-41FD-A2B6-69D239A7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7" y="5225796"/>
            <a:ext cx="384048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EC9C"/>
              </a:buClr>
              <a:buSzPts val="1400"/>
              <a:buFont typeface="Microsoft JhengHei"/>
              <a:buNone/>
            </a:pPr>
            <a:r>
              <a:rPr sz="1400" b="1" i="0" u="none" cap="none">
                <a:solidFill>
                  <a:srgbClr val="22EC9C"/>
                </a:solidFill>
                <a:latin typeface="Microsoft JhengHei"/>
                <a:ea typeface="Microsoft JhengHei"/>
                <a:cs typeface="Microsoft JhengHei"/>
              </a:rPr>
              <a:t>class + quality + ReID gates</a:t>
            </a:r>
          </a:p>
        </p:txBody>
      </p:sp>
      <p:sp>
        <p:nvSpPr>
          <p:cNvPr id="472" name="Google Shape;472;p15">
            <a:extLst xmlns:a="http://schemas.openxmlformats.org/drawingml/2006/main">
              <a:ext uri="{FF2B5EF4-FFF2-40B4-BE49-F238E27FC236}">
                <a16:creationId xmlns:a16="http://schemas.microsoft.com/office/drawing/2014/main" id="{9638795F-1C5C-4CE2-99B6-DB1FD370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61838"/>
            <a:ext cx="324612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73" name="Google Shape;473;p15">
            <a:extLst xmlns:a="http://schemas.openxmlformats.org/drawingml/2006/main">
              <a:ext uri="{FF2B5EF4-FFF2-40B4-BE49-F238E27FC236}">
                <a16:creationId xmlns:a16="http://schemas.microsoft.com/office/drawing/2014/main" id="{96561369-B8BE-475D-B944-B07A266D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698998"/>
            <a:ext cx="3063239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300"/>
              <a:buFont typeface="Microsoft JhengHei"/>
              <a:buNone/>
            </a:pPr>
            <a:r>
              <a:rPr sz="13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跨片段辨識</a:t>
            </a:r>
          </a:p>
        </p:txBody>
      </p:sp>
      <p:sp>
        <p:nvSpPr>
          <p:cNvPr id="474" name="Google Shape;474;p15">
            <a:extLst xmlns:a="http://schemas.openxmlformats.org/drawingml/2006/main">
              <a:ext uri="{FF2B5EF4-FFF2-40B4-BE49-F238E27FC236}">
                <a16:creationId xmlns:a16="http://schemas.microsoft.com/office/drawing/2014/main" id="{ABC4CF45-4A52-462F-9563-7AB28D57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487" y="5561838"/>
            <a:ext cx="361188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75" name="Google Shape;475;p15">
            <a:extLst xmlns:a="http://schemas.openxmlformats.org/drawingml/2006/main">
              <a:ext uri="{FF2B5EF4-FFF2-40B4-BE49-F238E27FC236}">
                <a16:creationId xmlns:a16="http://schemas.microsoft.com/office/drawing/2014/main" id="{CD197B4B-6176-43E4-8A05-F81E4AB2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927" y="5698998"/>
            <a:ext cx="34290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1400"/>
              <a:buFont typeface="Microsoft JhengHei"/>
              <a:buNone/>
            </a:pPr>
            <a:r>
              <a:rPr sz="1400" b="0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不保存身份</a:t>
            </a:r>
          </a:p>
        </p:txBody>
      </p:sp>
      <p:sp>
        <p:nvSpPr>
          <p:cNvPr id="476" name="Google Shape;476;p15">
            <a:extLst xmlns:a="http://schemas.openxmlformats.org/drawingml/2006/main">
              <a:ext uri="{FF2B5EF4-FFF2-40B4-BE49-F238E27FC236}">
                <a16:creationId xmlns:a16="http://schemas.microsoft.com/office/drawing/2014/main" id="{F17DC5D6-BEDC-4F7D-8957-A396B973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7" y="5561838"/>
            <a:ext cx="4023360" cy="4732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 cmpd="sng">
            <a:solidFill>
              <a:srgbClr val="23495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477" name="Google Shape;477;p15">
            <a:extLst xmlns:a="http://schemas.openxmlformats.org/drawingml/2006/main">
              <a:ext uri="{FF2B5EF4-FFF2-40B4-BE49-F238E27FC236}">
                <a16:creationId xmlns:a16="http://schemas.microsoft.com/office/drawing/2014/main" id="{27123CC0-09FE-48BA-AB23-AB44D099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7" y="5698998"/>
            <a:ext cx="384048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EC9C"/>
              </a:buClr>
              <a:buSzPts val="1400"/>
              <a:buFont typeface="Microsoft JhengHei"/>
              <a:buNone/>
            </a:pPr>
            <a:r>
              <a:rPr sz="1400" b="1" i="0" u="none" cap="none">
                <a:solidFill>
                  <a:srgbClr val="22EC9C"/>
                </a:solidFill>
                <a:latin typeface="Microsoft JhengHei"/>
                <a:ea typeface="Microsoft JhengHei"/>
                <a:cs typeface="Microsoft JhengHei"/>
              </a:rPr>
              <a:t>SQLite + Feature Gallery</a:t>
            </a:r>
          </a:p>
        </p:txBody>
      </p:sp>
      <p:sp>
        <p:nvSpPr>
          <p:cNvPr id="478" name="Google Shape;478;p15">
            <a:extLst xmlns:a="http://schemas.openxmlformats.org/drawingml/2006/main">
              <a:ext uri="{FF2B5EF4-FFF2-40B4-BE49-F238E27FC236}">
                <a16:creationId xmlns:a16="http://schemas.microsoft.com/office/drawing/2014/main" id="{6A4A0952-1878-4FB0-85C5-15F15972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199632"/>
            <a:ext cx="108813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B5BE"/>
              </a:buClr>
              <a:buSzPts val="900"/>
              <a:buFont typeface="Microsoft JhengHei"/>
              <a:buNone/>
            </a:pPr>
            <a:r>
              <a:rPr sz="900" b="0" i="0" u="none" cap="none">
                <a:solidFill>
                  <a:srgbClr val="A6B5BE"/>
                </a:solidFill>
                <a:latin typeface="Microsoft JhengHei"/>
                <a:ea typeface="Microsoft JhengHei"/>
                <a:cs typeface="Microsoft JhengHei"/>
              </a:rPr>
              <a:t>V2.3 架構依據：Detector Backend、Tracker Adapter、GID / ReID、Feature Gallery；結果以同資料集 replay 或 Benchmark Center 驗證。</a:t>
            </a:r>
          </a:p>
        </p:txBody>
      </p:sp>
      <p:pic>
        <p:nvPicPr>
          <p:cNvPr id="525" name="Google Shape;47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17789c82c14e1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16188" y="1663780"/>
            <a:ext cx="457201" cy="4572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26" name="Google Shape;480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3d1b492610439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918962" y="1663789"/>
            <a:ext cx="457201" cy="4572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7878314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6" name="Google Shape;486;p16">
            <a:extLst xmlns:a="http://schemas.openxmlformats.org/drawingml/2006/main">
              <a:ext uri="{FF2B5EF4-FFF2-40B4-BE49-F238E27FC236}">
                <a16:creationId xmlns:a16="http://schemas.microsoft.com/office/drawing/2014/main" id="{054C1CEF-8A0F-4399-A64E-54792E8D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689" y="1493520"/>
            <a:ext cx="4114800" cy="281940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487" name="Google Shape;487;p16">
            <a:extLst xmlns:a="http://schemas.openxmlformats.org/drawingml/2006/main">
              <a:ext uri="{FF2B5EF4-FFF2-40B4-BE49-F238E27FC236}">
                <a16:creationId xmlns:a16="http://schemas.microsoft.com/office/drawing/2014/main" id="{17427B2D-16E5-41C9-8C49-1E789C4F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88" y="259080"/>
            <a:ext cx="2438400" cy="21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14 CONTROL DATA FLOW</a:t>
            </a:r>
          </a:p>
        </p:txBody>
      </p:sp>
      <p:sp>
        <p:nvSpPr>
          <p:cNvPr id="488" name="Google Shape;488;p16">
            <a:extLst xmlns:a="http://schemas.openxmlformats.org/drawingml/2006/main">
              <a:ext uri="{FF2B5EF4-FFF2-40B4-BE49-F238E27FC236}">
                <a16:creationId xmlns:a16="http://schemas.microsoft.com/office/drawing/2014/main" id="{6BBBE067-8A0B-43D2-AA65-7523F45A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88" y="518160"/>
            <a:ext cx="746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sz="30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V2.3 控制閉環：Desktop 決策、iOS 執行</a:t>
            </a:r>
          </a:p>
        </p:txBody>
      </p:sp>
      <p:sp>
        <p:nvSpPr>
          <p:cNvPr id="489" name="Google Shape;489;p16">
            <a:extLst xmlns:a="http://schemas.openxmlformats.org/drawingml/2006/main">
              <a:ext uri="{FF2B5EF4-FFF2-40B4-BE49-F238E27FC236}">
                <a16:creationId xmlns:a16="http://schemas.microsoft.com/office/drawing/2014/main" id="{A34BE572-8F7D-48D1-8519-00B957B5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27" y="1082040"/>
            <a:ext cx="94485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影像、身份、構圖、控制與硬體執行分層處理；每一層都有清楚的資料契約與停止條件。</a:t>
            </a:r>
          </a:p>
        </p:txBody>
      </p:sp>
      <p:sp>
        <p:nvSpPr>
          <p:cNvPr id="490" name="Google Shape;490;p16">
            <a:extLst xmlns:a="http://schemas.openxmlformats.org/drawingml/2006/main">
              <a:ext uri="{FF2B5EF4-FFF2-40B4-BE49-F238E27FC236}">
                <a16:creationId xmlns:a16="http://schemas.microsoft.com/office/drawing/2014/main" id="{FAE50F65-3765-409B-9F61-DB357B66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69" y="1493520"/>
            <a:ext cx="2057400" cy="28194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491" name="Google Shape;491;p16">
            <a:extLst xmlns:a="http://schemas.openxmlformats.org/drawingml/2006/main">
              <a:ext uri="{FF2B5EF4-FFF2-40B4-BE49-F238E27FC236}">
                <a16:creationId xmlns:a16="http://schemas.microsoft.com/office/drawing/2014/main" id="{87328848-504D-41C6-9168-1007DEAF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75" y="1630673"/>
            <a:ext cx="1752600" cy="365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>
              <a:alpha val="13333"/>
            </a:srgbClr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iOS Camera Source</a:t>
            </a:r>
          </a:p>
        </p:txBody>
      </p:sp>
      <p:sp>
        <p:nvSpPr>
          <p:cNvPr id="492" name="Google Shape;492;p16">
            <a:extLst xmlns:a="http://schemas.openxmlformats.org/drawingml/2006/main">
              <a:ext uri="{FF2B5EF4-FFF2-40B4-BE49-F238E27FC236}">
                <a16:creationId xmlns:a16="http://schemas.microsoft.com/office/drawing/2014/main" id="{3248BD90-95F9-4845-9648-C9A49413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075" y="1630675"/>
            <a:ext cx="3733800" cy="365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22D3EE"/>
                </a:solidFill>
                <a:latin typeface="Calibri"/>
                <a:ea typeface="Calibri"/>
                <a:cs typeface="Calibri"/>
              </a:rPr>
              <a:t>Desktop Vision + Identity</a:t>
            </a:r>
          </a:p>
        </p:txBody>
      </p:sp>
      <p:sp>
        <p:nvSpPr>
          <p:cNvPr id="493" name="Google Shape;493;p16">
            <a:extLst xmlns:a="http://schemas.openxmlformats.org/drawingml/2006/main">
              <a:ext uri="{FF2B5EF4-FFF2-40B4-BE49-F238E27FC236}">
                <a16:creationId xmlns:a16="http://schemas.microsoft.com/office/drawing/2014/main" id="{2B6AB129-9E3E-4A5E-B5BD-7E3C338E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255" y="1493520"/>
            <a:ext cx="2057400" cy="28194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4ADE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494" name="Google Shape;494;p16">
            <a:extLst xmlns:a="http://schemas.openxmlformats.org/drawingml/2006/main">
              <a:ext uri="{FF2B5EF4-FFF2-40B4-BE49-F238E27FC236}">
                <a16:creationId xmlns:a16="http://schemas.microsoft.com/office/drawing/2014/main" id="{86C156B1-B12D-48E3-9968-9119340F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25" y="1630675"/>
            <a:ext cx="1898700" cy="365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DE80">
              <a:alpha val="13333"/>
            </a:srgbClr>
          </a:solidFill>
          <a:ln xmlns:a="http://schemas.openxmlformats.org/drawingml/2006/main" w="9525" cmpd="sng">
            <a:solidFill>
              <a:srgbClr val="4ADE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4ADE80"/>
                </a:solidFill>
                <a:latin typeface="Calibri"/>
                <a:ea typeface="Calibri"/>
                <a:cs typeface="Calibri"/>
              </a:rPr>
              <a:t>Desktop Framing + Policy</a:t>
            </a:r>
          </a:p>
        </p:txBody>
      </p:sp>
      <p:sp>
        <p:nvSpPr>
          <p:cNvPr id="495" name="Google Shape;495;p16">
            <a:extLst xmlns:a="http://schemas.openxmlformats.org/drawingml/2006/main">
              <a:ext uri="{FF2B5EF4-FFF2-40B4-BE49-F238E27FC236}">
                <a16:creationId xmlns:a16="http://schemas.microsoft.com/office/drawing/2014/main" id="{D7BE8661-08F3-4068-8B7F-59E9881C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475" y="1493520"/>
            <a:ext cx="2590800" cy="28194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0B151D"/>
          </a:solidFill>
          <a:ln xmlns:a="http://schemas.openxmlformats.org/drawingml/2006/main" w="1217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496" name="Google Shape;496;p16">
            <a:extLst xmlns:a="http://schemas.openxmlformats.org/drawingml/2006/main">
              <a:ext uri="{FF2B5EF4-FFF2-40B4-BE49-F238E27FC236}">
                <a16:creationId xmlns:a16="http://schemas.microsoft.com/office/drawing/2014/main" id="{7EBF9B25-3C80-47D5-B10F-94B5BFCB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250" y="1630675"/>
            <a:ext cx="2286000" cy="32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>
              <a:alpha val="13333"/>
            </a:srgbClr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iOS Safety + DockKit</a:t>
            </a:r>
          </a:p>
        </p:txBody>
      </p:sp>
      <p:sp>
        <p:nvSpPr>
          <p:cNvPr id="497" name="Google Shape;497;p16">
            <a:extLst xmlns:a="http://schemas.openxmlformats.org/drawingml/2006/main">
              <a:ext uri="{FF2B5EF4-FFF2-40B4-BE49-F238E27FC236}">
                <a16:creationId xmlns:a16="http://schemas.microsoft.com/office/drawing/2014/main" id="{2D12F885-74DA-4A7A-909B-07246D9D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5" y="2377452"/>
            <a:ext cx="1599900" cy="15138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F97316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498" name="Google Shape;498;p16">
            <a:extLst xmlns:a="http://schemas.openxmlformats.org/drawingml/2006/main">
              <a:ext uri="{FF2B5EF4-FFF2-40B4-BE49-F238E27FC236}">
                <a16:creationId xmlns:a16="http://schemas.microsoft.com/office/drawing/2014/main" id="{8F7CB8DF-D7BE-41AE-9259-67DB7AB3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80" y="2560320"/>
            <a:ext cx="320100" cy="32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99" name="Google Shape;499;p16">
            <a:extLst xmlns:a="http://schemas.openxmlformats.org/drawingml/2006/main">
              <a:ext uri="{FF2B5EF4-FFF2-40B4-BE49-F238E27FC236}">
                <a16:creationId xmlns:a16="http://schemas.microsoft.com/office/drawing/2014/main" id="{B3AFA328-995B-42D8-94AB-BA1658FC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09" y="2545080"/>
            <a:ext cx="9753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相機影像</a:t>
            </a:r>
          </a:p>
        </p:txBody>
      </p:sp>
      <p:sp>
        <p:nvSpPr>
          <p:cNvPr id="500" name="Google Shape;500;p16">
            <a:extLst xmlns:a="http://schemas.openxmlformats.org/drawingml/2006/main">
              <a:ext uri="{FF2B5EF4-FFF2-40B4-BE49-F238E27FC236}">
                <a16:creationId xmlns:a16="http://schemas.microsoft.com/office/drawing/2014/main" id="{5BC1C48E-2BD9-4074-AECB-AB307821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826" y="2943800"/>
            <a:ext cx="134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JPEG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frame_id / time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geometry</a:t>
            </a:r>
          </a:p>
        </p:txBody>
      </p:sp>
      <p:sp>
        <p:nvSpPr>
          <p:cNvPr id="501" name="Google Shape;501;p16">
            <a:extLst xmlns:a="http://schemas.openxmlformats.org/drawingml/2006/main">
              <a:ext uri="{FF2B5EF4-FFF2-40B4-BE49-F238E27FC236}">
                <a16:creationId xmlns:a16="http://schemas.microsoft.com/office/drawing/2014/main" id="{816B0116-ED77-4C27-9DB2-221674A5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275" y="2377453"/>
            <a:ext cx="1752600" cy="17682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22D3EE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02" name="Google Shape;502;p16">
            <a:extLst xmlns:a="http://schemas.openxmlformats.org/drawingml/2006/main">
              <a:ext uri="{FF2B5EF4-FFF2-40B4-BE49-F238E27FC236}">
                <a16:creationId xmlns:a16="http://schemas.microsoft.com/office/drawing/2014/main" id="{7677951F-F4CD-4376-BD1F-9D900A20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00" y="2560320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503" name="Google Shape;503;p16">
            <a:extLst xmlns:a="http://schemas.openxmlformats.org/drawingml/2006/main">
              <a:ext uri="{FF2B5EF4-FFF2-40B4-BE49-F238E27FC236}">
                <a16:creationId xmlns:a16="http://schemas.microsoft.com/office/drawing/2014/main" id="{E025B184-5E09-48D9-BED3-B2EE44D5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867" y="2545080"/>
            <a:ext cx="10059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偵測與追蹤</a:t>
            </a:r>
          </a:p>
        </p:txBody>
      </p:sp>
      <p:sp>
        <p:nvSpPr>
          <p:cNvPr id="504" name="Google Shape;504;p16">
            <a:extLst xmlns:a="http://schemas.openxmlformats.org/drawingml/2006/main">
              <a:ext uri="{FF2B5EF4-FFF2-40B4-BE49-F238E27FC236}">
                <a16:creationId xmlns:a16="http://schemas.microsoft.com/office/drawing/2014/main" id="{33CABF5C-532A-4CCB-AE85-4499F683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556" y="3002350"/>
            <a:ext cx="1691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YOLO26 bbox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LID / confidence</a:t>
            </a:r>
          </a:p>
        </p:txBody>
      </p:sp>
      <p:sp>
        <p:nvSpPr>
          <p:cNvPr id="505" name="Google Shape;505;p16">
            <a:extLst xmlns:a="http://schemas.openxmlformats.org/drawingml/2006/main">
              <a:ext uri="{FF2B5EF4-FFF2-40B4-BE49-F238E27FC236}">
                <a16:creationId xmlns:a16="http://schemas.microsoft.com/office/drawing/2014/main" id="{0F818842-3637-473D-89C1-93446B43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225" y="2377453"/>
            <a:ext cx="1752600" cy="17682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FBBF24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06" name="Google Shape;506;p16">
            <a:extLst xmlns:a="http://schemas.openxmlformats.org/drawingml/2006/main">
              <a:ext uri="{FF2B5EF4-FFF2-40B4-BE49-F238E27FC236}">
                <a16:creationId xmlns:a16="http://schemas.microsoft.com/office/drawing/2014/main" id="{9DDA5B6A-A512-4CC0-9A6C-52F6232A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149" y="2560320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 cmpd="sng">
            <a:solidFill>
              <a:srgbClr val="FBBF24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507" name="Google Shape;507;p16">
            <a:extLst xmlns:a="http://schemas.openxmlformats.org/drawingml/2006/main">
              <a:ext uri="{FF2B5EF4-FFF2-40B4-BE49-F238E27FC236}">
                <a16:creationId xmlns:a16="http://schemas.microsoft.com/office/drawing/2014/main" id="{230274FF-AE31-42AC-8889-2A4B666C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816" y="2545080"/>
            <a:ext cx="10059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身份與構圖</a:t>
            </a:r>
          </a:p>
        </p:txBody>
      </p:sp>
      <p:sp>
        <p:nvSpPr>
          <p:cNvPr id="508" name="Google Shape;508;p16">
            <a:extLst xmlns:a="http://schemas.openxmlformats.org/drawingml/2006/main">
              <a:ext uri="{FF2B5EF4-FFF2-40B4-BE49-F238E27FC236}">
                <a16:creationId xmlns:a16="http://schemas.microsoft.com/office/drawing/2014/main" id="{C782009A-A31F-4E80-99B9-BE8897C8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4595" y="3032725"/>
            <a:ext cx="1849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GID / ReID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anchor / lead room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zoom target</a:t>
            </a:r>
          </a:p>
        </p:txBody>
      </p:sp>
      <p:sp>
        <p:nvSpPr>
          <p:cNvPr id="509" name="Google Shape;509;p16">
            <a:extLst xmlns:a="http://schemas.openxmlformats.org/drawingml/2006/main">
              <a:ext uri="{FF2B5EF4-FFF2-40B4-BE49-F238E27FC236}">
                <a16:creationId xmlns:a16="http://schemas.microsoft.com/office/drawing/2014/main" id="{3DA35D49-4375-43CF-9B73-29D4EF80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850" y="2377453"/>
            <a:ext cx="1599900" cy="17682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4ADE8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10" name="Google Shape;510;p16">
            <a:extLst xmlns:a="http://schemas.openxmlformats.org/drawingml/2006/main">
              <a:ext uri="{FF2B5EF4-FFF2-40B4-BE49-F238E27FC236}">
                <a16:creationId xmlns:a16="http://schemas.microsoft.com/office/drawing/2014/main" id="{BC342C5C-D67F-41BD-8A86-D9DFA542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765" y="2560320"/>
            <a:ext cx="320100" cy="32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9525" cmpd="sng">
            <a:solidFill>
              <a:srgbClr val="4ADE8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511" name="Google Shape;511;p16">
            <a:extLst xmlns:a="http://schemas.openxmlformats.org/drawingml/2006/main">
              <a:ext uri="{FF2B5EF4-FFF2-40B4-BE49-F238E27FC236}">
                <a16:creationId xmlns:a16="http://schemas.microsoft.com/office/drawing/2014/main" id="{835749E1-353B-4E72-9C43-0EF7EA10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001" y="2545074"/>
            <a:ext cx="1179300" cy="44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控制 Policy</a:t>
            </a:r>
          </a:p>
        </p:txBody>
      </p:sp>
      <p:sp>
        <p:nvSpPr>
          <p:cNvPr id="512" name="Google Shape;512;p16">
            <a:extLst xmlns:a="http://schemas.openxmlformats.org/drawingml/2006/main">
              <a:ext uri="{FF2B5EF4-FFF2-40B4-BE49-F238E27FC236}">
                <a16:creationId xmlns:a16="http://schemas.microsoft.com/office/drawing/2014/main" id="{8DE1514C-31C3-4D44-9B1B-C2A010C1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731" y="308610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dead zone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hysteresis / limits</a:t>
            </a:r>
          </a:p>
        </p:txBody>
      </p:sp>
      <p:sp>
        <p:nvSpPr>
          <p:cNvPr id="513" name="Google Shape;513;p16">
            <a:extLst xmlns:a="http://schemas.openxmlformats.org/drawingml/2006/main">
              <a:ext uri="{FF2B5EF4-FFF2-40B4-BE49-F238E27FC236}">
                <a16:creationId xmlns:a16="http://schemas.microsoft.com/office/drawing/2014/main" id="{1AC4CE17-FD0A-4AD4-876C-6C6C5675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548" y="2026920"/>
            <a:ext cx="2057400" cy="1066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F97316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14" name="Google Shape;514;p16">
            <a:extLst xmlns:a="http://schemas.openxmlformats.org/drawingml/2006/main">
              <a:ext uri="{FF2B5EF4-FFF2-40B4-BE49-F238E27FC236}">
                <a16:creationId xmlns:a16="http://schemas.microsoft.com/office/drawing/2014/main" id="{9573B4A9-5D2E-4B71-9492-79A3251D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465" y="2175681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515" name="Google Shape;515;p16">
            <a:extLst xmlns:a="http://schemas.openxmlformats.org/drawingml/2006/main">
              <a:ext uri="{FF2B5EF4-FFF2-40B4-BE49-F238E27FC236}">
                <a16:creationId xmlns:a16="http://schemas.microsoft.com/office/drawing/2014/main" id="{ABC4F511-4242-4B21-A15C-C1FBCD78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132" y="2168970"/>
            <a:ext cx="13107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1.0 Contract</a:t>
            </a:r>
          </a:p>
        </p:txBody>
      </p:sp>
      <p:sp>
        <p:nvSpPr>
          <p:cNvPr id="516" name="Google Shape;516;p16">
            <a:extLst xmlns:a="http://schemas.openxmlformats.org/drawingml/2006/main">
              <a:ext uri="{FF2B5EF4-FFF2-40B4-BE49-F238E27FC236}">
                <a16:creationId xmlns:a16="http://schemas.microsoft.com/office/drawing/2014/main" id="{B98EF154-E699-4413-B2D0-52DC7086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875" y="2546685"/>
            <a:ext cx="2019900" cy="44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sequence / error</a:t>
            </a:r>
          </a:p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confidence / zoom / state</a:t>
            </a:r>
          </a:p>
        </p:txBody>
      </p:sp>
      <p:sp>
        <p:nvSpPr>
          <p:cNvPr id="517" name="Google Shape;517;p16">
            <a:extLst xmlns:a="http://schemas.openxmlformats.org/drawingml/2006/main">
              <a:ext uri="{FF2B5EF4-FFF2-40B4-BE49-F238E27FC236}">
                <a16:creationId xmlns:a16="http://schemas.microsoft.com/office/drawing/2014/main" id="{FF88AF31-7E17-4E51-B99E-00596EB0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550" y="3291851"/>
            <a:ext cx="2057400" cy="9603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111C26"/>
          </a:solidFill>
          <a:ln xmlns:a="http://schemas.openxmlformats.org/drawingml/2006/main" w="16750" cmpd="sng">
            <a:solidFill>
              <a:srgbClr val="22D3EE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15240" dist="7620" dir="5400000">
              <a:srgbClr val="000000">
                <a:alpha val="5882"/>
              </a:srgbClr>
            </a:outerShdw>
          </a:effectLst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18" name="Google Shape;518;p16">
            <a:extLst xmlns:a="http://schemas.openxmlformats.org/drawingml/2006/main">
              <a:ext uri="{FF2B5EF4-FFF2-40B4-BE49-F238E27FC236}">
                <a16:creationId xmlns:a16="http://schemas.microsoft.com/office/drawing/2014/main" id="{FC662D69-FBAE-4E48-A0B4-E9A0DDC4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465" y="3432071"/>
            <a:ext cx="365700" cy="36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1" i="0" u="none" cap="none">
                <a:solidFill>
                  <a:srgbClr val="071015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519" name="Google Shape;519;p16">
            <a:extLst xmlns:a="http://schemas.openxmlformats.org/drawingml/2006/main">
              <a:ext uri="{FF2B5EF4-FFF2-40B4-BE49-F238E27FC236}">
                <a16:creationId xmlns:a16="http://schemas.microsoft.com/office/drawing/2014/main" id="{81A05643-983C-4BFB-B845-244F7128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7841" y="3425361"/>
            <a:ext cx="1310700" cy="36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安全執行</a:t>
            </a:r>
          </a:p>
        </p:txBody>
      </p:sp>
      <p:sp>
        <p:nvSpPr>
          <p:cNvPr id="520" name="Google Shape;520;p16">
            <a:extLst xmlns:a="http://schemas.openxmlformats.org/drawingml/2006/main">
              <a:ext uri="{FF2B5EF4-FFF2-40B4-BE49-F238E27FC236}">
                <a16:creationId xmlns:a16="http://schemas.microsoft.com/office/drawing/2014/main" id="{A52377A1-AFDC-48FD-960C-7F9A2B0E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550" y="3742404"/>
            <a:ext cx="1849200" cy="27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2EA"/>
              </a:buClr>
              <a:buSzPts val="1400"/>
              <a:buFont typeface="Calibri"/>
              <a:buChar char="●"/>
            </a:pPr>
            <a:r>
              <a:rPr sz="1400" b="0" i="0" u="none" cap="none">
                <a:solidFill>
                  <a:srgbClr val="D9E2EA"/>
                </a:solidFill>
                <a:latin typeface="Calibri"/>
                <a:ea typeface="Calibri"/>
                <a:cs typeface="Calibri"/>
              </a:rPr>
              <a:t>timeout → STOP</a:t>
            </a:r>
          </a:p>
        </p:txBody>
      </p:sp>
      <p:cxnSp>
        <p:nvCxnSpPr>
          <p:cNvPr id="711" name="Google Shape;521;p16"/>
          <p:cNvCxnSpPr>
            <a:stCxn xmlns:a="http://schemas.openxmlformats.org/drawingml/2006/main" id="497" idx="3"/>
            <a:endCxn xmlns:a="http://schemas.openxmlformats.org/drawingml/2006/main" id="501" idx="1"/>
          </p:cNvCxnSpPr>
          <p:nvPr/>
        </p:nvCxnSpPr>
        <p:spPr>
          <a:xfrm xmlns:a="http://schemas.openxmlformats.org/drawingml/2006/main">
            <a:off x="2239975" y="3134352"/>
            <a:ext cx="640200" cy="12720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12" name="Google Shape;522;p16"/>
          <p:cNvCxnSpPr>
            <a:stCxn xmlns:a="http://schemas.openxmlformats.org/drawingml/2006/main" id="501" idx="3"/>
            <a:endCxn xmlns:a="http://schemas.openxmlformats.org/drawingml/2006/main" id="505" idx="1"/>
          </p:cNvCxnSpPr>
          <p:nvPr/>
        </p:nvCxnSpPr>
        <p:spPr>
          <a:xfrm xmlns:a="http://schemas.openxmlformats.org/drawingml/2006/main">
            <a:off x="4632875" y="3261553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13" name="Google Shape;523;p16"/>
          <p:cNvCxnSpPr>
            <a:stCxn xmlns:a="http://schemas.openxmlformats.org/drawingml/2006/main" id="505" idx="3"/>
            <a:endCxn xmlns:a="http://schemas.openxmlformats.org/drawingml/2006/main" id="509" idx="1"/>
          </p:cNvCxnSpPr>
          <p:nvPr/>
        </p:nvCxnSpPr>
        <p:spPr>
          <a:xfrm xmlns:a="http://schemas.openxmlformats.org/drawingml/2006/main">
            <a:off x="6537825" y="3261553"/>
            <a:ext cx="639900" cy="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14" name="Google Shape;524;p16"/>
          <p:cNvCxnSpPr>
            <a:stCxn xmlns:a="http://schemas.openxmlformats.org/drawingml/2006/main" id="509" idx="3"/>
            <a:endCxn xmlns:a="http://schemas.openxmlformats.org/drawingml/2006/main" id="513" idx="1"/>
          </p:cNvCxnSpPr>
          <p:nvPr/>
        </p:nvCxnSpPr>
        <p:spPr>
          <a:xfrm xmlns:a="http://schemas.openxmlformats.org/drawingml/2006/main" rot="10800000" flipH="1">
            <a:off x="8777750" y="2560453"/>
            <a:ext cx="670800" cy="701100"/>
          </a:xfrm>
          <a:prstGeom xmlns:a="http://schemas.openxmlformats.org/drawingml/2006/main" prst="straightConnector1">
            <a:avLst/>
          </a:prstGeom>
          <a:ln xmlns:a="http://schemas.openxmlformats.org/drawingml/2006/main" w="25150" cap="flat">
            <a:solidFill>
              <a:srgbClr val="22D3EE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15" name="Google Shape;525;p16"/>
          <p:cNvCxnSpPr>
            <a:stCxn xmlns:a="http://schemas.openxmlformats.org/drawingml/2006/main" id="513" idx="2"/>
            <a:endCxn xmlns:a="http://schemas.openxmlformats.org/drawingml/2006/main" id="517" idx="0"/>
          </p:cNvCxnSpPr>
          <p:nvPr/>
        </p:nvCxnSpPr>
        <p:spPr>
          <a:xfrm xmlns:a="http://schemas.openxmlformats.org/drawingml/2006/main">
            <a:off x="10477248" y="3093720"/>
            <a:ext cx="0" cy="198000"/>
          </a:xfrm>
          <a:prstGeom xmlns:a="http://schemas.openxmlformats.org/drawingml/2006/main" prst="straightConnector1">
            <a:avLst/>
          </a:prstGeom>
          <a:ln xmlns:a="http://schemas.openxmlformats.org/drawingml/2006/main" w="24375" cap="flat">
            <a:solidFill>
              <a:srgbClr val="F97316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26" name="Google Shape;526;p16">
            <a:extLst xmlns:a="http://schemas.openxmlformats.org/drawingml/2006/main">
              <a:ext uri="{FF2B5EF4-FFF2-40B4-BE49-F238E27FC236}">
                <a16:creationId xmlns:a16="http://schemas.microsoft.com/office/drawing/2014/main" id="{F04F26BD-0932-4448-91C4-99A19B72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63" y="4526280"/>
            <a:ext cx="5334000" cy="181380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0D1821"/>
          </a:solidFill>
          <a:ln xmlns:a="http://schemas.openxmlformats.org/drawingml/2006/main" w="13700" cmpd="sng">
            <a:solidFill>
              <a:srgbClr val="22D3E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27" name="Google Shape;527;p16">
            <a:extLst xmlns:a="http://schemas.openxmlformats.org/drawingml/2006/main">
              <a:ext uri="{FF2B5EF4-FFF2-40B4-BE49-F238E27FC236}">
                <a16:creationId xmlns:a16="http://schemas.microsoft.com/office/drawing/2014/main" id="{5A561A6C-9427-42B5-9227-7EFE5F9A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61" y="4754880"/>
            <a:ext cx="4815600" cy="32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Desktop 下行命令的資料重點</a:t>
            </a:r>
          </a:p>
        </p:txBody>
      </p:sp>
      <p:sp>
        <p:nvSpPr>
          <p:cNvPr id="528" name="Google Shape;528;p16">
            <a:extLst xmlns:a="http://schemas.openxmlformats.org/drawingml/2006/main">
              <a:ext uri="{FF2B5EF4-FFF2-40B4-BE49-F238E27FC236}">
                <a16:creationId xmlns:a16="http://schemas.microsoft.com/office/drawing/2014/main" id="{AD3656E9-A8E6-4D78-BF8C-70D9ACA1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532" y="5143256"/>
            <a:ext cx="4632900" cy="96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state：tracking / coasting / searching / lost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error、confidence、selected GID、predicted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zoom、sequence 與 timestamp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policy：dead zone / hysteresis / rate limits</a:t>
            </a:r>
          </a:p>
        </p:txBody>
      </p:sp>
      <p:sp>
        <p:nvSpPr>
          <p:cNvPr id="529" name="Google Shape;529;p16">
            <a:extLst xmlns:a="http://schemas.openxmlformats.org/drawingml/2006/main">
              <a:ext uri="{FF2B5EF4-FFF2-40B4-BE49-F238E27FC236}">
                <a16:creationId xmlns:a16="http://schemas.microsoft.com/office/drawing/2014/main" id="{0D7F49B8-13A7-4B03-BBF2-6DA6137C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754" y="4526280"/>
            <a:ext cx="5334000" cy="181380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0D1821"/>
          </a:solidFill>
          <a:ln xmlns:a="http://schemas.openxmlformats.org/drawingml/2006/main" w="13700" cmpd="sng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73150" tIns="73150" rIns="73150" bIns="731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30" name="Google Shape;530;p16">
            <a:extLst xmlns:a="http://schemas.openxmlformats.org/drawingml/2006/main">
              <a:ext uri="{FF2B5EF4-FFF2-40B4-BE49-F238E27FC236}">
                <a16:creationId xmlns:a16="http://schemas.microsoft.com/office/drawing/2014/main" id="{00DA8662-932D-4712-8D2E-0D6D6149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952" y="4754905"/>
            <a:ext cx="4815600" cy="32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iOS 的第二層安全與執行</a:t>
            </a:r>
          </a:p>
        </p:txBody>
      </p:sp>
      <p:sp>
        <p:nvSpPr>
          <p:cNvPr id="531" name="Google Shape;531;p16">
            <a:extLst xmlns:a="http://schemas.openxmlformats.org/drawingml/2006/main">
              <a:ext uri="{FF2B5EF4-FFF2-40B4-BE49-F238E27FC236}">
                <a16:creationId xmlns:a16="http://schemas.microsoft.com/office/drawing/2014/main" id="{EFFED7DC-0B7D-4450-8DC1-AA533BDB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573" y="5217638"/>
            <a:ext cx="4632900" cy="96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驗證 sequence、lock 與 500 ms timeout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smoothing、rate 與 edge limits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DockKit：yaw / pitch / roll / Home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DFE7EF"/>
                </a:solidFill>
                <a:latin typeface="Calibri"/>
                <a:ea typeface="Calibri"/>
                <a:cs typeface="Calibri"/>
              </a:rPr>
              <a:t>• iPhone camera 套用實體 zoom</a:t>
            </a:r>
          </a:p>
        </p:txBody>
      </p:sp>
      <p:cxnSp>
        <p:nvCxnSpPr>
          <p:cNvPr id="722" name="Google Shape;532;p16"/>
          <p:cNvCxnSpPr/>
          <p:nvPr/>
        </p:nvCxnSpPr>
        <p:spPr>
          <a:xfrm xmlns:a="http://schemas.openxmlformats.org/drawingml/2006/main">
            <a:off x="9098037" y="1630680"/>
            <a:ext cx="0" cy="2575800"/>
          </a:xfrm>
          <a:prstGeom xmlns:a="http://schemas.openxmlformats.org/drawingml/2006/main" prst="straightConnector1">
            <a:avLst/>
          </a:prstGeom>
          <a:ln xmlns:a="http://schemas.openxmlformats.org/drawingml/2006/main" w="9900" cap="flat">
            <a:solidFill>
              <a:srgbClr val="334155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533" name="Google Shape;533;p16">
            <a:extLst xmlns:a="http://schemas.openxmlformats.org/drawingml/2006/main">
              <a:ext uri="{FF2B5EF4-FFF2-40B4-BE49-F238E27FC236}">
                <a16:creationId xmlns:a16="http://schemas.microsoft.com/office/drawing/2014/main" id="{BFB1B01F-ACF0-4623-A3CF-4DB08091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3" y="6477000"/>
            <a:ext cx="9753300" cy="24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Desktop policy 與 iOS device safety 形成雙層保護；任一層判定資料失效，就停止馬達命令。</a:t>
            </a:r>
          </a:p>
        </p:txBody>
      </p:sp>
      <p:sp>
        <p:nvSpPr>
          <p:cNvPr id="534" name="Google Shape;534;p16">
            <a:extLst xmlns:a="http://schemas.openxmlformats.org/drawingml/2006/main">
              <a:ext uri="{FF2B5EF4-FFF2-40B4-BE49-F238E27FC236}">
                <a16:creationId xmlns:a16="http://schemas.microsoft.com/office/drawing/2014/main" id="{8FED7169-FC51-4622-ABC1-09AEE4D1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3882" y="6477000"/>
            <a:ext cx="1203900" cy="21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73150" tIns="36550" rIns="73150" bIns="365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61707E"/>
                </a:solidFill>
                <a:latin typeface="Calibri"/>
                <a:ea typeface="Calibri"/>
                <a:cs typeface="Calibri"/>
              </a:rPr>
              <a:t>AI Vision Director Desktop V2.3</a:t>
            </a:r>
          </a:p>
        </p:txBody>
      </p:sp>
    </p:spTree>
    <p:extLst>
      <p:ext uri="{BB962C8B-B14F-4D97-AF65-F5344CB8AC3E}">
        <p14:creationId xmlns:p14="http://schemas.microsoft.com/office/powerpoint/2010/main" val="20169963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6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0" name="Google Shape;540;p17">
            <a:extLst xmlns:a="http://schemas.openxmlformats.org/drawingml/2006/main">
              <a:ext uri="{FF2B5EF4-FFF2-40B4-BE49-F238E27FC236}">
                <a16:creationId xmlns:a16="http://schemas.microsoft.com/office/drawing/2014/main" id="{08D45AF0-1B03-443D-9D60-59F139B0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382" y="1790700"/>
            <a:ext cx="5334000" cy="4134000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0B1821"/>
          </a:solidFill>
          <a:ln xmlns:a="http://schemas.openxmlformats.org/drawingml/2006/main" w="16175" cmpd="sng">
            <a:solidFill>
              <a:srgbClr val="FF6B2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41" name="Google Shape;541;p17">
            <a:extLst xmlns:a="http://schemas.openxmlformats.org/drawingml/2006/main">
              <a:ext uri="{FF2B5EF4-FFF2-40B4-BE49-F238E27FC236}">
                <a16:creationId xmlns:a16="http://schemas.microsoft.com/office/drawing/2014/main" id="{96F91262-258D-4EE2-A9E5-3931D214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35" y="1790700"/>
            <a:ext cx="5334000" cy="4134000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0B1821"/>
          </a:solidFill>
          <a:ln xmlns:a="http://schemas.openxmlformats.org/drawingml/2006/main" w="16175" cmpd="sng">
            <a:solidFill>
              <a:srgbClr val="FFD44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42" name="Google Shape;542;p17">
            <a:extLst xmlns:a="http://schemas.openxmlformats.org/drawingml/2006/main">
              <a:ext uri="{FF2B5EF4-FFF2-40B4-BE49-F238E27FC236}">
                <a16:creationId xmlns:a16="http://schemas.microsoft.com/office/drawing/2014/main" id="{926F1F92-49D7-4E4F-BAFE-56BDA2FC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35" y="361950"/>
            <a:ext cx="3810000" cy="2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sz="975" b="1" i="0" u="none" cap="none">
                <a:solidFill>
                  <a:srgbClr val="00D7E7"/>
                </a:solidFill>
                <a:latin typeface="Calibri"/>
                <a:ea typeface="Calibri"/>
                <a:cs typeface="Calibri"/>
              </a:rPr>
              <a:t>15 DUAL-LAYER CONTROL</a:t>
            </a:r>
          </a:p>
        </p:txBody>
      </p:sp>
      <p:sp>
        <p:nvSpPr>
          <p:cNvPr id="543" name="Google Shape;543;p17">
            <a:extLst xmlns:a="http://schemas.openxmlformats.org/drawingml/2006/main">
              <a:ext uri="{FF2B5EF4-FFF2-40B4-BE49-F238E27FC236}">
                <a16:creationId xmlns:a16="http://schemas.microsoft.com/office/drawing/2014/main" id="{22871CAC-706E-4C38-AF88-E401FCA4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35" y="723900"/>
            <a:ext cx="93342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sz="2850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雙層控制：Desktop 先決策，iOS 再安全限幅</a:t>
            </a:r>
          </a:p>
        </p:txBody>
      </p:sp>
      <p:sp>
        <p:nvSpPr>
          <p:cNvPr id="544" name="Google Shape;544;p17">
            <a:extLst xmlns:a="http://schemas.openxmlformats.org/drawingml/2006/main">
              <a:ext uri="{FF2B5EF4-FFF2-40B4-BE49-F238E27FC236}">
                <a16:creationId xmlns:a16="http://schemas.microsoft.com/office/drawing/2014/main" id="{1DA9B11D-E9B6-4C58-A9EA-7DF260E7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85" y="1323975"/>
            <a:ext cx="9334200" cy="2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Desktop policy 產生受限命令；iOS 依裝置狀態、邊界與 timeout 決定是否執行。</a:t>
            </a:r>
          </a:p>
        </p:txBody>
      </p:sp>
      <p:sp>
        <p:nvSpPr>
          <p:cNvPr id="545" name="Google Shape;545;p17">
            <a:extLst xmlns:a="http://schemas.openxmlformats.org/drawingml/2006/main">
              <a:ext uri="{FF2B5EF4-FFF2-40B4-BE49-F238E27FC236}">
                <a16:creationId xmlns:a16="http://schemas.microsoft.com/office/drawing/2014/main" id="{B663C644-C692-4429-89A2-3ACA72F9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440" y="37147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46" name="Google Shape;546;p17">
            <a:extLst xmlns:a="http://schemas.openxmlformats.org/drawingml/2006/main">
              <a:ext uri="{FF2B5EF4-FFF2-40B4-BE49-F238E27FC236}">
                <a16:creationId xmlns:a16="http://schemas.microsoft.com/office/drawing/2014/main" id="{E5C3A8E7-6D78-4DCD-9206-9405065E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627" y="48577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7E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47" name="Google Shape;547;p17">
            <a:extLst xmlns:a="http://schemas.openxmlformats.org/drawingml/2006/main">
              <a:ext uri="{FF2B5EF4-FFF2-40B4-BE49-F238E27FC236}">
                <a16:creationId xmlns:a16="http://schemas.microsoft.com/office/drawing/2014/main" id="{B4719BA1-F251-4270-A187-5D19D1E7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291" y="60007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48" name="Google Shape;548;p17">
            <a:extLst xmlns:a="http://schemas.openxmlformats.org/drawingml/2006/main">
              <a:ext uri="{FF2B5EF4-FFF2-40B4-BE49-F238E27FC236}">
                <a16:creationId xmlns:a16="http://schemas.microsoft.com/office/drawing/2014/main" id="{6EE706A2-3BF5-48A1-BA90-8554363D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478" y="71437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7E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49" name="Google Shape;549;p17">
            <a:extLst xmlns:a="http://schemas.openxmlformats.org/drawingml/2006/main">
              <a:ext uri="{FF2B5EF4-FFF2-40B4-BE49-F238E27FC236}">
                <a16:creationId xmlns:a16="http://schemas.microsoft.com/office/drawing/2014/main" id="{837852CF-6E32-4A15-A9C1-3880C891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617" y="828675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50" name="Google Shape;550;p17">
            <a:extLst xmlns:a="http://schemas.openxmlformats.org/drawingml/2006/main">
              <a:ext uri="{FF2B5EF4-FFF2-40B4-BE49-F238E27FC236}">
                <a16:creationId xmlns:a16="http://schemas.microsoft.com/office/drawing/2014/main" id="{7647BCCD-B764-400C-9BE9-B4F4880A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171" y="6534150"/>
            <a:ext cx="1314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rgbClr val="6F7E88"/>
                </a:solidFill>
                <a:latin typeface="Calibri"/>
                <a:ea typeface="Calibri"/>
                <a:cs typeface="Calibri"/>
              </a:rPr>
              <a:t>AI Vision Director Desktop V2.3</a:t>
            </a:r>
          </a:p>
        </p:txBody>
      </p:sp>
      <p:sp>
        <p:nvSpPr>
          <p:cNvPr id="551" name="Google Shape;551;p17">
            <a:extLst xmlns:a="http://schemas.openxmlformats.org/drawingml/2006/main">
              <a:ext uri="{FF2B5EF4-FFF2-40B4-BE49-F238E27FC236}">
                <a16:creationId xmlns:a16="http://schemas.microsoft.com/office/drawing/2014/main" id="{C7EF1BAC-A34B-4B0A-BEEA-90C0CDC8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28" y="2038350"/>
            <a:ext cx="37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1" i="0" u="none" cap="none">
                <a:solidFill>
                  <a:srgbClr val="FFD447"/>
                </a:solidFill>
                <a:latin typeface="Calibri"/>
                <a:ea typeface="Calibri"/>
                <a:cs typeface="Calibri"/>
              </a:rPr>
              <a:t>1. Desktop：Camera Control Policy</a:t>
            </a:r>
          </a:p>
        </p:txBody>
      </p:sp>
      <p:sp>
        <p:nvSpPr>
          <p:cNvPr id="552" name="Google Shape;552;p17">
            <a:extLst xmlns:a="http://schemas.openxmlformats.org/drawingml/2006/main">
              <a:ext uri="{FF2B5EF4-FFF2-40B4-BE49-F238E27FC236}">
                <a16:creationId xmlns:a16="http://schemas.microsoft.com/office/drawing/2014/main" id="{F6349739-DFC2-4AE9-9AA0-FB829596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28" y="2362200"/>
            <a:ext cx="447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sz="145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framing error → dead zone / hysteresis → rate limits</a:t>
            </a:r>
          </a:p>
        </p:txBody>
      </p:sp>
      <p:sp>
        <p:nvSpPr>
          <p:cNvPr id="553" name="Google Shape;553;p17">
            <a:extLst xmlns:a="http://schemas.openxmlformats.org/drawingml/2006/main">
              <a:ext uri="{FF2B5EF4-FFF2-40B4-BE49-F238E27FC236}">
                <a16:creationId xmlns:a16="http://schemas.microsoft.com/office/drawing/2014/main" id="{DD8D3C0C-0A86-4AA3-9D4B-04097636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07" y="2819550"/>
            <a:ext cx="2105700" cy="205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A"/>
          </a:solidFill>
          <a:ln xmlns:a="http://schemas.openxmlformats.org/drawingml/2006/main" w="9525" cmpd="sng">
            <a:solidFill>
              <a:srgbClr val="5B68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54" name="Google Shape;554;p17">
            <a:extLst xmlns:a="http://schemas.openxmlformats.org/drawingml/2006/main">
              <a:ext uri="{FF2B5EF4-FFF2-40B4-BE49-F238E27FC236}">
                <a16:creationId xmlns:a16="http://schemas.microsoft.com/office/drawing/2014/main" id="{97BC110D-A21F-40BC-B570-418F0117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95" y="285750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55" name="Google Shape;555;p17">
            <a:extLst xmlns:a="http://schemas.openxmlformats.org/drawingml/2006/main">
              <a:ext uri="{FF2B5EF4-FFF2-40B4-BE49-F238E27FC236}">
                <a16:creationId xmlns:a16="http://schemas.microsoft.com/office/drawing/2014/main" id="{12C91778-9997-48C2-87FE-FFC8BB57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981" y="285750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56" name="Google Shape;556;p17">
            <a:extLst xmlns:a="http://schemas.openxmlformats.org/drawingml/2006/main">
              <a:ext uri="{FF2B5EF4-FFF2-40B4-BE49-F238E27FC236}">
                <a16:creationId xmlns:a16="http://schemas.microsoft.com/office/drawing/2014/main" id="{2E7F9308-C659-4C75-8676-434D445D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268" y="285750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57" name="Google Shape;557;p17">
            <a:extLst xmlns:a="http://schemas.openxmlformats.org/drawingml/2006/main">
              <a:ext uri="{FF2B5EF4-FFF2-40B4-BE49-F238E27FC236}">
                <a16:creationId xmlns:a16="http://schemas.microsoft.com/office/drawing/2014/main" id="{A39F4E3E-C433-4630-BC5F-B82388FB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555" y="285750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58" name="Google Shape;558;p17">
            <a:extLst xmlns:a="http://schemas.openxmlformats.org/drawingml/2006/main">
              <a:ext uri="{FF2B5EF4-FFF2-40B4-BE49-F238E27FC236}">
                <a16:creationId xmlns:a16="http://schemas.microsoft.com/office/drawing/2014/main" id="{4F91E3C8-41EF-476C-89C8-90CEB522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08" y="3328988"/>
            <a:ext cx="24765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59" name="Google Shape;559;p17">
            <a:extLst xmlns:a="http://schemas.openxmlformats.org/drawingml/2006/main">
              <a:ext uri="{FF2B5EF4-FFF2-40B4-BE49-F238E27FC236}">
                <a16:creationId xmlns:a16="http://schemas.microsoft.com/office/drawing/2014/main" id="{F907540C-5744-4F1A-9ACA-069BD701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08" y="3800475"/>
            <a:ext cx="24765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60" name="Google Shape;560;p17">
            <a:extLst xmlns:a="http://schemas.openxmlformats.org/drawingml/2006/main">
              <a:ext uri="{FF2B5EF4-FFF2-40B4-BE49-F238E27FC236}">
                <a16:creationId xmlns:a16="http://schemas.microsoft.com/office/drawing/2014/main" id="{009AF57D-B044-4DFF-AAF8-7E0B0F9D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08" y="4271963"/>
            <a:ext cx="24765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61" name="Google Shape;561;p17">
            <a:extLst xmlns:a="http://schemas.openxmlformats.org/drawingml/2006/main">
              <a:ext uri="{FF2B5EF4-FFF2-40B4-BE49-F238E27FC236}">
                <a16:creationId xmlns:a16="http://schemas.microsoft.com/office/drawing/2014/main" id="{724D2FAE-3C09-4C2E-AB2B-408DE725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179" y="3800475"/>
            <a:ext cx="342900" cy="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62" name="Google Shape;562;p17">
            <a:extLst xmlns:a="http://schemas.openxmlformats.org/drawingml/2006/main">
              <a:ext uri="{FF2B5EF4-FFF2-40B4-BE49-F238E27FC236}">
                <a16:creationId xmlns:a16="http://schemas.microsoft.com/office/drawing/2014/main" id="{2DF20A75-A797-429C-A8B5-134AAF41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625" y="3629025"/>
            <a:ext cx="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63" name="Google Shape;563;p17">
            <a:extLst xmlns:a="http://schemas.openxmlformats.org/drawingml/2006/main">
              <a:ext uri="{FF2B5EF4-FFF2-40B4-BE49-F238E27FC236}">
                <a16:creationId xmlns:a16="http://schemas.microsoft.com/office/drawing/2014/main" id="{45A82155-5CAD-4FA9-A6AF-EBD8B897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338" y="3333750"/>
            <a:ext cx="990600" cy="7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mpd="sng">
            <a:solidFill>
              <a:srgbClr val="FFD44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64" name="Google Shape;564;p17">
            <a:extLst xmlns:a="http://schemas.openxmlformats.org/drawingml/2006/main">
              <a:ext uri="{FF2B5EF4-FFF2-40B4-BE49-F238E27FC236}">
                <a16:creationId xmlns:a16="http://schemas.microsoft.com/office/drawing/2014/main" id="{6F1BD94B-2AAD-48AD-B3FF-79E2D6AC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925" y="296227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5"/>
              <a:buFont typeface="Arial"/>
              <a:buNone/>
            </a:pPr>
            <a:r>
              <a:rPr sz="1525" b="0" i="0" u="none" cap="none">
                <a:solidFill>
                  <a:srgbClr val="FFD447"/>
                </a:solidFill>
                <a:latin typeface="Calibri"/>
                <a:ea typeface="Calibri"/>
                <a:cs typeface="Calibri"/>
              </a:rPr>
              <a:t>Desktop Policy</a:t>
            </a:r>
          </a:p>
        </p:txBody>
      </p:sp>
      <p:sp>
        <p:nvSpPr>
          <p:cNvPr id="565" name="Google Shape;565;p17">
            <a:extLst xmlns:a="http://schemas.openxmlformats.org/drawingml/2006/main">
              <a:ext uri="{FF2B5EF4-FFF2-40B4-BE49-F238E27FC236}">
                <a16:creationId xmlns:a16="http://schemas.microsoft.com/office/drawing/2014/main" id="{B6CAAEEE-3213-4DE2-8DB0-3D5926B9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219" y="3724275"/>
            <a:ext cx="133500" cy="1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FF"/>
          </a:solidFill>
          <a:ln xmlns:a="http://schemas.openxmlformats.org/drawingml/2006/main" w="9525" cmpd="sng">
            <a:solidFill>
              <a:srgbClr val="2E6B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66" name="Google Shape;566;p17">
            <a:extLst xmlns:a="http://schemas.openxmlformats.org/drawingml/2006/main">
              <a:ext uri="{FF2B5EF4-FFF2-40B4-BE49-F238E27FC236}">
                <a16:creationId xmlns:a16="http://schemas.microsoft.com/office/drawing/2014/main" id="{D4D65EBB-D3E3-4F4B-BC9B-72A63FE0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253" y="3650425"/>
            <a:ext cx="696300" cy="2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5"/>
              <a:buFont typeface="Arial"/>
              <a:buNone/>
            </a:pPr>
            <a:r>
              <a:rPr sz="1525" b="0" i="0" u="none" cap="none">
                <a:solidFill>
                  <a:srgbClr val="A9B8C4"/>
                </a:solidFill>
                <a:latin typeface="Calibri"/>
                <a:ea typeface="Calibri"/>
                <a:cs typeface="Calibri"/>
              </a:rPr>
              <a:t>Target</a:t>
            </a:r>
          </a:p>
        </p:txBody>
      </p:sp>
      <p:sp>
        <p:nvSpPr>
          <p:cNvPr id="567" name="Google Shape;567;p17">
            <a:extLst xmlns:a="http://schemas.openxmlformats.org/drawingml/2006/main">
              <a:ext uri="{FF2B5EF4-FFF2-40B4-BE49-F238E27FC236}">
                <a16:creationId xmlns:a16="http://schemas.microsoft.com/office/drawing/2014/main" id="{87B10435-CDB9-44F0-A27A-12EEDF33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991" y="4210050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中心附近不動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不讓微小 bbox 抖動變成馬達動作</a:t>
            </a:r>
          </a:p>
        </p:txBody>
      </p:sp>
      <p:sp>
        <p:nvSpPr>
          <p:cNvPr id="568" name="Google Shape;568;p17">
            <a:extLst xmlns:a="http://schemas.openxmlformats.org/drawingml/2006/main">
              <a:ext uri="{FF2B5EF4-FFF2-40B4-BE49-F238E27FC236}">
                <a16:creationId xmlns:a16="http://schemas.microsoft.com/office/drawing/2014/main" id="{1BFA8234-3BDB-4291-B381-03035A39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76" y="5086350"/>
            <a:ext cx="4572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D1B25"/>
          </a:solidFill>
          <a:ln xmlns:a="http://schemas.openxmlformats.org/drawingml/2006/main" w="10475" cmpd="sng">
            <a:solidFill>
              <a:srgbClr val="FFD44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69" name="Google Shape;569;p17">
            <a:extLst xmlns:a="http://schemas.openxmlformats.org/drawingml/2006/main">
              <a:ext uri="{FF2B5EF4-FFF2-40B4-BE49-F238E27FC236}">
                <a16:creationId xmlns:a16="http://schemas.microsoft.com/office/drawing/2014/main" id="{D21C0A7E-2046-4F9F-B9B8-6BC5705C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83" y="5161479"/>
            <a:ext cx="4772400" cy="1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sz="1275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身份不確定或失追時，Desktop 凍結／限制輸出。</a:t>
            </a:r>
          </a:p>
        </p:txBody>
      </p:sp>
      <p:sp>
        <p:nvSpPr>
          <p:cNvPr id="570" name="Google Shape;570;p17">
            <a:extLst xmlns:a="http://schemas.openxmlformats.org/drawingml/2006/main">
              <a:ext uri="{FF2B5EF4-FFF2-40B4-BE49-F238E27FC236}">
                <a16:creationId xmlns:a16="http://schemas.microsoft.com/office/drawing/2014/main" id="{DA48B54B-44D5-4936-9119-7518FFA9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075" y="2038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1" i="0" u="none" cap="none">
                <a:solidFill>
                  <a:srgbClr val="FF6B2B"/>
                </a:solidFill>
                <a:latin typeface="Calibri"/>
                <a:ea typeface="Calibri"/>
                <a:cs typeface="Calibri"/>
              </a:rPr>
              <a:t>2. iOS：裝置安全 + DockKit</a:t>
            </a:r>
          </a:p>
        </p:txBody>
      </p:sp>
      <p:sp>
        <p:nvSpPr>
          <p:cNvPr id="571" name="Google Shape;571;p17">
            <a:extLst xmlns:a="http://schemas.openxmlformats.org/drawingml/2006/main">
              <a:ext uri="{FF2B5EF4-FFF2-40B4-BE49-F238E27FC236}">
                <a16:creationId xmlns:a16="http://schemas.microsoft.com/office/drawing/2014/main" id="{7B27F061-23A0-4ECB-9FAC-B3C6505A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075" y="2362200"/>
            <a:ext cx="447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sz="1450" b="0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sequence / lock / timeout → smoothing / edge limits</a:t>
            </a:r>
          </a:p>
        </p:txBody>
      </p:sp>
      <p:sp>
        <p:nvSpPr>
          <p:cNvPr id="572" name="Google Shape;572;p17">
            <a:extLst xmlns:a="http://schemas.openxmlformats.org/drawingml/2006/main">
              <a:ext uri="{FF2B5EF4-FFF2-40B4-BE49-F238E27FC236}">
                <a16:creationId xmlns:a16="http://schemas.microsoft.com/office/drawing/2014/main" id="{52EF6994-3C98-446C-8280-1A92695B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223" y="2838450"/>
            <a:ext cx="23814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A"/>
          </a:solidFill>
          <a:ln xmlns:a="http://schemas.openxmlformats.org/drawingml/2006/main" w="9525" cmpd="sng">
            <a:solidFill>
              <a:srgbClr val="5B687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73" name="Google Shape;573;p17">
            <a:extLst xmlns:a="http://schemas.openxmlformats.org/drawingml/2006/main">
              <a:ext uri="{FF2B5EF4-FFF2-40B4-BE49-F238E27FC236}">
                <a16:creationId xmlns:a16="http://schemas.microsoft.com/office/drawing/2014/main" id="{E8F600DD-2817-4AA6-9506-496A41DF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461" y="283845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74" name="Google Shape;574;p17">
            <a:extLst xmlns:a="http://schemas.openxmlformats.org/drawingml/2006/main">
              <a:ext uri="{FF2B5EF4-FFF2-40B4-BE49-F238E27FC236}">
                <a16:creationId xmlns:a16="http://schemas.microsoft.com/office/drawing/2014/main" id="{0A58813F-1A0F-4439-B08D-428BDC9E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698" y="283845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75" name="Google Shape;575;p17">
            <a:extLst xmlns:a="http://schemas.openxmlformats.org/drawingml/2006/main">
              <a:ext uri="{FF2B5EF4-FFF2-40B4-BE49-F238E27FC236}">
                <a16:creationId xmlns:a16="http://schemas.microsoft.com/office/drawing/2014/main" id="{A7053C06-64D9-4A64-968F-AFDCD456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7935" y="283845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76" name="Google Shape;576;p17">
            <a:extLst xmlns:a="http://schemas.openxmlformats.org/drawingml/2006/main">
              <a:ext uri="{FF2B5EF4-FFF2-40B4-BE49-F238E27FC236}">
                <a16:creationId xmlns:a16="http://schemas.microsoft.com/office/drawing/2014/main" id="{A0142333-BEDF-40C3-BBA4-9D567E4E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173" y="2838450"/>
            <a:ext cx="9600" cy="18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77" name="Google Shape;577;p17">
            <a:extLst xmlns:a="http://schemas.openxmlformats.org/drawingml/2006/main">
              <a:ext uri="{FF2B5EF4-FFF2-40B4-BE49-F238E27FC236}">
                <a16:creationId xmlns:a16="http://schemas.microsoft.com/office/drawing/2014/main" id="{076DC0E3-5675-49E3-B92F-FB018BF0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223" y="3309938"/>
            <a:ext cx="23814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78" name="Google Shape;578;p17">
            <a:extLst xmlns:a="http://schemas.openxmlformats.org/drawingml/2006/main">
              <a:ext uri="{FF2B5EF4-FFF2-40B4-BE49-F238E27FC236}">
                <a16:creationId xmlns:a16="http://schemas.microsoft.com/office/drawing/2014/main" id="{678AC242-5098-4576-B1D2-99F318FD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223" y="3781425"/>
            <a:ext cx="23814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79" name="Google Shape;579;p17">
            <a:extLst xmlns:a="http://schemas.openxmlformats.org/drawingml/2006/main">
              <a:ext uri="{FF2B5EF4-FFF2-40B4-BE49-F238E27FC236}">
                <a16:creationId xmlns:a16="http://schemas.microsoft.com/office/drawing/2014/main" id="{C1028393-61E3-48EE-AABE-42802226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223" y="4252913"/>
            <a:ext cx="2381400" cy="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3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80" name="Google Shape;580;p17">
            <a:extLst xmlns:a="http://schemas.openxmlformats.org/drawingml/2006/main">
              <a:ext uri="{FF2B5EF4-FFF2-40B4-BE49-F238E27FC236}">
                <a16:creationId xmlns:a16="http://schemas.microsoft.com/office/drawing/2014/main" id="{0A7DE7E0-70B8-4D9B-8116-DBFAA03B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371" y="3781425"/>
            <a:ext cx="342900" cy="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81" name="Google Shape;581;p17">
            <a:extLst xmlns:a="http://schemas.openxmlformats.org/drawingml/2006/main">
              <a:ext uri="{FF2B5EF4-FFF2-40B4-BE49-F238E27FC236}">
                <a16:creationId xmlns:a16="http://schemas.microsoft.com/office/drawing/2014/main" id="{BBFA9031-10DB-4248-AD36-7D1D1C03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9817" y="3609975"/>
            <a:ext cx="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82" name="Google Shape;582;p17">
            <a:extLst xmlns:a="http://schemas.openxmlformats.org/drawingml/2006/main">
              <a:ext uri="{FF2B5EF4-FFF2-40B4-BE49-F238E27FC236}">
                <a16:creationId xmlns:a16="http://schemas.microsoft.com/office/drawing/2014/main" id="{8B42F582-1929-4018-BF2B-69443A5F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282" y="3343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BFF"/>
          </a:solidFill>
          <a:ln xmlns:a="http://schemas.openxmlformats.org/drawingml/2006/main" w="9525" cmpd="sng">
            <a:solidFill>
              <a:srgbClr val="2E6B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83" name="Google Shape;583;p17">
            <a:extLst xmlns:a="http://schemas.openxmlformats.org/drawingml/2006/main">
              <a:ext uri="{FF2B5EF4-FFF2-40B4-BE49-F238E27FC236}">
                <a16:creationId xmlns:a16="http://schemas.microsoft.com/office/drawing/2014/main" id="{E9ABF02E-950E-48FD-AE38-F4510ED1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9325" y="2952750"/>
            <a:ext cx="69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5"/>
              <a:buFont typeface="Arial"/>
              <a:buNone/>
            </a:pPr>
            <a:r>
              <a:rPr sz="1525" b="0" i="0" u="none" cap="none">
                <a:solidFill>
                  <a:srgbClr val="A9B8C4"/>
                </a:solidFill>
                <a:latin typeface="Calibri"/>
                <a:ea typeface="Calibri"/>
                <a:cs typeface="Calibri"/>
              </a:rPr>
              <a:t>Target</a:t>
            </a:r>
          </a:p>
        </p:txBody>
      </p:sp>
      <p:sp>
        <p:nvSpPr>
          <p:cNvPr id="584" name="Google Shape;584;p17">
            <a:extLst xmlns:a="http://schemas.openxmlformats.org/drawingml/2006/main">
              <a:ext uri="{FF2B5EF4-FFF2-40B4-BE49-F238E27FC236}">
                <a16:creationId xmlns:a16="http://schemas.microsoft.com/office/drawing/2014/main" id="{C8401FA9-12A5-46A3-8FBA-AF6E9FDD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9817" y="3781425"/>
            <a:ext cx="419100" cy="2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85" name="Google Shape;585;p17">
            <a:extLst xmlns:a="http://schemas.openxmlformats.org/drawingml/2006/main">
              <a:ext uri="{FF2B5EF4-FFF2-40B4-BE49-F238E27FC236}">
                <a16:creationId xmlns:a16="http://schemas.microsoft.com/office/drawing/2014/main" id="{7DAD8692-117A-47EA-BBD7-D0FC67C1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905" y="3438525"/>
            <a:ext cx="28500" cy="3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7E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86" name="Google Shape;586;p17">
            <a:extLst xmlns:a="http://schemas.openxmlformats.org/drawingml/2006/main">
              <a:ext uri="{FF2B5EF4-FFF2-40B4-BE49-F238E27FC236}">
                <a16:creationId xmlns:a16="http://schemas.microsoft.com/office/drawing/2014/main" id="{27DD312A-D2A9-4C74-953D-A1A768A8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9825" y="3867150"/>
            <a:ext cx="8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FF6B2B"/>
                </a:solidFill>
                <a:latin typeface="Calibri"/>
                <a:ea typeface="Calibri"/>
                <a:cs typeface="Calibri"/>
              </a:rPr>
              <a:t>error_x</a:t>
            </a:r>
          </a:p>
        </p:txBody>
      </p:sp>
      <p:sp>
        <p:nvSpPr>
          <p:cNvPr id="587" name="Google Shape;587;p17">
            <a:extLst xmlns:a="http://schemas.openxmlformats.org/drawingml/2006/main">
              <a:ext uri="{FF2B5EF4-FFF2-40B4-BE49-F238E27FC236}">
                <a16:creationId xmlns:a16="http://schemas.microsoft.com/office/drawing/2014/main" id="{AC94FE61-BBEE-4A78-99CB-6840E8D7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215" y="3486150"/>
            <a:ext cx="88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00D7E7"/>
                </a:solidFill>
                <a:latin typeface="Calibri"/>
                <a:ea typeface="Calibri"/>
                <a:cs typeface="Calibri"/>
              </a:rPr>
              <a:t>error_y</a:t>
            </a:r>
          </a:p>
        </p:txBody>
      </p:sp>
      <p:sp>
        <p:nvSpPr>
          <p:cNvPr id="588" name="Google Shape;588;p17">
            <a:extLst xmlns:a="http://schemas.openxmlformats.org/drawingml/2006/main">
              <a:ext uri="{FF2B5EF4-FFF2-40B4-BE49-F238E27FC236}">
                <a16:creationId xmlns:a16="http://schemas.microsoft.com/office/drawing/2014/main" id="{BD0AD11E-1046-441E-B104-9F3523DB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268" y="3562350"/>
            <a:ext cx="2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sz="2250" b="1" i="0" u="none" cap="none">
                <a:solidFill>
                  <a:srgbClr val="A9B8C4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589" name="Google Shape;589;p17">
            <a:extLst xmlns:a="http://schemas.openxmlformats.org/drawingml/2006/main">
              <a:ext uri="{FF2B5EF4-FFF2-40B4-BE49-F238E27FC236}">
                <a16:creationId xmlns:a16="http://schemas.microsoft.com/office/drawing/2014/main" id="{0F813CED-EE32-4186-92F6-63EBA000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800" y="2857449"/>
            <a:ext cx="1886100" cy="7737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D1B25"/>
          </a:solidFill>
          <a:ln xmlns:a="http://schemas.openxmlformats.org/drawingml/2006/main" w="14500" cmpd="sng">
            <a:solidFill>
              <a:srgbClr val="FF6B2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16050" tIns="116050" rIns="116050" bIns="1160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90" name="Google Shape;590;p17">
            <a:extLst xmlns:a="http://schemas.openxmlformats.org/drawingml/2006/main">
              <a:ext uri="{FF2B5EF4-FFF2-40B4-BE49-F238E27FC236}">
                <a16:creationId xmlns:a16="http://schemas.microsoft.com/office/drawing/2014/main" id="{F8CC8763-244E-40FB-8296-6D5C0BC6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424" y="2909530"/>
            <a:ext cx="1451100" cy="21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6050" tIns="58025" rIns="116050" bIns="58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9"/>
              <a:buFont typeface="Arial"/>
              <a:buNone/>
            </a:pPr>
            <a:r>
              <a:rPr sz="1809" b="1" i="0" u="none" cap="none">
                <a:solidFill>
                  <a:srgbClr val="FF6B2B"/>
                </a:solidFill>
                <a:latin typeface="Calibri"/>
                <a:ea typeface="Calibri"/>
                <a:cs typeface="Calibri"/>
              </a:rPr>
              <a:t>yaw</a:t>
            </a:r>
          </a:p>
        </p:txBody>
      </p:sp>
      <p:sp>
        <p:nvSpPr>
          <p:cNvPr id="591" name="Google Shape;591;p17">
            <a:extLst xmlns:a="http://schemas.openxmlformats.org/drawingml/2006/main">
              <a:ext uri="{FF2B5EF4-FFF2-40B4-BE49-F238E27FC236}">
                <a16:creationId xmlns:a16="http://schemas.microsoft.com/office/drawing/2014/main" id="{8FF2DE2E-4B49-4ACB-92E1-81E5DE1B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424" y="3223882"/>
            <a:ext cx="1451100" cy="16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6050" tIns="58025" rIns="116050" bIns="58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sz="1428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error_x × gain</a:t>
            </a:r>
          </a:p>
        </p:txBody>
      </p:sp>
      <p:sp>
        <p:nvSpPr>
          <p:cNvPr id="592" name="Google Shape;592;p17">
            <a:extLst xmlns:a="http://schemas.openxmlformats.org/drawingml/2006/main">
              <a:ext uri="{FF2B5EF4-FFF2-40B4-BE49-F238E27FC236}">
                <a16:creationId xmlns:a16="http://schemas.microsoft.com/office/drawing/2014/main" id="{63DC5581-B1D7-496F-97C1-3A9B2120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3800" y="3969773"/>
            <a:ext cx="1886100" cy="7737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D1B25"/>
          </a:solidFill>
          <a:ln xmlns:a="http://schemas.openxmlformats.org/drawingml/2006/main" w="14500" cmpd="sng">
            <a:solidFill>
              <a:srgbClr val="00D7E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16050" tIns="116050" rIns="116050" bIns="11605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7"/>
              <a:buFont typeface="Arial"/>
              <a:buNone/>
            </a:pPr>
            <a:r>
              <a:t/>
            </a:r>
          </a:p>
        </p:txBody>
      </p:sp>
      <p:sp>
        <p:nvSpPr>
          <p:cNvPr id="593" name="Google Shape;593;p17">
            <a:extLst xmlns:a="http://schemas.openxmlformats.org/drawingml/2006/main">
              <a:ext uri="{FF2B5EF4-FFF2-40B4-BE49-F238E27FC236}">
                <a16:creationId xmlns:a16="http://schemas.microsoft.com/office/drawing/2014/main" id="{D9BAB235-BD8A-4255-8FE1-8A414C83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424" y="4041517"/>
            <a:ext cx="1451100" cy="21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6050" tIns="58025" rIns="116050" bIns="58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9"/>
              <a:buFont typeface="Arial"/>
              <a:buNone/>
            </a:pPr>
            <a:r>
              <a:rPr sz="1809" b="1" i="0" u="none" cap="none">
                <a:solidFill>
                  <a:srgbClr val="00D7E7"/>
                </a:solidFill>
                <a:latin typeface="Calibri"/>
                <a:ea typeface="Calibri"/>
                <a:cs typeface="Calibri"/>
              </a:rPr>
              <a:t>pitch</a:t>
            </a:r>
          </a:p>
        </p:txBody>
      </p:sp>
      <p:sp>
        <p:nvSpPr>
          <p:cNvPr id="594" name="Google Shape;594;p17">
            <a:extLst xmlns:a="http://schemas.openxmlformats.org/drawingml/2006/main">
              <a:ext uri="{FF2B5EF4-FFF2-40B4-BE49-F238E27FC236}">
                <a16:creationId xmlns:a16="http://schemas.microsoft.com/office/drawing/2014/main" id="{1D094336-C4C1-47BF-BFB3-5C8D218E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4713" y="4343874"/>
            <a:ext cx="1644300" cy="19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6050" tIns="58025" rIns="116050" bIns="5802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8"/>
              <a:buFont typeface="Arial"/>
              <a:buNone/>
            </a:pPr>
            <a:r>
              <a:rPr sz="1428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−error_y × gain</a:t>
            </a:r>
          </a:p>
        </p:txBody>
      </p:sp>
      <p:sp>
        <p:nvSpPr>
          <p:cNvPr id="595" name="Google Shape;595;p17">
            <a:extLst xmlns:a="http://schemas.openxmlformats.org/drawingml/2006/main">
              <a:ext uri="{FF2B5EF4-FFF2-40B4-BE49-F238E27FC236}">
                <a16:creationId xmlns:a16="http://schemas.microsoft.com/office/drawing/2014/main" id="{F7F1578B-AB1E-4C8A-8F4A-7439C254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775" y="5162550"/>
            <a:ext cx="1047900" cy="1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sz="1050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DockKit velocity</a:t>
            </a:r>
          </a:p>
        </p:txBody>
      </p:sp>
      <p:sp>
        <p:nvSpPr>
          <p:cNvPr id="596" name="Google Shape;596;p17">
            <a:extLst xmlns:a="http://schemas.openxmlformats.org/drawingml/2006/main">
              <a:ext uri="{FF2B5EF4-FFF2-40B4-BE49-F238E27FC236}">
                <a16:creationId xmlns:a16="http://schemas.microsoft.com/office/drawing/2014/main" id="{53D00790-433D-438D-B162-39BE33B6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322" y="5086350"/>
            <a:ext cx="4572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D1B25"/>
          </a:solidFill>
          <a:ln xmlns:a="http://schemas.openxmlformats.org/drawingml/2006/main" w="10475" cmpd="sng">
            <a:solidFill>
              <a:srgbClr val="FF6B2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97" name="Google Shape;597;p17">
            <a:extLst xmlns:a="http://schemas.openxmlformats.org/drawingml/2006/main">
              <a:ext uri="{FF2B5EF4-FFF2-40B4-BE49-F238E27FC236}">
                <a16:creationId xmlns:a16="http://schemas.microsoft.com/office/drawing/2014/main" id="{DDBE0927-15E4-428B-BF3B-E109A3AB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481" y="5141351"/>
            <a:ext cx="419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5"/>
              <a:buFont typeface="Arial"/>
              <a:buNone/>
            </a:pPr>
            <a:r>
              <a:rPr sz="1375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近邊界降速；異常狀態 → STOP。</a:t>
            </a:r>
          </a:p>
        </p:txBody>
      </p:sp>
      <p:sp>
        <p:nvSpPr>
          <p:cNvPr id="598" name="Google Shape;598;p17">
            <a:extLst xmlns:a="http://schemas.openxmlformats.org/drawingml/2006/main">
              <a:ext uri="{FF2B5EF4-FFF2-40B4-BE49-F238E27FC236}">
                <a16:creationId xmlns:a16="http://schemas.microsoft.com/office/drawing/2014/main" id="{A843F26D-D376-4B39-B4BB-176BCEB0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687" y="6153150"/>
            <a:ext cx="7086300" cy="3621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D1B25"/>
          </a:solidFill>
          <a:ln xmlns:a="http://schemas.openxmlformats.org/drawingml/2006/main" w="10475" cmpd="sng">
            <a:solidFill>
              <a:srgbClr val="FF6B2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599" name="Google Shape;599;p17">
            <a:extLst xmlns:a="http://schemas.openxmlformats.org/drawingml/2006/main">
              <a:ext uri="{FF2B5EF4-FFF2-40B4-BE49-F238E27FC236}">
                <a16:creationId xmlns:a16="http://schemas.microsoft.com/office/drawing/2014/main" id="{7ABBA82D-2421-4365-8C0E-BCCA99FB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897" y="6193311"/>
            <a:ext cx="7366200" cy="21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5"/>
              <a:buFont typeface="Arial"/>
              <a:buNone/>
            </a:pPr>
            <a:r>
              <a:rPr sz="1375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雙層原則：Desktop 負責拍攝意圖與控制政策，iOS 負責裝置安全與 DockKit 執行。</a:t>
            </a:r>
          </a:p>
        </p:txBody>
      </p:sp>
      <p:pic>
        <p:nvPicPr>
          <p:cNvPr id="661" name="Google Shape;600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dc372a1c594fc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48978" y="2770121"/>
            <a:ext cx="2056925" cy="213691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81094845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6" name="Google Shape;606;p18">
            <a:extLst xmlns:a="http://schemas.openxmlformats.org/drawingml/2006/main">
              <a:ext uri="{FF2B5EF4-FFF2-40B4-BE49-F238E27FC236}">
                <a16:creationId xmlns:a16="http://schemas.microsoft.com/office/drawing/2014/main" id="{B111C83B-DA58-4EA9-9726-E1C91C49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07" name="Google Shape;607;p18">
            <a:extLst xmlns:a="http://schemas.openxmlformats.org/drawingml/2006/main">
              <a:ext uri="{FF2B5EF4-FFF2-40B4-BE49-F238E27FC236}">
                <a16:creationId xmlns:a16="http://schemas.microsoft.com/office/drawing/2014/main" id="{40275DA8-6407-4D28-B2E6-5A73964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08" name="Google Shape;608;p18">
            <a:extLst xmlns:a="http://schemas.openxmlformats.org/drawingml/2006/main">
              <a:ext uri="{FF2B5EF4-FFF2-40B4-BE49-F238E27FC236}">
                <a16:creationId xmlns:a16="http://schemas.microsoft.com/office/drawing/2014/main" id="{8A19CE32-94E1-404A-8046-22A6FE38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09" name="Google Shape;609;p18">
            <a:extLst xmlns:a="http://schemas.openxmlformats.org/drawingml/2006/main">
              <a:ext uri="{FF2B5EF4-FFF2-40B4-BE49-F238E27FC236}">
                <a16:creationId xmlns:a16="http://schemas.microsoft.com/office/drawing/2014/main" id="{74209795-92EC-439E-8A7A-25993EDA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10" name="Google Shape;610;p18">
            <a:extLst xmlns:a="http://schemas.openxmlformats.org/drawingml/2006/main">
              <a:ext uri="{FF2B5EF4-FFF2-40B4-BE49-F238E27FC236}">
                <a16:creationId xmlns:a16="http://schemas.microsoft.com/office/drawing/2014/main" id="{2A7C14C3-5AEA-452E-AFE5-B5B5055C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11" name="Google Shape;611;p18">
            <a:extLst xmlns:a="http://schemas.openxmlformats.org/drawingml/2006/main">
              <a:ext uri="{FF2B5EF4-FFF2-40B4-BE49-F238E27FC236}">
                <a16:creationId xmlns:a16="http://schemas.microsoft.com/office/drawing/2014/main" id="{EA066D4F-47FA-4C53-8B05-071D1F47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12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16 STATE &amp; SAFETY</a:t>
            </a:r>
          </a:p>
        </p:txBody>
      </p:sp>
      <p:sp>
        <p:nvSpPr>
          <p:cNvPr id="612" name="Google Shape;612;p18">
            <a:extLst xmlns:a="http://schemas.openxmlformats.org/drawingml/2006/main">
              <a:ext uri="{FF2B5EF4-FFF2-40B4-BE49-F238E27FC236}">
                <a16:creationId xmlns:a16="http://schemas.microsoft.com/office/drawing/2014/main" id="{C96C6419-E99E-41ED-8150-F70BD5E7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2600"/>
              <a:buFont typeface="Microsoft JhengHei"/>
              <a:buNone/>
            </a:pPr>
            <a:r>
              <a:rPr sz="228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追蹤狀態與安全閘：短失追可預測，連線異常立即停止</a:t>
            </a:r>
          </a:p>
        </p:txBody>
      </p:sp>
      <p:sp>
        <p:nvSpPr>
          <p:cNvPr id="613" name="Google Shape;613;p18">
            <a:extLst xmlns:a="http://schemas.openxmlformats.org/drawingml/2006/main">
              <a:ext uri="{FF2B5EF4-FFF2-40B4-BE49-F238E27FC236}">
                <a16:creationId xmlns:a16="http://schemas.microsoft.com/office/drawing/2014/main" id="{D2FE5A4C-D396-447C-986F-10097589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87752"/>
            <a:ext cx="2469000" cy="50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2800"/>
              <a:buFont typeface="Play"/>
              <a:buNone/>
            </a:pPr>
            <a:r>
              <a:rPr sz="2800" b="1" i="0" u="none" cap="none">
                <a:solidFill>
                  <a:srgbClr val="12D6DF"/>
                </a:solidFill>
                <a:latin typeface="Play"/>
                <a:ea typeface="Play"/>
                <a:cs typeface="Play"/>
              </a:rPr>
              <a:t>Tracking</a:t>
            </a:r>
          </a:p>
        </p:txBody>
      </p:sp>
      <p:sp>
        <p:nvSpPr>
          <p:cNvPr id="614" name="Google Shape;614;p18">
            <a:extLst xmlns:a="http://schemas.openxmlformats.org/drawingml/2006/main">
              <a:ext uri="{FF2B5EF4-FFF2-40B4-BE49-F238E27FC236}">
                <a16:creationId xmlns:a16="http://schemas.microsoft.com/office/drawing/2014/main" id="{CB703EC0-B119-4E40-9EF1-60000E84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75" y="3145250"/>
            <a:ext cx="2713800" cy="3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150"/>
              <a:buFont typeface="Microsoft JhengHei"/>
              <a:buNone/>
            </a:pPr>
            <a:r>
              <a:rPr sz="125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目標鎖定時持續輸出構圖與控制命令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150"/>
              <a:buFont typeface="Microsoft JhengHei"/>
              <a:buNone/>
            </a:pPr>
            <a:r>
              <a:rPr sz="125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GID 維持指定車輛身份</a:t>
            </a:r>
          </a:p>
        </p:txBody>
      </p:sp>
      <p:sp>
        <p:nvSpPr>
          <p:cNvPr id="615" name="Google Shape;615;p18">
            <a:extLst xmlns:a="http://schemas.openxmlformats.org/drawingml/2006/main">
              <a:ext uri="{FF2B5EF4-FFF2-40B4-BE49-F238E27FC236}">
                <a16:creationId xmlns:a16="http://schemas.microsoft.com/office/drawing/2014/main" id="{CC25F9DE-DC56-4863-A57E-7C4A093F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87752"/>
            <a:ext cx="2469000" cy="50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D00"/>
              </a:buClr>
              <a:buSzPts val="2800"/>
              <a:buFont typeface="Play"/>
              <a:buNone/>
            </a:pPr>
            <a:r>
              <a:rPr sz="2800" b="1" i="0" u="none" cap="none">
                <a:solidFill>
                  <a:srgbClr val="FF4D00"/>
                </a:solidFill>
                <a:latin typeface="Play"/>
                <a:ea typeface="Play"/>
                <a:cs typeface="Play"/>
              </a:rPr>
              <a:t>Coasting</a:t>
            </a:r>
          </a:p>
        </p:txBody>
      </p:sp>
      <p:sp>
        <p:nvSpPr>
          <p:cNvPr id="616" name="Google Shape;616;p18">
            <a:extLst xmlns:a="http://schemas.openxmlformats.org/drawingml/2006/main">
              <a:ext uri="{FF2B5EF4-FFF2-40B4-BE49-F238E27FC236}">
                <a16:creationId xmlns:a16="http://schemas.microsoft.com/office/drawing/2014/main" id="{0F7953D1-BEEC-4962-9A91-8F51D6C9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088" y="3145225"/>
            <a:ext cx="27591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150"/>
              <a:buFont typeface="Microsoft JhengHei"/>
              <a:buNone/>
            </a:pPr>
            <a:r>
              <a:rPr sz="125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短暫漏檢時保留 identity 並預測位置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150"/>
              <a:buFont typeface="Microsoft JhengHei"/>
              <a:buNone/>
            </a:pPr>
            <a:r>
              <a:rPr sz="125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不安全或靠近邊界時停止 coasting</a:t>
            </a:r>
          </a:p>
        </p:txBody>
      </p:sp>
      <p:sp>
        <p:nvSpPr>
          <p:cNvPr id="617" name="Google Shape;617;p18">
            <a:extLst xmlns:a="http://schemas.openxmlformats.org/drawingml/2006/main">
              <a:ext uri="{FF2B5EF4-FFF2-40B4-BE49-F238E27FC236}">
                <a16:creationId xmlns:a16="http://schemas.microsoft.com/office/drawing/2014/main" id="{C00853AB-7CB8-4657-98E5-FFE59E76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87752"/>
            <a:ext cx="2469000" cy="50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800"/>
              <a:buFont typeface="Play"/>
              <a:buNone/>
            </a:pPr>
            <a:r>
              <a:rPr sz="2800" b="1" i="0" u="none" cap="none">
                <a:solidFill>
                  <a:srgbClr val="FFD166"/>
                </a:solidFill>
                <a:latin typeface="Play"/>
                <a:ea typeface="Play"/>
                <a:cs typeface="Play"/>
              </a:rPr>
              <a:t>500 ms</a:t>
            </a:r>
          </a:p>
        </p:txBody>
      </p:sp>
      <p:sp>
        <p:nvSpPr>
          <p:cNvPr id="618" name="Google Shape;618;p18">
            <a:extLst xmlns:a="http://schemas.openxmlformats.org/drawingml/2006/main">
              <a:ext uri="{FF2B5EF4-FFF2-40B4-BE49-F238E27FC236}">
                <a16:creationId xmlns:a16="http://schemas.microsoft.com/office/drawing/2014/main" id="{703F1184-47C0-4157-B5F6-B0C145B1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208" y="3145236"/>
            <a:ext cx="28641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150"/>
              <a:buFont typeface="Microsoft JhengHei"/>
              <a:buNone/>
            </a:pPr>
            <a:r>
              <a:rPr sz="125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iOS tracking timeout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150"/>
              <a:buFont typeface="Microsoft JhengHei"/>
              <a:buNone/>
            </a:pPr>
            <a:r>
              <a:rPr sz="125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逾時、倒序、無效 JSON 或 target lost → STOP</a:t>
            </a:r>
          </a:p>
        </p:txBody>
      </p:sp>
      <p:sp>
        <p:nvSpPr>
          <p:cNvPr id="619" name="Google Shape;619;p18">
            <a:extLst xmlns:a="http://schemas.openxmlformats.org/drawingml/2006/main">
              <a:ext uri="{FF2B5EF4-FFF2-40B4-BE49-F238E27FC236}">
                <a16:creationId xmlns:a16="http://schemas.microsoft.com/office/drawing/2014/main" id="{0A50F004-8664-4587-9964-6A713D7D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587752"/>
            <a:ext cx="2469000" cy="50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8A"/>
              </a:buClr>
              <a:buSzPts val="2800"/>
              <a:buFont typeface="Play"/>
              <a:buNone/>
            </a:pPr>
            <a:r>
              <a:rPr sz="2800" b="1" i="0" u="none" cap="none">
                <a:solidFill>
                  <a:srgbClr val="4CE08A"/>
                </a:solidFill>
                <a:latin typeface="Play"/>
                <a:ea typeface="Play"/>
                <a:cs typeface="Play"/>
              </a:rPr>
              <a:t>4 秒</a:t>
            </a:r>
          </a:p>
        </p:txBody>
      </p:sp>
      <p:sp>
        <p:nvSpPr>
          <p:cNvPr id="620" name="Google Shape;620;p18">
            <a:extLst xmlns:a="http://schemas.openxmlformats.org/drawingml/2006/main">
              <a:ext uri="{FF2B5EF4-FFF2-40B4-BE49-F238E27FC236}">
                <a16:creationId xmlns:a16="http://schemas.microsoft.com/office/drawing/2014/main" id="{5BB6F2B5-4AC9-42B2-8338-01E1061A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145246"/>
            <a:ext cx="24690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150"/>
              <a:buFont typeface="Microsoft JhengHei"/>
              <a:buNone/>
            </a:pPr>
            <a:r>
              <a:rPr sz="125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Handshake deadline</a:t>
            </a:r>
          </a:p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150"/>
              <a:buFont typeface="Microsoft JhengHei"/>
              <a:buNone/>
            </a:pPr>
            <a:r>
              <a:rPr sz="125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成功前不傳資料</a:t>
            </a:r>
          </a:p>
        </p:txBody>
      </p:sp>
      <p:sp>
        <p:nvSpPr>
          <p:cNvPr id="621" name="Google Shape;621;p18">
            <a:extLst xmlns:a="http://schemas.openxmlformats.org/drawingml/2006/main">
              <a:ext uri="{FF2B5EF4-FFF2-40B4-BE49-F238E27FC236}">
                <a16:creationId xmlns:a16="http://schemas.microsoft.com/office/drawing/2014/main" id="{1EE5AD0D-AE4C-497D-9803-33A73132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50792"/>
            <a:ext cx="10058400" cy="118872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2700" cmpd="sng">
            <a:solidFill>
              <a:srgbClr val="2E3A4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22" name="Google Shape;622;p18">
            <a:extLst xmlns:a="http://schemas.openxmlformats.org/drawingml/2006/main">
              <a:ext uri="{FF2B5EF4-FFF2-40B4-BE49-F238E27FC236}">
                <a16:creationId xmlns:a16="http://schemas.microsoft.com/office/drawing/2014/main" id="{6EFC8274-57FB-40FE-A504-4320DC0A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50" y="4468900"/>
            <a:ext cx="9847800" cy="3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700"/>
              <a:buFont typeface="Microsoft JhengHei"/>
              <a:buNone/>
            </a:pPr>
            <a:r>
              <a:rPr sz="1713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狀態機、sequence validation、雙層控制限制與 emergency STOP 共同守住硬體安全。</a:t>
            </a:r>
          </a:p>
        </p:txBody>
      </p:sp>
      <p:sp>
        <p:nvSpPr>
          <p:cNvPr id="623" name="Google Shape;623;p18">
            <a:extLst xmlns:a="http://schemas.openxmlformats.org/drawingml/2006/main">
              <a:ext uri="{FF2B5EF4-FFF2-40B4-BE49-F238E27FC236}">
                <a16:creationId xmlns:a16="http://schemas.microsoft.com/office/drawing/2014/main" id="{E2BDC76E-CF64-46F8-9752-165727A6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93268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17E"/>
              </a:buClr>
              <a:buSzPts val="580"/>
              <a:buFont typeface="Microsoft JhengHei"/>
              <a:buNone/>
            </a:pPr>
            <a:r>
              <a:rPr sz="580" b="0" i="0" u="none" cap="none">
                <a:solidFill>
                  <a:srgbClr val="66717E"/>
                </a:solidFill>
                <a:latin typeface="Microsoft JhengHei"/>
                <a:ea typeface="Microsoft JhengHei"/>
                <a:cs typeface="Microsoft JhengHei"/>
              </a:rPr>
              <a:t>依據：AI Vision Director V2.3 README、Camera Control Policy、WebSocket 與 iOS safety implementation。</a:t>
            </a:r>
          </a:p>
        </p:txBody>
      </p:sp>
      <p:sp>
        <p:nvSpPr>
          <p:cNvPr id="624" name="Google Shape;624;p18">
            <a:extLst xmlns:a="http://schemas.openxmlformats.org/drawingml/2006/main">
              <a:ext uri="{FF2B5EF4-FFF2-40B4-BE49-F238E27FC236}">
                <a16:creationId xmlns:a16="http://schemas.microsoft.com/office/drawing/2014/main" id="{BF70EE34-BCF6-4A6F-A69A-2F292EFD883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7012493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0" name="Google Shape;630;p19">
            <a:extLst xmlns:a="http://schemas.openxmlformats.org/drawingml/2006/main">
              <a:ext uri="{FF2B5EF4-FFF2-40B4-BE49-F238E27FC236}">
                <a16:creationId xmlns:a16="http://schemas.microsoft.com/office/drawing/2014/main" id="{C3F4E388-42BB-4AC9-A0BD-0664FA62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31" name="Google Shape;631;p19">
            <a:extLst xmlns:a="http://schemas.openxmlformats.org/drawingml/2006/main">
              <a:ext uri="{FF2B5EF4-FFF2-40B4-BE49-F238E27FC236}">
                <a16:creationId xmlns:a16="http://schemas.microsoft.com/office/drawing/2014/main" id="{57463D1E-C50F-4B85-B8E5-8FB2B4A2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32" name="Google Shape;632;p19">
            <a:extLst xmlns:a="http://schemas.openxmlformats.org/drawingml/2006/main">
              <a:ext uri="{FF2B5EF4-FFF2-40B4-BE49-F238E27FC236}">
                <a16:creationId xmlns:a16="http://schemas.microsoft.com/office/drawing/2014/main" id="{81127885-3036-4C6A-A0C7-A3759610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33" name="Google Shape;633;p19">
            <a:extLst xmlns:a="http://schemas.openxmlformats.org/drawingml/2006/main">
              <a:ext uri="{FF2B5EF4-FFF2-40B4-BE49-F238E27FC236}">
                <a16:creationId xmlns:a16="http://schemas.microsoft.com/office/drawing/2014/main" id="{D6D211EC-CD74-4388-8E9A-CAFD21E7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34" name="Google Shape;634;p19">
            <a:extLst xmlns:a="http://schemas.openxmlformats.org/drawingml/2006/main">
              <a:ext uri="{FF2B5EF4-FFF2-40B4-BE49-F238E27FC236}">
                <a16:creationId xmlns:a16="http://schemas.microsoft.com/office/drawing/2014/main" id="{4934AD32-FE81-4FD9-A09E-DED800B6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635" name="Google Shape;635;p19">
            <a:extLst xmlns:a="http://schemas.openxmlformats.org/drawingml/2006/main">
              <a:ext uri="{FF2B5EF4-FFF2-40B4-BE49-F238E27FC236}">
                <a16:creationId xmlns:a16="http://schemas.microsoft.com/office/drawing/2014/main" id="{9E467AB6-A260-464D-853C-88548459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12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17 TRACKING RESULT</a:t>
            </a:r>
          </a:p>
        </p:txBody>
      </p:sp>
      <p:sp>
        <p:nvSpPr>
          <p:cNvPr id="636" name="Google Shape;636;p19">
            <a:extLst xmlns:a="http://schemas.openxmlformats.org/drawingml/2006/main">
              <a:ext uri="{FF2B5EF4-FFF2-40B4-BE49-F238E27FC236}">
                <a16:creationId xmlns:a16="http://schemas.microsoft.com/office/drawing/2014/main" id="{BCC2A157-C1A2-4C09-82EC-65C2D022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7FB"/>
              </a:buClr>
              <a:buSzPts val="2280"/>
              <a:buFont typeface="Microsoft JhengHei"/>
              <a:buNone/>
            </a:pPr>
            <a:r>
              <a:rPr sz="2280" b="1" i="0" u="none" cap="none">
                <a:solidFill>
                  <a:srgbClr val="F3F7FB"/>
                </a:solidFill>
                <a:latin typeface="Microsoft JhengHei"/>
                <a:ea typeface="Microsoft JhengHei"/>
                <a:cs typeface="Microsoft JhengHei"/>
              </a:rPr>
              <a:t>Demo：Desktop + iPhone / DockKit 實際追蹤成果</a:t>
            </a:r>
          </a:p>
        </p:txBody>
      </p:sp>
      <p:sp>
        <p:nvSpPr>
          <p:cNvPr id="637" name="Google Shape;637;p19">
            <a:extLst xmlns:a="http://schemas.openxmlformats.org/drawingml/2006/main">
              <a:ext uri="{FF2B5EF4-FFF2-40B4-BE49-F238E27FC236}">
                <a16:creationId xmlns:a16="http://schemas.microsoft.com/office/drawing/2014/main" id="{FEDF53A6-6E71-4D39-A403-BD49B190C7E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pic>
        <p:nvPicPr>
          <p:cNvPr id="647" name="Google Shape;638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3bdfa03d0ae4f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46125" y="1141530"/>
            <a:ext cx="9699413" cy="54559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39679719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6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4" name="Google Shape;644;p20">
            <a:extLst xmlns:a="http://schemas.openxmlformats.org/drawingml/2006/main">
              <a:ext uri="{FF2B5EF4-FFF2-40B4-BE49-F238E27FC236}">
                <a16:creationId xmlns:a16="http://schemas.microsoft.com/office/drawing/2014/main" id="{441F78E5-E657-4235-9FC5-4C6BA046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35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sz="1050" b="1" i="0" u="none" cap="none">
                <a:solidFill>
                  <a:srgbClr val="22D3DF"/>
                </a:solidFill>
                <a:latin typeface="Calibri"/>
                <a:ea typeface="Calibri"/>
                <a:cs typeface="Calibri"/>
              </a:rPr>
              <a:t>18 BENCHMARK CENTER</a:t>
            </a:r>
          </a:p>
        </p:txBody>
      </p:sp>
      <p:sp>
        <p:nvSpPr>
          <p:cNvPr id="645" name="Google Shape;645;p20">
            <a:extLst xmlns:a="http://schemas.openxmlformats.org/drawingml/2006/main">
              <a:ext uri="{FF2B5EF4-FFF2-40B4-BE49-F238E27FC236}">
                <a16:creationId xmlns:a16="http://schemas.microsoft.com/office/drawing/2014/main" id="{E38ED688-1178-4740-9A8B-A545EF0E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35" y="666750"/>
            <a:ext cx="7238700" cy="5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5"/>
              <a:buFont typeface="Arial"/>
              <a:buNone/>
            </a:pPr>
            <a:r>
              <a:rPr sz="2775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Benchmark：Quick Auto 與 Verified 如何運作</a:t>
            </a:r>
          </a:p>
        </p:txBody>
      </p:sp>
      <p:sp>
        <p:nvSpPr>
          <p:cNvPr id="646" name="Google Shape;646;p20">
            <a:extLst xmlns:a="http://schemas.openxmlformats.org/drawingml/2006/main">
              <a:ext uri="{FF2B5EF4-FFF2-40B4-BE49-F238E27FC236}">
                <a16:creationId xmlns:a16="http://schemas.microsoft.com/office/drawing/2014/main" id="{900719FF-D670-457B-B7E9-5859A401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232" y="419100"/>
            <a:ext cx="2095500" cy="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647" name="Google Shape;647;p20">
            <a:extLst xmlns:a="http://schemas.openxmlformats.org/drawingml/2006/main">
              <a:ext uri="{FF2B5EF4-FFF2-40B4-BE49-F238E27FC236}">
                <a16:creationId xmlns:a16="http://schemas.microsoft.com/office/drawing/2014/main" id="{7277B098-FB77-4E11-8C76-5DC9426F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370" y="552450"/>
            <a:ext cx="2095500" cy="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648" name="Google Shape;648;p20">
            <a:extLst xmlns:a="http://schemas.openxmlformats.org/drawingml/2006/main">
              <a:ext uri="{FF2B5EF4-FFF2-40B4-BE49-F238E27FC236}">
                <a16:creationId xmlns:a16="http://schemas.microsoft.com/office/drawing/2014/main" id="{C497C981-9C12-4979-965C-5ED3B680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509" y="685800"/>
            <a:ext cx="2095500" cy="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649" name="Google Shape;649;p20">
            <a:extLst xmlns:a="http://schemas.openxmlformats.org/drawingml/2006/main">
              <a:ext uri="{FF2B5EF4-FFF2-40B4-BE49-F238E27FC236}">
                <a16:creationId xmlns:a16="http://schemas.microsoft.com/office/drawing/2014/main" id="{9C7C8F7A-3C0A-42BB-8967-57CA2D1B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647" y="819150"/>
            <a:ext cx="2095500" cy="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650" name="Google Shape;650;p20">
            <a:extLst xmlns:a="http://schemas.openxmlformats.org/drawingml/2006/main">
              <a:ext uri="{FF2B5EF4-FFF2-40B4-BE49-F238E27FC236}">
                <a16:creationId xmlns:a16="http://schemas.microsoft.com/office/drawing/2014/main" id="{277BDD30-BB02-4F00-A9E4-6A0BE72C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4785" y="952500"/>
            <a:ext cx="2095500" cy="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2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651" name="Google Shape;651;p20">
            <a:extLst xmlns:a="http://schemas.openxmlformats.org/drawingml/2006/main">
              <a:ext uri="{FF2B5EF4-FFF2-40B4-BE49-F238E27FC236}">
                <a16:creationId xmlns:a16="http://schemas.microsoft.com/office/drawing/2014/main" id="{523F9C0F-6DB4-4DDE-B6EB-5F070418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171" y="6534150"/>
            <a:ext cx="1314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rgbClr val="6F7E88"/>
                </a:solidFill>
                <a:latin typeface="Calibri"/>
                <a:ea typeface="Calibri"/>
                <a:cs typeface="Calibri"/>
              </a:rPr>
              <a:t>AI Vision Director Desktop V2.3</a:t>
            </a:r>
          </a:p>
        </p:txBody>
      </p:sp>
      <p:sp>
        <p:nvSpPr>
          <p:cNvPr id="652" name="Google Shape;652;p20">
            <a:extLst xmlns:a="http://schemas.openxmlformats.org/drawingml/2006/main">
              <a:ext uri="{FF2B5EF4-FFF2-40B4-BE49-F238E27FC236}">
                <a16:creationId xmlns:a16="http://schemas.microsoft.com/office/drawing/2014/main" id="{6D9AA351-9512-4610-87BE-E8FFEE93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375" y="1545150"/>
            <a:ext cx="2555400" cy="140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1821"/>
          </a:solidFill>
          <a:ln xmlns:a="http://schemas.openxmlformats.org/drawingml/2006/main" w="17000" cmpd="sng">
            <a:solidFill>
              <a:srgbClr val="22D3D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02200" tIns="102200" rIns="102200" bIns="1022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5"/>
              <a:buFont typeface="Arial"/>
              <a:buNone/>
            </a:pPr>
            <a:r>
              <a:t/>
            </a:r>
          </a:p>
        </p:txBody>
      </p:sp>
      <p:sp>
        <p:nvSpPr>
          <p:cNvPr id="653" name="Google Shape;653;p20">
            <a:extLst xmlns:a="http://schemas.openxmlformats.org/drawingml/2006/main">
              <a:ext uri="{FF2B5EF4-FFF2-40B4-BE49-F238E27FC236}">
                <a16:creationId xmlns:a16="http://schemas.microsoft.com/office/drawing/2014/main" id="{751404A2-0489-4EBD-BE55-4F8FFA3F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40" y="1736810"/>
            <a:ext cx="2555400" cy="25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9"/>
              <a:buFont typeface="Arial"/>
              <a:buNone/>
            </a:pPr>
            <a:r>
              <a:rPr sz="2109" b="1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1｜輸入</a:t>
            </a:r>
          </a:p>
        </p:txBody>
      </p:sp>
      <p:sp>
        <p:nvSpPr>
          <p:cNvPr id="654" name="Google Shape;654;p20">
            <a:extLst xmlns:a="http://schemas.openxmlformats.org/drawingml/2006/main">
              <a:ext uri="{FF2B5EF4-FFF2-40B4-BE49-F238E27FC236}">
                <a16:creationId xmlns:a16="http://schemas.microsoft.com/office/drawing/2014/main" id="{EBAF4D4B-B9B7-4377-8AC9-ECE246A7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40" y="2056243"/>
            <a:ext cx="2555400" cy="40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sz="2599" b="0" i="0" u="none" cap="none">
                <a:solidFill>
                  <a:srgbClr val="22D3DF"/>
                </a:solidFill>
                <a:latin typeface="Calibri"/>
                <a:ea typeface="Calibri"/>
                <a:cs typeface="Calibri"/>
              </a:rPr>
              <a:t>影片 + 模型</a:t>
            </a:r>
          </a:p>
        </p:txBody>
      </p:sp>
      <p:sp>
        <p:nvSpPr>
          <p:cNvPr id="655" name="Google Shape;655;p20">
            <a:extLst xmlns:a="http://schemas.openxmlformats.org/drawingml/2006/main">
              <a:ext uri="{FF2B5EF4-FFF2-40B4-BE49-F238E27FC236}">
                <a16:creationId xmlns:a16="http://schemas.microsoft.com/office/drawing/2014/main" id="{8B03E2AE-457D-4D26-B741-9E933F63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40" y="2524745"/>
            <a:ext cx="2555400" cy="22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8"/>
              <a:buFont typeface="Arial"/>
              <a:buNone/>
            </a:pPr>
            <a:r>
              <a:rPr sz="1358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1–5 組 Detection × ReID</a:t>
            </a:r>
          </a:p>
        </p:txBody>
      </p:sp>
      <p:sp>
        <p:nvSpPr>
          <p:cNvPr id="656" name="Google Shape;656;p20">
            <a:extLst xmlns:a="http://schemas.openxmlformats.org/drawingml/2006/main">
              <a:ext uri="{FF2B5EF4-FFF2-40B4-BE49-F238E27FC236}">
                <a16:creationId xmlns:a16="http://schemas.microsoft.com/office/drawing/2014/main" id="{3FF410B0-B92E-4870-941B-61C2EF49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40" y="2737700"/>
            <a:ext cx="2555400" cy="1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1"/>
              <a:buFont typeface="Arial"/>
              <a:buNone/>
            </a:pPr>
            <a:r>
              <a:rPr sz="881" b="0" i="0" u="none" cap="none">
                <a:solidFill>
                  <a:srgbClr val="A9B8C4"/>
                </a:solidFill>
                <a:latin typeface="Calibri"/>
                <a:ea typeface="Calibri"/>
                <a:cs typeface="Calibri"/>
              </a:rPr>
              <a:t>同一份解碼影格依序執行</a:t>
            </a:r>
          </a:p>
        </p:txBody>
      </p:sp>
      <p:sp>
        <p:nvSpPr>
          <p:cNvPr id="657" name="Google Shape;657;p20">
            <a:extLst xmlns:a="http://schemas.openxmlformats.org/drawingml/2006/main">
              <a:ext uri="{FF2B5EF4-FFF2-40B4-BE49-F238E27FC236}">
                <a16:creationId xmlns:a16="http://schemas.microsoft.com/office/drawing/2014/main" id="{361C3B7B-E6F8-49E9-B07B-FBF0F128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047" y="1545150"/>
            <a:ext cx="2594400" cy="140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1821"/>
          </a:solidFill>
          <a:ln xmlns:a="http://schemas.openxmlformats.org/drawingml/2006/main" w="17000" cmpd="sng">
            <a:solidFill>
              <a:srgbClr val="46E18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02200" tIns="102200" rIns="102200" bIns="1022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658" name="Google Shape;658;p20">
            <a:extLst xmlns:a="http://schemas.openxmlformats.org/drawingml/2006/main">
              <a:ext uri="{FF2B5EF4-FFF2-40B4-BE49-F238E27FC236}">
                <a16:creationId xmlns:a16="http://schemas.microsoft.com/office/drawing/2014/main" id="{8A6A9111-635F-44C4-8B91-00C6F4A5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707" y="1736810"/>
            <a:ext cx="2555400" cy="25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9"/>
              <a:buFont typeface="Arial"/>
              <a:buNone/>
            </a:pPr>
            <a:r>
              <a:rPr sz="2109" b="1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2｜建立 Gallery</a:t>
            </a:r>
          </a:p>
        </p:txBody>
      </p:sp>
      <p:sp>
        <p:nvSpPr>
          <p:cNvPr id="659" name="Google Shape;659;p20">
            <a:extLst xmlns:a="http://schemas.openxmlformats.org/drawingml/2006/main">
              <a:ext uri="{FF2B5EF4-FFF2-40B4-BE49-F238E27FC236}">
                <a16:creationId xmlns:a16="http://schemas.microsoft.com/office/drawing/2014/main" id="{A61BE8F4-F667-4E0C-B0D6-F76254EB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707" y="2056243"/>
            <a:ext cx="2555400" cy="40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sz="2599" b="0" i="0" u="none" cap="none">
                <a:solidFill>
                  <a:srgbClr val="46E18B"/>
                </a:solidFill>
                <a:latin typeface="Calibri"/>
                <a:ea typeface="Calibri"/>
                <a:cs typeface="Calibri"/>
              </a:rPr>
              <a:t>Feature limit 20</a:t>
            </a:r>
          </a:p>
        </p:txBody>
      </p:sp>
      <p:sp>
        <p:nvSpPr>
          <p:cNvPr id="660" name="Google Shape;660;p20">
            <a:extLst xmlns:a="http://schemas.openxmlformats.org/drawingml/2006/main">
              <a:ext uri="{FF2B5EF4-FFF2-40B4-BE49-F238E27FC236}">
                <a16:creationId xmlns:a16="http://schemas.microsoft.com/office/drawing/2014/main" id="{EEDFF367-9DAC-4352-87E4-CF674C96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707" y="2487570"/>
            <a:ext cx="2555400" cy="22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8"/>
              <a:buFont typeface="Arial"/>
              <a:buNone/>
            </a:pPr>
            <a:r>
              <a:rPr sz="1358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品質 gate + 固定 Gallery</a:t>
            </a:r>
          </a:p>
        </p:txBody>
      </p:sp>
      <p:sp>
        <p:nvSpPr>
          <p:cNvPr id="661" name="Google Shape;661;p20">
            <a:extLst xmlns:a="http://schemas.openxmlformats.org/drawingml/2006/main">
              <a:ext uri="{FF2B5EF4-FFF2-40B4-BE49-F238E27FC236}">
                <a16:creationId xmlns:a16="http://schemas.microsoft.com/office/drawing/2014/main" id="{D57680E0-9ABC-4647-B817-53F5505E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707" y="2737700"/>
            <a:ext cx="2555400" cy="1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1"/>
              <a:buFont typeface="Arial"/>
              <a:buNone/>
            </a:pPr>
            <a:r>
              <a:rPr sz="881" b="0" i="0" u="none" cap="none">
                <a:solidFill>
                  <a:srgbClr val="A9B8C4"/>
                </a:solidFill>
                <a:latin typeface="Calibri"/>
                <a:ea typeface="Calibri"/>
                <a:cs typeface="Calibri"/>
              </a:rPr>
              <a:t>Enrollment frame 不計分</a:t>
            </a:r>
          </a:p>
        </p:txBody>
      </p:sp>
      <p:sp>
        <p:nvSpPr>
          <p:cNvPr id="662" name="Google Shape;662;p20">
            <a:extLst xmlns:a="http://schemas.openxmlformats.org/drawingml/2006/main">
              <a:ext uri="{FF2B5EF4-FFF2-40B4-BE49-F238E27FC236}">
                <a16:creationId xmlns:a16="http://schemas.microsoft.com/office/drawing/2014/main" id="{88637BF9-F581-43BE-B13D-695D1FE6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198" y="1545150"/>
            <a:ext cx="2349600" cy="140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1821"/>
          </a:solidFill>
          <a:ln xmlns:a="http://schemas.openxmlformats.org/drawingml/2006/main" w="17000" cmpd="sng">
            <a:solidFill>
              <a:srgbClr val="FFD16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02200" tIns="102200" rIns="102200" bIns="1022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663" name="Google Shape;663;p20">
            <a:extLst xmlns:a="http://schemas.openxmlformats.org/drawingml/2006/main">
              <a:ext uri="{FF2B5EF4-FFF2-40B4-BE49-F238E27FC236}">
                <a16:creationId xmlns:a16="http://schemas.microsoft.com/office/drawing/2014/main" id="{8AC37C7B-F968-4B94-91FD-AA9CFE33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853" y="1736810"/>
            <a:ext cx="2555400" cy="25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9"/>
              <a:buFont typeface="Arial"/>
              <a:buNone/>
            </a:pPr>
            <a:r>
              <a:rPr sz="2109" b="1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3｜正式量測</a:t>
            </a:r>
          </a:p>
        </p:txBody>
      </p:sp>
      <p:sp>
        <p:nvSpPr>
          <p:cNvPr id="664" name="Google Shape;664;p20">
            <a:extLst xmlns:a="http://schemas.openxmlformats.org/drawingml/2006/main">
              <a:ext uri="{FF2B5EF4-FFF2-40B4-BE49-F238E27FC236}">
                <a16:creationId xmlns:a16="http://schemas.microsoft.com/office/drawing/2014/main" id="{ED099723-18D1-4804-816E-CA6EA45A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853" y="2056243"/>
            <a:ext cx="2555400" cy="40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sz="2599" b="0" i="0" u="none" cap="none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預設 3 輪</a:t>
            </a:r>
          </a:p>
        </p:txBody>
      </p:sp>
      <p:sp>
        <p:nvSpPr>
          <p:cNvPr id="665" name="Google Shape;665;p20">
            <a:extLst xmlns:a="http://schemas.openxmlformats.org/drawingml/2006/main">
              <a:ext uri="{FF2B5EF4-FFF2-40B4-BE49-F238E27FC236}">
                <a16:creationId xmlns:a16="http://schemas.microsoft.com/office/drawing/2014/main" id="{82C6408F-72D8-4A25-AEB5-820862A4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853" y="2524745"/>
            <a:ext cx="2555400" cy="22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8"/>
              <a:buFont typeface="Arial"/>
              <a:buNone/>
            </a:pPr>
            <a:r>
              <a:rPr sz="1358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逐 Shot / FPS / latency</a:t>
            </a:r>
          </a:p>
        </p:txBody>
      </p:sp>
      <p:sp>
        <p:nvSpPr>
          <p:cNvPr id="666" name="Google Shape;666;p20">
            <a:extLst xmlns:a="http://schemas.openxmlformats.org/drawingml/2006/main">
              <a:ext uri="{FF2B5EF4-FFF2-40B4-BE49-F238E27FC236}">
                <a16:creationId xmlns:a16="http://schemas.microsoft.com/office/drawing/2014/main" id="{1D418BAD-70B9-4DF5-AA8C-5ECC9C21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2853" y="2737700"/>
            <a:ext cx="2555400" cy="1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1"/>
              <a:buFont typeface="Arial"/>
              <a:buNone/>
            </a:pPr>
            <a:r>
              <a:rPr sz="881" b="0" i="0" u="none" cap="none">
                <a:solidFill>
                  <a:srgbClr val="A9B8C4"/>
                </a:solidFill>
                <a:latin typeface="Calibri"/>
                <a:ea typeface="Calibri"/>
                <a:cs typeface="Calibri"/>
              </a:rPr>
              <a:t>可 Pause / Resume / Stop</a:t>
            </a:r>
          </a:p>
        </p:txBody>
      </p:sp>
      <p:sp>
        <p:nvSpPr>
          <p:cNvPr id="667" name="Google Shape;667;p20">
            <a:extLst xmlns:a="http://schemas.openxmlformats.org/drawingml/2006/main">
              <a:ext uri="{FF2B5EF4-FFF2-40B4-BE49-F238E27FC236}">
                <a16:creationId xmlns:a16="http://schemas.microsoft.com/office/drawing/2014/main" id="{82E66C67-CD3A-428B-AAA8-E6D1B9A7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536" y="1545150"/>
            <a:ext cx="2594400" cy="1405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1821"/>
          </a:solidFill>
          <a:ln xmlns:a="http://schemas.openxmlformats.org/drawingml/2006/main" w="17000" cmpd="sng">
            <a:solidFill>
              <a:srgbClr val="46E18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02200" tIns="102200" rIns="102200" bIns="1022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65"/>
              <a:buFont typeface="Arial"/>
              <a:buNone/>
            </a:pPr>
            <a:r>
              <a:t/>
            </a:r>
          </a:p>
        </p:txBody>
      </p:sp>
      <p:sp>
        <p:nvSpPr>
          <p:cNvPr id="668" name="Google Shape;668;p20">
            <a:extLst xmlns:a="http://schemas.openxmlformats.org/drawingml/2006/main">
              <a:ext uri="{FF2B5EF4-FFF2-40B4-BE49-F238E27FC236}">
                <a16:creationId xmlns:a16="http://schemas.microsoft.com/office/drawing/2014/main" id="{4E695AD3-D25E-4CD3-A9C7-4DDA72A1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185" y="1736810"/>
            <a:ext cx="2555400" cy="25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9"/>
              <a:buFont typeface="Arial"/>
              <a:buNone/>
            </a:pPr>
            <a:r>
              <a:rPr sz="2109" b="1" i="0" u="none" cap="none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4｜輸出</a:t>
            </a:r>
          </a:p>
        </p:txBody>
      </p:sp>
      <p:sp>
        <p:nvSpPr>
          <p:cNvPr id="669" name="Google Shape;669;p20">
            <a:extLst xmlns:a="http://schemas.openxmlformats.org/drawingml/2006/main">
              <a:ext uri="{FF2B5EF4-FFF2-40B4-BE49-F238E27FC236}">
                <a16:creationId xmlns:a16="http://schemas.microsoft.com/office/drawing/2014/main" id="{5A883FD0-99AC-43C4-B076-4858A170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185" y="2056243"/>
            <a:ext cx="2555400" cy="40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sz="2599" b="0" i="0" u="none" cap="none">
                <a:solidFill>
                  <a:srgbClr val="46E18B"/>
                </a:solidFill>
                <a:latin typeface="Calibri"/>
                <a:ea typeface="Calibri"/>
                <a:cs typeface="Calibri"/>
              </a:rPr>
              <a:t>Proxy / Verified</a:t>
            </a:r>
          </a:p>
        </p:txBody>
      </p:sp>
      <p:sp>
        <p:nvSpPr>
          <p:cNvPr id="670" name="Google Shape;670;p20">
            <a:extLst xmlns:a="http://schemas.openxmlformats.org/drawingml/2006/main">
              <a:ext uri="{FF2B5EF4-FFF2-40B4-BE49-F238E27FC236}">
                <a16:creationId xmlns:a16="http://schemas.microsoft.com/office/drawing/2014/main" id="{D7F3C539-5C59-4FA6-92E6-66A5FE43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185" y="2524745"/>
            <a:ext cx="2555400" cy="22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8"/>
              <a:buFont typeface="Arial"/>
              <a:buNone/>
            </a:pPr>
            <a:r>
              <a:rPr sz="1358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進度、ETA、匯入／匯出</a:t>
            </a:r>
          </a:p>
        </p:txBody>
      </p:sp>
      <p:sp>
        <p:nvSpPr>
          <p:cNvPr id="671" name="Google Shape;671;p20">
            <a:extLst xmlns:a="http://schemas.openxmlformats.org/drawingml/2006/main">
              <a:ext uri="{FF2B5EF4-FFF2-40B4-BE49-F238E27FC236}">
                <a16:creationId xmlns:a16="http://schemas.microsoft.com/office/drawing/2014/main" id="{E6843CCF-2CD5-4309-877F-3E36C7E0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185" y="2737700"/>
            <a:ext cx="2555400" cy="1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2200" tIns="51100" rIns="102200" bIns="511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1"/>
              <a:buFont typeface="Arial"/>
              <a:buNone/>
            </a:pPr>
            <a:r>
              <a:rPr sz="881" b="0" i="0" u="none" cap="none">
                <a:solidFill>
                  <a:srgbClr val="A9B8C4"/>
                </a:solidFill>
                <a:latin typeface="Calibri"/>
                <a:ea typeface="Calibri"/>
                <a:cs typeface="Calibri"/>
              </a:rPr>
              <a:t>不同 profile 不直接比較</a:t>
            </a:r>
          </a:p>
        </p:txBody>
      </p:sp>
      <p:sp>
        <p:nvSpPr>
          <p:cNvPr id="672" name="Google Shape;672;p20">
            <a:extLst xmlns:a="http://schemas.openxmlformats.org/drawingml/2006/main">
              <a:ext uri="{FF2B5EF4-FFF2-40B4-BE49-F238E27FC236}">
                <a16:creationId xmlns:a16="http://schemas.microsoft.com/office/drawing/2014/main" id="{00270A1E-2F14-4C9B-94B5-22D9497E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49" y="3432549"/>
            <a:ext cx="10910100" cy="2744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0B1821"/>
          </a:solidFill>
          <a:ln xmlns:a="http://schemas.openxmlformats.org/drawingml/2006/main" w="11325" cmpd="sng">
            <a:solidFill>
              <a:srgbClr val="24394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0600" tIns="90600" rIns="90600" bIns="906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</a:p>
        </p:txBody>
      </p:sp>
      <p:sp>
        <p:nvSpPr>
          <p:cNvPr id="673" name="Google Shape;673;p20">
            <a:extLst xmlns:a="http://schemas.openxmlformats.org/drawingml/2006/main">
              <a:ext uri="{FF2B5EF4-FFF2-40B4-BE49-F238E27FC236}">
                <a16:creationId xmlns:a16="http://schemas.microsoft.com/office/drawing/2014/main" id="{3DDF805A-C1A0-4812-AA97-04F6DF21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600" tIns="45275" rIns="90600" bIns="45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8"/>
              <a:buFont typeface="Arial"/>
              <a:buNone/>
              <a:defRPr sz="1650" b="1">
                <a:solidFill>
                  <a:srgbClr val="22D3DF"/>
                </a:solidFill>
              </a:defRPr>
            </a:pPr>
            <a:r>
              <a:rPr sz="1650" b="1" i="0" u="none" cap="none">
                <a:solidFill>
                  <a:srgbClr val="22D3DF"/>
                </a:solidFill>
                <a:latin typeface="Calibri"/>
                <a:ea typeface="Calibri"/>
                <a:cs typeface="Calibri"/>
              </a:rPr>
              <a:t>Quick Auto｜不需標註</a:t>
            </a:r>
          </a:p>
        </p:txBody>
      </p:sp>
      <p:sp>
        <p:nvSpPr>
          <p:cNvPr id="674" name="Google Shape;674;p20">
            <a:extLst xmlns:a="http://schemas.openxmlformats.org/drawingml/2006/main">
              <a:ext uri="{FF2B5EF4-FFF2-40B4-BE49-F238E27FC236}">
                <a16:creationId xmlns:a16="http://schemas.microsoft.com/office/drawing/2014/main" id="{032396B5-B9D8-4A96-ACCF-18AA7EBD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524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600" tIns="45275" rIns="90600" bIns="45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9"/>
              <a:buFont typeface="Arial"/>
              <a:buNone/>
              <a:defRPr sz="1275">
                <a:solidFill>
                  <a:srgbClr val="F5FBFF"/>
                </a:solidFill>
              </a:defRPr>
            </a:pPr>
            <a:r>
              <a:rPr sz="1275" b="0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固定影片，逐一執行模型組合
• 先建立品質過濾的 Gallery，再跑正式量測
• 硬切鏡自動分 Shot；回報一致性與真實效能
• Proxy 不是 mAP、HOTA 或 Rank-1</a:t>
            </a:r>
          </a:p>
        </p:txBody>
      </p:sp>
      <p:sp>
        <p:nvSpPr>
          <p:cNvPr id="676" name="Google Shape;676;p20">
            <a:extLst xmlns:a="http://schemas.openxmlformats.org/drawingml/2006/main">
              <a:ext uri="{FF2B5EF4-FFF2-40B4-BE49-F238E27FC236}">
                <a16:creationId xmlns:a16="http://schemas.microsoft.com/office/drawing/2014/main" id="{B0F5D935-FC93-41B2-8B37-C9D437A2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385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600" tIns="45275" rIns="90600" bIns="45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7"/>
              <a:buFont typeface="Arial"/>
              <a:buNone/>
              <a:defRPr sz="1650" b="1">
                <a:solidFill>
                  <a:srgbClr val="FFD166"/>
                </a:solidFill>
              </a:defRPr>
            </a:pPr>
            <a:r>
              <a:rPr sz="1650" b="1" i="0" u="none" cap="none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Verified｜Ground Truth</a:t>
            </a:r>
          </a:p>
        </p:txBody>
      </p:sp>
      <p:sp>
        <p:nvSpPr>
          <p:cNvPr id="678" name="Google Shape;678;p20">
            <a:extLst xmlns:a="http://schemas.openxmlformats.org/drawingml/2006/main">
              <a:ext uri="{FF2B5EF4-FFF2-40B4-BE49-F238E27FC236}">
                <a16:creationId xmlns:a16="http://schemas.microsoft.com/office/drawing/2014/main" id="{583E649C-5613-4BA0-917E-C764C1C1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957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600" tIns="45275" rIns="90600" bIns="45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7"/>
              <a:buFont typeface="Arial"/>
              <a:buNone/>
              <a:defRPr sz="1200">
                <a:solidFill>
                  <a:srgbClr val="F5FBFF"/>
                </a:solidFill>
              </a:defRPr>
            </a:pPr>
            <a:r>
              <a:rPr sz="1200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使用 Golden video + 對應 JSONL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7"/>
              <a:buFont typeface="Arial"/>
              <a:buNone/>
              <a:defRPr sz="1200">
                <a:solidFill>
                  <a:srgbClr val="F5FBFF"/>
                </a:solidFill>
              </a:defRPr>
            </a:pPr>
            <a:r>
              <a:rPr sz="1200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六軸：Detection / Tracking / Identity / Framing / Control / Realtime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7"/>
              <a:buFont typeface="Arial"/>
              <a:buNone/>
              <a:defRPr sz="1200">
                <a:solidFill>
                  <a:srgbClr val="F5FBFF"/>
                </a:solidFill>
              </a:defRPr>
            </a:pPr>
            <a:r>
              <a:rPr sz="1200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可匯出 COCO / MOTChallenge 與完整設定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7"/>
              <a:buFont typeface="Arial"/>
              <a:buNone/>
              <a:defRPr sz="1200">
                <a:solidFill>
                  <a:srgbClr val="F5FBFF"/>
                </a:solidFill>
              </a:defRPr>
            </a:pPr>
            <a:r>
              <a:rPr sz="1200" b="1" i="0" u="none" cap="none">
                <a:solidFill>
                  <a:srgbClr val="F5FBFF"/>
                </a:solidFill>
                <a:latin typeface="Calibri"/>
                <a:ea typeface="Calibri"/>
                <a:cs typeface="Calibri"/>
              </a:rPr>
              <a:t>• profile 與 dataset_version 相同才可直接比較</a:t>
            </a:r>
          </a:p>
        </p:txBody>
      </p:sp>
      <p:sp>
        <p:nvSpPr>
          <p:cNvPr id="724" name="Google Shape;724;p20">
            <a:extLst xmlns:a="http://schemas.openxmlformats.org/drawingml/2006/main">
              <a:ext uri="{FF2B5EF4-FFF2-40B4-BE49-F238E27FC236}">
                <a16:creationId xmlns:a16="http://schemas.microsoft.com/office/drawing/2014/main" id="{9D0910E9-C086-4B25-A01D-441AD7A8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>
                <a:solidFill>
                  <a:srgbClr val="A9C3D3"/>
                </a:solidFill>
              </a:defRPr>
            </a:pPr>
            <a:r>
              <a:rPr sz="1050" b="0" i="0" u="none" cap="none">
                <a:solidFill>
                  <a:srgbClr val="A9C3D3"/>
                </a:solidFill>
                <a:latin typeface="Calibri"/>
                <a:ea typeface="Calibri"/>
                <a:cs typeface="Calibri"/>
              </a:rPr>
              <a:t>Quick Auto 用於模型組合的 annotation-free proxy；需要標準準確率時，改用 Verified 與相符的 Ground Truth。</a:t>
            </a:r>
          </a:p>
        </p:txBody>
      </p:sp>
    </p:spTree>
    <p:extLst>
      <p:ext uri="{BB962C8B-B14F-4D97-AF65-F5344CB8AC3E}">
        <p14:creationId xmlns:p14="http://schemas.microsoft.com/office/powerpoint/2010/main" val="165237725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50E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0" name="Google Shape;730;p21">
            <a:extLst xmlns:a="http://schemas.openxmlformats.org/drawingml/2006/main">
              <a:ext uri="{FF2B5EF4-FFF2-40B4-BE49-F238E27FC236}">
                <a16:creationId xmlns:a16="http://schemas.microsoft.com/office/drawing/2014/main" id="{6F0B1B25-5203-4BA7-AE5E-24E02111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"/>
            <a:ext cx="164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6FF"/>
              </a:buClr>
              <a:buSzPts val="700"/>
              <a:buFont typeface="Microsoft JhengHei"/>
              <a:buNone/>
            </a:pPr>
            <a:r>
              <a:rPr sz="700" b="1" i="0" u="none" cap="none">
                <a:solidFill>
                  <a:srgbClr val="00D6FF"/>
                </a:solidFill>
                <a:latin typeface="Microsoft JhengHei"/>
                <a:ea typeface="Microsoft JhengHei"/>
                <a:cs typeface="Microsoft JhengHei"/>
              </a:rPr>
              <a:t>19 WORKSPACE &amp; OBSERVABILITY</a:t>
            </a:r>
          </a:p>
        </p:txBody>
      </p:sp>
      <p:sp>
        <p:nvSpPr>
          <p:cNvPr id="731" name="Google Shape;731;p21">
            <a:extLst xmlns:a="http://schemas.openxmlformats.org/drawingml/2006/main">
              <a:ext uri="{FF2B5EF4-FFF2-40B4-BE49-F238E27FC236}">
                <a16:creationId xmlns:a16="http://schemas.microsoft.com/office/drawing/2014/main" id="{3A07BEAF-3AAD-4C2C-B58E-01EDD940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5216"/>
            <a:ext cx="8961000" cy="43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F7FA"/>
              </a:buClr>
              <a:buSzPts val="2000"/>
              <a:buFont typeface="Microsoft JhengHei"/>
              <a:buNone/>
            </a:pPr>
            <a:r>
              <a:rPr sz="2650" b="1" i="0" u="none" cap="none">
                <a:solidFill>
                  <a:srgbClr val="EEF7FA"/>
                </a:solidFill>
                <a:latin typeface="Microsoft JhengHei"/>
                <a:ea typeface="Microsoft JhengHei"/>
                <a:cs typeface="Microsoft JhengHei"/>
              </a:rPr>
              <a:t>V2.3 工作區：每個模組都有入口、狀態與可追蹤輸出</a:t>
            </a:r>
          </a:p>
        </p:txBody>
      </p:sp>
      <p:sp>
        <p:nvSpPr>
          <p:cNvPr id="732" name="Google Shape;732;p21">
            <a:extLst xmlns:a="http://schemas.openxmlformats.org/drawingml/2006/main">
              <a:ext uri="{FF2B5EF4-FFF2-40B4-BE49-F238E27FC236}">
                <a16:creationId xmlns:a16="http://schemas.microsoft.com/office/drawing/2014/main" id="{43E26957-1ED1-44B6-A2E8-D5C6C25E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47472"/>
            <a:ext cx="1097400" cy="3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1A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33" name="Google Shape;733;p21">
            <a:extLst xmlns:a="http://schemas.openxmlformats.org/drawingml/2006/main">
              <a:ext uri="{FF2B5EF4-FFF2-40B4-BE49-F238E27FC236}">
                <a16:creationId xmlns:a16="http://schemas.microsoft.com/office/drawing/2014/main" id="{1804F532-0999-441C-BAC3-3B8A9EDD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9768"/>
            <a:ext cx="1234500" cy="3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6FF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34" name="Google Shape;734;p21">
            <a:extLst xmlns:a="http://schemas.openxmlformats.org/drawingml/2006/main">
              <a:ext uri="{FF2B5EF4-FFF2-40B4-BE49-F238E27FC236}">
                <a16:creationId xmlns:a16="http://schemas.microsoft.com/office/drawing/2014/main" id="{86958545-2D93-494F-B3D2-51EC6EA5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2064"/>
            <a:ext cx="1051500" cy="3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1A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35" name="Google Shape;735;p21">
            <a:extLst xmlns:a="http://schemas.openxmlformats.org/drawingml/2006/main">
              <a:ext uri="{FF2B5EF4-FFF2-40B4-BE49-F238E27FC236}">
                <a16:creationId xmlns:a16="http://schemas.microsoft.com/office/drawing/2014/main" id="{2C4ABC18-4E87-4B61-943A-AB9A5D31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94360"/>
            <a:ext cx="914400" cy="3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6FF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36" name="Google Shape;736;p21">
            <a:extLst xmlns:a="http://schemas.openxmlformats.org/drawingml/2006/main">
              <a:ext uri="{FF2B5EF4-FFF2-40B4-BE49-F238E27FC236}">
                <a16:creationId xmlns:a16="http://schemas.microsoft.com/office/drawing/2014/main" id="{BEB9728E-9279-4A3E-8A4E-D00C6B0E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5257800" cy="4251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B25"/>
          </a:solidFill>
          <a:ln xmlns:a="http://schemas.openxmlformats.org/drawingml/2006/main" w="15225" cmpd="sng">
            <a:solidFill>
              <a:srgbClr val="FF5B1A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37" name="Google Shape;737;p21">
            <a:extLst xmlns:a="http://schemas.openxmlformats.org/drawingml/2006/main">
              <a:ext uri="{FF2B5EF4-FFF2-40B4-BE49-F238E27FC236}">
                <a16:creationId xmlns:a16="http://schemas.microsoft.com/office/drawing/2014/main" id="{21E66785-21D8-4479-8BF7-BB6F3EEE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35" y="1728050"/>
            <a:ext cx="3840600" cy="31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B1A"/>
              </a:buClr>
              <a:buSzPts val="1700"/>
              <a:buFont typeface="Microsoft JhengHei"/>
              <a:buNone/>
            </a:pPr>
            <a:r>
              <a:rPr sz="2100" b="1" i="0" u="none" cap="none">
                <a:solidFill>
                  <a:srgbClr val="FF5B1A"/>
                </a:solidFill>
                <a:latin typeface="Microsoft JhengHei"/>
                <a:ea typeface="Microsoft JhengHei"/>
                <a:cs typeface="Microsoft JhengHei"/>
              </a:rPr>
              <a:t>已落地：PySide6 Scheme A</a:t>
            </a:r>
          </a:p>
        </p:txBody>
      </p:sp>
      <p:sp>
        <p:nvSpPr>
          <p:cNvPr id="738" name="Google Shape;738;p21">
            <a:extLst xmlns:a="http://schemas.openxmlformats.org/drawingml/2006/main">
              <a:ext uri="{FF2B5EF4-FFF2-40B4-BE49-F238E27FC236}">
                <a16:creationId xmlns:a16="http://schemas.microsoft.com/office/drawing/2014/main" id="{4DC53224-A8E8-40D2-9F76-2CBEA7CE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5" y="2304075"/>
            <a:ext cx="4775700" cy="21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18275" rIns="45700" bIns="18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425"/>
              <a:buFont typeface="Microsoft JhengHei"/>
              <a:buNone/>
              <a:defRPr sz="1350">
                <a:solidFill>
                  <a:srgbClr val="F5FBFF"/>
                </a:solidFill>
              </a:defRPr>
            </a:pPr>
            <a:r>
              <a:rPr sz="1350" b="0" i="0" u="none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• Source：webcam / video / URL / screen / iPhone</a:t>
            </a:r>
          </a:p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425"/>
              <a:buFont typeface="Microsoft JhengHei"/>
              <a:buNone/>
              <a:defRPr sz="1350">
                <a:solidFill>
                  <a:srgbClr val="F5FBFF"/>
                </a:solidFill>
              </a:defRPr>
            </a:pPr>
            <a:r>
              <a:rPr sz="1350" b="0" i="0" u="none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• Playback 與錄影整合在來源流程</a:t>
            </a:r>
          </a:p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425"/>
              <a:buFont typeface="Microsoft JhengHei"/>
              <a:buNone/>
              <a:defRPr sz="1350">
                <a:solidFill>
                  <a:srgbClr val="F5FBFF"/>
                </a:solidFill>
              </a:defRPr>
            </a:pPr>
            <a:r>
              <a:rPr sz="1350">
                <a:solidFill>
                  <a:srgbClr val="F5FBFF"/>
                </a:solidFill>
                <a:latin typeface="Arial"/>
                <a:ea typeface="Arial"/>
                <a:cs typeface="Arial"/>
              </a:rPr>
              <a:t>• Models 獨立管理 Detection / ReID</a:t>
            </a:r>
          </a:p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425"/>
              <a:buFont typeface="Microsoft JhengHei"/>
              <a:buNone/>
              <a:defRPr sz="1350">
                <a:solidFill>
                  <a:srgbClr val="F5FBFF"/>
                </a:solidFill>
              </a:defRPr>
            </a:pPr>
            <a:r>
              <a:rPr sz="1350">
                <a:solidFill>
                  <a:srgbClr val="F5FBFF"/>
                </a:solidFill>
                <a:latin typeface="Arial"/>
                <a:ea typeface="Arial"/>
                <a:cs typeface="Arial"/>
              </a:rPr>
              <a:t>• Vehicle Database + Feature Manager 管理 GID、樣本與污染隔離</a:t>
            </a:r>
          </a:p>
        </p:txBody>
      </p:sp>
      <p:sp>
        <p:nvSpPr>
          <p:cNvPr id="739" name="Google Shape;739;p21">
            <a:extLst xmlns:a="http://schemas.openxmlformats.org/drawingml/2006/main">
              <a:ext uri="{FF2B5EF4-FFF2-40B4-BE49-F238E27FC236}">
                <a16:creationId xmlns:a16="http://schemas.microsoft.com/office/drawing/2014/main" id="{3BAF387E-349F-426D-BE33-F8958B1D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672312"/>
            <a:ext cx="45720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C440"/>
              </a:buClr>
              <a:buSzPts val="1200"/>
              <a:buFont typeface="Microsoft JhengHei"/>
              <a:buNone/>
            </a:pPr>
            <a:r>
              <a:rPr sz="1700" b="1" i="0" u="none" cap="none">
                <a:solidFill>
                  <a:srgbClr val="F5C440"/>
                </a:solidFill>
                <a:latin typeface="Microsoft JhengHei"/>
                <a:ea typeface="Microsoft JhengHei"/>
                <a:cs typeface="Microsoft JhengHei"/>
              </a:rPr>
              <a:t>Dock 可移動、浮動、隱藏；Workspace 與 QSettings 保存配置。</a:t>
            </a:r>
          </a:p>
        </p:txBody>
      </p:sp>
      <p:sp>
        <p:nvSpPr>
          <p:cNvPr id="740" name="Google Shape;740;p21">
            <a:extLst xmlns:a="http://schemas.openxmlformats.org/drawingml/2006/main">
              <a:ext uri="{FF2B5EF4-FFF2-40B4-BE49-F238E27FC236}">
                <a16:creationId xmlns:a16="http://schemas.microsoft.com/office/drawing/2014/main" id="{07BE9CE9-87C8-45D6-B7B3-18402538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325880"/>
            <a:ext cx="5257800" cy="4251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C1B25"/>
          </a:solidFill>
          <a:ln xmlns:a="http://schemas.openxmlformats.org/drawingml/2006/main" w="15225" cmpd="sng">
            <a:solidFill>
              <a:srgbClr val="00D6F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41" name="Google Shape;741;p21">
            <a:extLst xmlns:a="http://schemas.openxmlformats.org/drawingml/2006/main">
              <a:ext uri="{FF2B5EF4-FFF2-40B4-BE49-F238E27FC236}">
                <a16:creationId xmlns:a16="http://schemas.microsoft.com/office/drawing/2014/main" id="{500DF6D2-1AA9-4EFD-90D8-A92610E4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50" y="1728000"/>
            <a:ext cx="3840600" cy="31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6FF"/>
              </a:buClr>
              <a:buSzPts val="1700"/>
              <a:buFont typeface="Microsoft JhengHei"/>
              <a:buNone/>
            </a:pPr>
            <a:r>
              <a:rPr sz="2100" b="1" i="0" u="none" cap="none">
                <a:solidFill>
                  <a:srgbClr val="00D6FF"/>
                </a:solidFill>
                <a:latin typeface="Microsoft JhengHei"/>
                <a:ea typeface="Microsoft JhengHei"/>
                <a:cs typeface="Microsoft JhengHei"/>
              </a:rPr>
              <a:t>已落地：Performance + Diagnostics</a:t>
            </a:r>
          </a:p>
        </p:txBody>
      </p:sp>
      <p:sp>
        <p:nvSpPr>
          <p:cNvPr id="742" name="Google Shape;742;p21">
            <a:extLst xmlns:a="http://schemas.openxmlformats.org/drawingml/2006/main">
              <a:ext uri="{FF2B5EF4-FFF2-40B4-BE49-F238E27FC236}">
                <a16:creationId xmlns:a16="http://schemas.microsoft.com/office/drawing/2014/main" id="{B27BEAEF-F257-4DC0-942F-3851A43A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49" y="2304075"/>
            <a:ext cx="4929900" cy="210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18275" rIns="45700" bIns="18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425"/>
              <a:buFont typeface="Microsoft JhengHei"/>
              <a:buNone/>
              <a:defRPr sz="1350">
                <a:solidFill>
                  <a:srgbClr val="F5FBFF"/>
                </a:solidFill>
              </a:defRPr>
            </a:pPr>
            <a:r>
              <a:rPr sz="1350" b="0" i="0" u="none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• 分開統計來源缺口、iPhone send drop、latest-frame overwrite 與 decode failure</a:t>
            </a:r>
          </a:p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425"/>
              <a:buFont typeface="Microsoft JhengHei"/>
              <a:buNone/>
              <a:defRPr sz="1350">
                <a:solidFill>
                  <a:srgbClr val="F5FBFF"/>
                </a:solidFill>
              </a:defRPr>
            </a:pPr>
            <a:r>
              <a:rPr sz="1350" b="0" i="0" u="none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• 顯示 FPS、P50/P95/P99 latency、失追 frame 區間</a:t>
            </a:r>
          </a:p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425"/>
              <a:buFont typeface="Microsoft JhengHei"/>
              <a:buNone/>
              <a:defRPr sz="1350">
                <a:solidFill>
                  <a:srgbClr val="F5FBFF"/>
                </a:solidFill>
              </a:defRPr>
            </a:pPr>
            <a:r>
              <a:rPr sz="1350">
                <a:solidFill>
                  <a:srgbClr val="F5FBFF"/>
                </a:solidFill>
                <a:latin typeface="Arial"/>
                <a:ea typeface="Arial"/>
                <a:cs typeface="Arial"/>
              </a:rPr>
              <a:t>• 一鍵彙整 detector、tracker、ReID、GMC、SQLite、WebSocket、DockKit 與 motor 狀態</a:t>
            </a:r>
          </a:p>
        </p:txBody>
      </p:sp>
      <p:sp>
        <p:nvSpPr>
          <p:cNvPr id="743" name="Google Shape;743;p21">
            <a:extLst xmlns:a="http://schemas.openxmlformats.org/drawingml/2006/main">
              <a:ext uri="{FF2B5EF4-FFF2-40B4-BE49-F238E27FC236}">
                <a16:creationId xmlns:a16="http://schemas.microsoft.com/office/drawing/2014/main" id="{49BE4471-5A02-4C6A-9BAD-F076A5BF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72312"/>
            <a:ext cx="4572000" cy="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C440"/>
              </a:buClr>
              <a:buSzPts val="1200"/>
              <a:buFont typeface="Microsoft JhengHei"/>
              <a:buNone/>
            </a:pPr>
            <a:r>
              <a:rPr sz="1700" b="1" i="0" u="none" cap="none">
                <a:solidFill>
                  <a:srgbClr val="F5C440"/>
                </a:solidFill>
                <a:latin typeface="Microsoft JhengHei"/>
                <a:ea typeface="Microsoft JhengHei"/>
                <a:cs typeface="Microsoft JhengHei"/>
              </a:rPr>
              <a:t>結構化事件可定位到來源、演算法、網路或硬體執行層。</a:t>
            </a:r>
          </a:p>
        </p:txBody>
      </p:sp>
      <p:sp>
        <p:nvSpPr>
          <p:cNvPr id="744" name="Google Shape;744;p21">
            <a:extLst xmlns:a="http://schemas.openxmlformats.org/drawingml/2006/main">
              <a:ext uri="{FF2B5EF4-FFF2-40B4-BE49-F238E27FC236}">
                <a16:creationId xmlns:a16="http://schemas.microsoft.com/office/drawing/2014/main" id="{5A3A35DF-B54C-47B6-AA3C-513C784E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870448"/>
            <a:ext cx="9738300" cy="438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61F1F"/>
          </a:solidFill>
          <a:ln xmlns:a="http://schemas.openxmlformats.org/drawingml/2006/main" w="15225" cmpd="sng">
            <a:solidFill>
              <a:srgbClr val="22EC9C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45" name="Google Shape;745;p21">
            <a:extLst xmlns:a="http://schemas.openxmlformats.org/drawingml/2006/main">
              <a:ext uri="{FF2B5EF4-FFF2-40B4-BE49-F238E27FC236}">
                <a16:creationId xmlns:a16="http://schemas.microsoft.com/office/drawing/2014/main" id="{1A9C8DE4-4424-42CB-907D-F32879A8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6007608"/>
            <a:ext cx="9555600" cy="23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275" tIns="18275" rIns="18275" bIns="18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8A"/>
              </a:buClr>
              <a:buSzPts val="1275"/>
              <a:buFont typeface="Microsoft JhengHei"/>
              <a:buNone/>
            </a:pPr>
            <a:r>
              <a:rPr sz="1775" b="1" i="0" u="none" cap="none">
                <a:solidFill>
                  <a:srgbClr val="4CE08A"/>
                </a:solidFill>
                <a:latin typeface="Microsoft JhengHei"/>
                <a:ea typeface="Microsoft JhengHei"/>
                <a:cs typeface="Microsoft JhengHei"/>
              </a:rPr>
              <a:t>PySide6 是主要工作區；Tkinter 入口保留，並共用 application use case、SQLite 與 1.0 contract。</a:t>
            </a:r>
          </a:p>
        </p:txBody>
      </p:sp>
    </p:spTree>
    <p:extLst>
      <p:ext uri="{BB962C8B-B14F-4D97-AF65-F5344CB8AC3E}">
        <p14:creationId xmlns:p14="http://schemas.microsoft.com/office/powerpoint/2010/main" val="84885939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1" name="Google Shape;751;p22">
            <a:extLst xmlns:a="http://schemas.openxmlformats.org/drawingml/2006/main">
              <a:ext uri="{FF2B5EF4-FFF2-40B4-BE49-F238E27FC236}">
                <a16:creationId xmlns:a16="http://schemas.microsoft.com/office/drawing/2014/main" id="{182F2CE2-96ED-4DFA-84D4-06F19061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52" name="Google Shape;752;p22">
            <a:extLst xmlns:a="http://schemas.openxmlformats.org/drawingml/2006/main">
              <a:ext uri="{FF2B5EF4-FFF2-40B4-BE49-F238E27FC236}">
                <a16:creationId xmlns:a16="http://schemas.microsoft.com/office/drawing/2014/main" id="{781D2158-70FE-4EAD-B76F-9D2A0EC8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53" name="Google Shape;753;p22">
            <a:extLst xmlns:a="http://schemas.openxmlformats.org/drawingml/2006/main">
              <a:ext uri="{FF2B5EF4-FFF2-40B4-BE49-F238E27FC236}">
                <a16:creationId xmlns:a16="http://schemas.microsoft.com/office/drawing/2014/main" id="{65457DD8-124D-456E-B8D9-A6A0F28D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54" name="Google Shape;754;p22">
            <a:extLst xmlns:a="http://schemas.openxmlformats.org/drawingml/2006/main">
              <a:ext uri="{FF2B5EF4-FFF2-40B4-BE49-F238E27FC236}">
                <a16:creationId xmlns:a16="http://schemas.microsoft.com/office/drawing/2014/main" id="{C8A9EFF1-4AF1-4806-9AD2-81A209FC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55" name="Google Shape;755;p22">
            <a:extLst xmlns:a="http://schemas.openxmlformats.org/drawingml/2006/main">
              <a:ext uri="{FF2B5EF4-FFF2-40B4-BE49-F238E27FC236}">
                <a16:creationId xmlns:a16="http://schemas.microsoft.com/office/drawing/2014/main" id="{8FEDC049-66EB-44AD-884A-27153E21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56" name="Google Shape;756;p22">
            <a:extLst xmlns:a="http://schemas.openxmlformats.org/drawingml/2006/main">
              <a:ext uri="{FF2B5EF4-FFF2-40B4-BE49-F238E27FC236}">
                <a16:creationId xmlns:a16="http://schemas.microsoft.com/office/drawing/2014/main" id="{F2F8E1F5-FC2A-4534-BA4B-8D75F299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12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20 SYSTEM VALUE</a:t>
            </a:r>
          </a:p>
        </p:txBody>
      </p:sp>
      <p:sp>
        <p:nvSpPr>
          <p:cNvPr id="757" name="Google Shape;757;p22">
            <a:extLst xmlns:a="http://schemas.openxmlformats.org/drawingml/2006/main">
              <a:ext uri="{FF2B5EF4-FFF2-40B4-BE49-F238E27FC236}">
                <a16:creationId xmlns:a16="http://schemas.microsoft.com/office/drawing/2014/main" id="{65E67755-F9B4-4AC2-BA3C-26C84B49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7FB"/>
              </a:buClr>
              <a:buSzPts val="2280"/>
              <a:buFont typeface="Microsoft JhengHei"/>
              <a:buNone/>
            </a:pPr>
            <a:r>
              <a:rPr sz="2280" b="1" i="0" u="none" cap="none">
                <a:solidFill>
                  <a:srgbClr val="F3F7FB"/>
                </a:solidFill>
                <a:latin typeface="Microsoft JhengHei"/>
                <a:ea typeface="Microsoft JhengHei"/>
                <a:cs typeface="Microsoft JhengHei"/>
              </a:rPr>
              <a:t>系統價值：拍攝意圖、AI 決策與硬體安全形成可驗證閉環</a:t>
            </a:r>
          </a:p>
        </p:txBody>
      </p:sp>
      <p:sp>
        <p:nvSpPr>
          <p:cNvPr id="758" name="Google Shape;758;p22">
            <a:extLst xmlns:a="http://schemas.openxmlformats.org/drawingml/2006/main">
              <a:ext uri="{FF2B5EF4-FFF2-40B4-BE49-F238E27FC236}">
                <a16:creationId xmlns:a16="http://schemas.microsoft.com/office/drawing/2014/main" id="{8708158C-9753-4AE5-A344-C69B08E6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143000"/>
            <a:ext cx="1060704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138"/>
              <a:buFont typeface="Microsoft JhengHei"/>
              <a:buNone/>
            </a:pPr>
            <a:r>
              <a:t/>
            </a:r>
          </a:p>
        </p:txBody>
      </p:sp>
      <p:sp>
        <p:nvSpPr>
          <p:cNvPr id="759" name="Google Shape;759;p22">
            <a:extLst xmlns:a="http://schemas.openxmlformats.org/drawingml/2006/main">
              <a:ext uri="{FF2B5EF4-FFF2-40B4-BE49-F238E27FC236}">
                <a16:creationId xmlns:a16="http://schemas.microsoft.com/office/drawing/2014/main" id="{5F6F1EEE-1A27-47D5-892F-783FB0C2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91640"/>
            <a:ext cx="3429000" cy="283464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5225" cmpd="sng">
            <a:solidFill>
              <a:srgbClr val="12D6D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60" name="Google Shape;760;p22">
            <a:extLst xmlns:a="http://schemas.openxmlformats.org/drawingml/2006/main">
              <a:ext uri="{FF2B5EF4-FFF2-40B4-BE49-F238E27FC236}">
                <a16:creationId xmlns:a16="http://schemas.microsoft.com/office/drawing/2014/main" id="{B96B2C00-5BFA-4273-8770-09BA757D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240280"/>
            <a:ext cx="2971800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4600"/>
              <a:buFont typeface="Play"/>
              <a:buNone/>
            </a:pPr>
            <a:r>
              <a:rPr sz="4600" b="1" i="0" u="none" cap="none">
                <a:solidFill>
                  <a:srgbClr val="12D6DF"/>
                </a:solidFill>
                <a:latin typeface="Play"/>
                <a:ea typeface="Play"/>
                <a:cs typeface="Play"/>
              </a:rPr>
              <a:t>Desktop</a:t>
            </a:r>
          </a:p>
        </p:txBody>
      </p:sp>
      <p:sp>
        <p:nvSpPr>
          <p:cNvPr id="761" name="Google Shape;761;p22">
            <a:extLst xmlns:a="http://schemas.openxmlformats.org/drawingml/2006/main">
              <a:ext uri="{FF2B5EF4-FFF2-40B4-BE49-F238E27FC236}">
                <a16:creationId xmlns:a16="http://schemas.microsoft.com/office/drawing/2014/main" id="{5840D0CC-49A4-4B84-A6EF-5EED8D3A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246120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600"/>
              <a:buFont typeface="Microsoft JhengHei"/>
              <a:buNone/>
            </a:pPr>
            <a:r>
              <a:rPr sz="18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AI 決策與身份記憶</a:t>
            </a:r>
          </a:p>
        </p:txBody>
      </p:sp>
      <p:sp>
        <p:nvSpPr>
          <p:cNvPr id="762" name="Google Shape;762;p22">
            <a:extLst xmlns:a="http://schemas.openxmlformats.org/drawingml/2006/main">
              <a:ext uri="{FF2B5EF4-FFF2-40B4-BE49-F238E27FC236}">
                <a16:creationId xmlns:a16="http://schemas.microsoft.com/office/drawing/2014/main" id="{938D3A19-96DF-4385-8D61-ADF96169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950"/>
              <a:buFont typeface="Microsoft JhengHei"/>
              <a:buNone/>
              <a:defRPr sz="1050">
                <a:solidFill>
                  <a:srgbClr val="F5FBFF"/>
                </a:solidFill>
              </a:defRPr>
            </a:pPr>
            <a:r>
              <a:rPr sz="1050" b="0" i="0" u="none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YOLO → Tracker → GID/ReID → Framing → Control Policy</a:t>
            </a:r>
          </a:p>
        </p:txBody>
      </p:sp>
      <p:sp>
        <p:nvSpPr>
          <p:cNvPr id="763" name="Google Shape;763;p22">
            <a:extLst xmlns:a="http://schemas.openxmlformats.org/drawingml/2006/main">
              <a:ext uri="{FF2B5EF4-FFF2-40B4-BE49-F238E27FC236}">
                <a16:creationId xmlns:a16="http://schemas.microsoft.com/office/drawing/2014/main" id="{08B76C9C-7252-4828-8010-C94DD013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91640"/>
            <a:ext cx="3429000" cy="283470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5225" cmpd="sng">
            <a:solidFill>
              <a:srgbClr val="FFD16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64" name="Google Shape;764;p22">
            <a:extLst xmlns:a="http://schemas.openxmlformats.org/drawingml/2006/main">
              <a:ext uri="{FF2B5EF4-FFF2-40B4-BE49-F238E27FC236}">
                <a16:creationId xmlns:a16="http://schemas.microsoft.com/office/drawing/2014/main" id="{90C364EF-0C17-4A68-ABDD-88B92FAF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240280"/>
            <a:ext cx="2971800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4600"/>
              <a:buFont typeface="Play"/>
              <a:buNone/>
            </a:pPr>
            <a:r>
              <a:rPr sz="4600" b="1" i="0" u="none" cap="none">
                <a:solidFill>
                  <a:srgbClr val="FFD166"/>
                </a:solidFill>
                <a:latin typeface="Play"/>
                <a:ea typeface="Play"/>
                <a:cs typeface="Play"/>
              </a:rPr>
              <a:t>iPhone</a:t>
            </a:r>
          </a:p>
        </p:txBody>
      </p:sp>
      <p:sp>
        <p:nvSpPr>
          <p:cNvPr id="765" name="Google Shape;765;p22">
            <a:extLst xmlns:a="http://schemas.openxmlformats.org/drawingml/2006/main">
              <a:ext uri="{FF2B5EF4-FFF2-40B4-BE49-F238E27FC236}">
                <a16:creationId xmlns:a16="http://schemas.microsoft.com/office/drawing/2014/main" id="{8304CE58-F084-48C6-8DA8-F01D92C6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246120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600"/>
              <a:buFont typeface="Microsoft JhengHei"/>
              <a:buNone/>
            </a:pPr>
            <a:r>
              <a:rPr sz="18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相機、網路與 DockKit 執行</a:t>
            </a:r>
          </a:p>
        </p:txBody>
      </p:sp>
      <p:sp>
        <p:nvSpPr>
          <p:cNvPr id="766" name="Google Shape;766;p22">
            <a:extLst xmlns:a="http://schemas.openxmlformats.org/drawingml/2006/main">
              <a:ext uri="{FF2B5EF4-FFF2-40B4-BE49-F238E27FC236}">
                <a16:creationId xmlns:a16="http://schemas.microsoft.com/office/drawing/2014/main" id="{111BBEC9-37C2-46DA-BF31-F1663B91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052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950"/>
              <a:buFont typeface="Microsoft JhengHei"/>
              <a:buNone/>
              <a:defRPr sz="1050">
                <a:solidFill>
                  <a:srgbClr val="F5FBFF"/>
                </a:solidFill>
              </a:defRPr>
            </a:pPr>
            <a:r>
              <a:rPr sz="1050" b="0" i="0" u="none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JPEG 上行；1.0 contract 驗證；DockKit + timeout STOP</a:t>
            </a:r>
          </a:p>
        </p:txBody>
      </p:sp>
      <p:sp>
        <p:nvSpPr>
          <p:cNvPr id="767" name="Google Shape;767;p22">
            <a:extLst xmlns:a="http://schemas.openxmlformats.org/drawingml/2006/main">
              <a:ext uri="{FF2B5EF4-FFF2-40B4-BE49-F238E27FC236}">
                <a16:creationId xmlns:a16="http://schemas.microsoft.com/office/drawing/2014/main" id="{ECC34A90-9891-44E0-82A8-D13295EB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91640"/>
            <a:ext cx="3429000" cy="283464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5225" cmpd="sng">
            <a:solidFill>
              <a:srgbClr val="4CE08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68" name="Google Shape;768;p22">
            <a:extLst xmlns:a="http://schemas.openxmlformats.org/drawingml/2006/main">
              <a:ext uri="{FF2B5EF4-FFF2-40B4-BE49-F238E27FC236}">
                <a16:creationId xmlns:a16="http://schemas.microsoft.com/office/drawing/2014/main" id="{72A15849-833B-44D5-AC59-D01B85A0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0280"/>
            <a:ext cx="2971800" cy="71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8A"/>
              </a:buClr>
              <a:buSzPts val="4600"/>
              <a:buFont typeface="Play"/>
              <a:buNone/>
            </a:pPr>
            <a:r>
              <a:rPr sz="4600" b="1" i="0" u="none" cap="none">
                <a:solidFill>
                  <a:srgbClr val="4CE08A"/>
                </a:solidFill>
                <a:latin typeface="Play"/>
                <a:ea typeface="Play"/>
                <a:cs typeface="Play"/>
              </a:rPr>
              <a:t>Benchmark</a:t>
            </a:r>
          </a:p>
        </p:txBody>
      </p:sp>
      <p:sp>
        <p:nvSpPr>
          <p:cNvPr id="769" name="Google Shape;769;p22">
            <a:extLst xmlns:a="http://schemas.openxmlformats.org/drawingml/2006/main">
              <a:ext uri="{FF2B5EF4-FFF2-40B4-BE49-F238E27FC236}">
                <a16:creationId xmlns:a16="http://schemas.microsoft.com/office/drawing/2014/main" id="{6027B19E-8399-4164-B0F8-0955888D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46120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90925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450"/>
              <a:buFont typeface="Microsoft JhengHei"/>
              <a:buNone/>
            </a:pPr>
            <a:r>
              <a:rPr sz="165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重現性與工程選型</a:t>
            </a:r>
          </a:p>
        </p:txBody>
      </p:sp>
      <p:sp>
        <p:nvSpPr>
          <p:cNvPr id="770" name="Google Shape;770;p22">
            <a:extLst xmlns:a="http://schemas.openxmlformats.org/drawingml/2006/main">
              <a:ext uri="{FF2B5EF4-FFF2-40B4-BE49-F238E27FC236}">
                <a16:creationId xmlns:a16="http://schemas.microsoft.com/office/drawing/2014/main" id="{15C113A9-C509-487B-998C-CABA685E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05225"/>
            <a:ext cx="319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950"/>
              <a:buFont typeface="Microsoft JhengHei"/>
              <a:buNone/>
              <a:defRPr sz="1050">
                <a:solidFill>
                  <a:srgbClr val="F5FBFF"/>
                </a:solidFill>
              </a:defRPr>
            </a:pPr>
            <a:r>
              <a:rPr sz="1050" b="0" i="0" u="none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同影片依序跑模型；保存 dataset、profile、runtime 與硬體 metadata</a:t>
            </a:r>
          </a:p>
        </p:txBody>
      </p:sp>
      <p:sp>
        <p:nvSpPr>
          <p:cNvPr id="771" name="Google Shape;771;p22">
            <a:extLst xmlns:a="http://schemas.openxmlformats.org/drawingml/2006/main">
              <a:ext uri="{FF2B5EF4-FFF2-40B4-BE49-F238E27FC236}">
                <a16:creationId xmlns:a16="http://schemas.microsoft.com/office/drawing/2014/main" id="{E8A1F975-1A74-43C3-9D5C-B3F6B03D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50" y="5120650"/>
            <a:ext cx="10241400" cy="95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D00"/>
              </a:buClr>
              <a:buSzPts val="775"/>
              <a:buFont typeface="Microsoft JhengHei"/>
              <a:buNone/>
              <a:defRPr sz="2100" b="1">
                <a:solidFill>
                  <a:srgbClr val="FF6B2B"/>
                </a:solidFill>
              </a:defRPr>
            </a:pPr>
            <a:r>
              <a:rPr sz="2100" b="1" i="0" u="none" cap="none">
                <a:solidFill>
                  <a:srgbClr val="FF6B2B"/>
                </a:solidFill>
                <a:latin typeface="Microsoft JhengHei"/>
                <a:ea typeface="Microsoft JhengHei"/>
                <a:cs typeface="Microsoft JhengHei"/>
              </a:rPr>
              <a:t>每個控制命令都能追溯到影像、身份、構圖、Policy 與安全狀態。</a:t>
            </a:r>
          </a:p>
        </p:txBody>
      </p:sp>
      <p:sp>
        <p:nvSpPr>
          <p:cNvPr id="772" name="Google Shape;772;p22">
            <a:extLst xmlns:a="http://schemas.openxmlformats.org/drawingml/2006/main">
              <a:ext uri="{FF2B5EF4-FFF2-40B4-BE49-F238E27FC236}">
                <a16:creationId xmlns:a16="http://schemas.microsoft.com/office/drawing/2014/main" id="{0EA5A5F0-33EE-448E-9367-4664D570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93268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17E"/>
              </a:buClr>
              <a:buSzPts val="580"/>
              <a:buFont typeface="Microsoft JhengHei"/>
              <a:buNone/>
            </a:pPr>
            <a:r>
              <a:rPr sz="580" b="0" i="0" u="none" cap="none">
                <a:solidFill>
                  <a:srgbClr val="66717E"/>
                </a:solidFill>
                <a:latin typeface="Microsoft JhengHei"/>
                <a:ea typeface="Microsoft JhengHei"/>
                <a:cs typeface="Microsoft JhengHei"/>
              </a:rPr>
              <a:t>實際人力與成本效益依場地、機位與工作流程驗證；本頁不使用未經實測的百分比。</a:t>
            </a:r>
          </a:p>
        </p:txBody>
      </p:sp>
      <p:sp>
        <p:nvSpPr>
          <p:cNvPr id="773" name="Google Shape;773;p22">
            <a:extLst xmlns:a="http://schemas.openxmlformats.org/drawingml/2006/main">
              <a:ext uri="{FF2B5EF4-FFF2-40B4-BE49-F238E27FC236}">
                <a16:creationId xmlns:a16="http://schemas.microsoft.com/office/drawing/2014/main" id="{41E1CAA1-D2F1-4BBF-8E05-B159E9AEE45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92128877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0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9" name="Google Shape;779;p23">
            <a:extLst xmlns:a="http://schemas.openxmlformats.org/drawingml/2006/main">
              <a:ext uri="{FF2B5EF4-FFF2-40B4-BE49-F238E27FC236}">
                <a16:creationId xmlns:a16="http://schemas.microsoft.com/office/drawing/2014/main" id="{A5DABD12-BB67-46A5-8962-C5E1F378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8640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54902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80" name="Google Shape;780;p23">
            <a:extLst xmlns:a="http://schemas.openxmlformats.org/drawingml/2006/main">
              <a:ext uri="{FF2B5EF4-FFF2-40B4-BE49-F238E27FC236}">
                <a16:creationId xmlns:a16="http://schemas.microsoft.com/office/drawing/2014/main" id="{B99C4305-1FF1-457C-964B-5E315D05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658368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47059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81" name="Google Shape;781;p23">
            <a:extLst xmlns:a="http://schemas.openxmlformats.org/drawingml/2006/main">
              <a:ext uri="{FF2B5EF4-FFF2-40B4-BE49-F238E27FC236}">
                <a16:creationId xmlns:a16="http://schemas.microsoft.com/office/drawing/2014/main" id="{9BC3BFCB-85CC-4D1F-AA81-4767F011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768096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38824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82" name="Google Shape;782;p23">
            <a:extLst xmlns:a="http://schemas.openxmlformats.org/drawingml/2006/main">
              <a:ext uri="{FF2B5EF4-FFF2-40B4-BE49-F238E27FC236}">
                <a16:creationId xmlns:a16="http://schemas.microsoft.com/office/drawing/2014/main" id="{8A5F60B8-9666-4900-A432-04E17229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877824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12D6DF">
              <a:alpha val="30980"/>
            </a:srgbClr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83" name="Google Shape;783;p23">
            <a:extLst xmlns:a="http://schemas.openxmlformats.org/drawingml/2006/main">
              <a:ext uri="{FF2B5EF4-FFF2-40B4-BE49-F238E27FC236}">
                <a16:creationId xmlns:a16="http://schemas.microsoft.com/office/drawing/2014/main" id="{DE71E473-99E4-43A8-BE22-67122105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987552"/>
            <a:ext cx="2011680" cy="109728"/>
          </a:xfrm>
          <a:prstGeom xmlns:a="http://schemas.openxmlformats.org/drawingml/2006/main" prst="parallelogram">
            <a:avLst>
              <a:gd name="adj" fmla="val 25000"/>
            </a:avLst>
          </a:prstGeom>
          <a:solidFill xmlns:a="http://schemas.openxmlformats.org/drawingml/2006/main">
            <a:srgbClr val="FF4D00">
              <a:alpha val="23137"/>
            </a:srgbClr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84" name="Google Shape;784;p23">
            <a:extLst xmlns:a="http://schemas.openxmlformats.org/drawingml/2006/main">
              <a:ext uri="{FF2B5EF4-FFF2-40B4-BE49-F238E27FC236}">
                <a16:creationId xmlns:a16="http://schemas.microsoft.com/office/drawing/2014/main" id="{D05D70CF-09F4-409C-AA8F-30862401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"/>
            <a:ext cx="438912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D6DF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21 ROADMAP</a:t>
            </a:r>
          </a:p>
        </p:txBody>
      </p:sp>
      <p:sp>
        <p:nvSpPr>
          <p:cNvPr id="785" name="Google Shape;785;p23">
            <a:extLst xmlns:a="http://schemas.openxmlformats.org/drawingml/2006/main">
              <a:ext uri="{FF2B5EF4-FFF2-40B4-BE49-F238E27FC236}">
                <a16:creationId xmlns:a16="http://schemas.microsoft.com/office/drawing/2014/main" id="{FC65EB33-E89B-4C56-B08C-8879A64A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6070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7FB"/>
              </a:buClr>
              <a:buSzPts val="2280"/>
              <a:buFont typeface="Microsoft JhengHei"/>
              <a:buNone/>
            </a:pPr>
            <a:r>
              <a:rPr sz="2280" b="1" i="0" u="none" cap="none">
                <a:solidFill>
                  <a:srgbClr val="F3F7FB"/>
                </a:solidFill>
                <a:latin typeface="Microsoft JhengHei"/>
                <a:ea typeface="Microsoft JhengHei"/>
                <a:cs typeface="Microsoft JhengHei"/>
              </a:rPr>
              <a:t>V2.3 已完成模組化與 Benchmark，下一步擴大資料與多機能力</a:t>
            </a:r>
          </a:p>
        </p:txBody>
      </p:sp>
      <p:sp>
        <p:nvSpPr>
          <p:cNvPr id="786" name="Google Shape;786;p23">
            <a:extLst xmlns:a="http://schemas.openxmlformats.org/drawingml/2006/main">
              <a:ext uri="{FF2B5EF4-FFF2-40B4-BE49-F238E27FC236}">
                <a16:creationId xmlns:a16="http://schemas.microsoft.com/office/drawing/2014/main" id="{007CCDB1-F9B2-4757-8163-D8FB351A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25880"/>
            <a:ext cx="2743200" cy="3520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2700" cmpd="sng">
            <a:solidFill>
              <a:srgbClr val="FF4D00">
                <a:alpha val="8509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87" name="Google Shape;787;p23">
            <a:extLst xmlns:a="http://schemas.openxmlformats.org/drawingml/2006/main">
              <a:ext uri="{FF2B5EF4-FFF2-40B4-BE49-F238E27FC236}">
                <a16:creationId xmlns:a16="http://schemas.microsoft.com/office/drawing/2014/main" id="{68BEF820-DF32-4866-8C66-AA075C9B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527048"/>
            <a:ext cx="234086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400"/>
              <a:buFont typeface="Microsoft JhengHei"/>
              <a:buNone/>
            </a:pPr>
            <a:r>
              <a:rPr sz="19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近期：Golden Dataset</a:t>
            </a:r>
          </a:p>
        </p:txBody>
      </p:sp>
      <p:sp>
        <p:nvSpPr>
          <p:cNvPr id="788" name="Google Shape;788;p23">
            <a:extLst xmlns:a="http://schemas.openxmlformats.org/drawingml/2006/main">
              <a:ext uri="{FF2B5EF4-FFF2-40B4-BE49-F238E27FC236}">
                <a16:creationId xmlns:a16="http://schemas.microsoft.com/office/drawing/2014/main" id="{5DF7A58E-9813-442F-B773-A77BE846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892808"/>
            <a:ext cx="56692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00"/>
          </a:solidFill>
          <a:ln xmlns:a="http://schemas.openxmlformats.org/drawingml/2006/main" w="12700" cmpd="sng">
            <a:solidFill>
              <a:srgbClr val="FF4D00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89" name="Google Shape;789;p23">
            <a:extLst xmlns:a="http://schemas.openxmlformats.org/drawingml/2006/main">
              <a:ext uri="{FF2B5EF4-FFF2-40B4-BE49-F238E27FC236}">
                <a16:creationId xmlns:a16="http://schemas.microsoft.com/office/drawing/2014/main" id="{F66BA439-814B-4BA3-8112-38F89412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600" y="2103088"/>
            <a:ext cx="2462700" cy="260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350"/>
              <a:buFont typeface="Microsoft JhengHei"/>
              <a:buNone/>
              <a:defRPr sz="1275">
                <a:solidFill>
                  <a:srgbClr val="F5FBFF"/>
                </a:solidFill>
              </a:defRPr>
            </a:pPr>
            <a:r>
              <a:rPr sz="1275" b="0" i="0" u="none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建立版本化影片、JSONL 標註與固定 train / validation / test split。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350"/>
              <a:buFont typeface="Microsoft JhengHei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350"/>
              <a:buFont typeface="Microsoft JhengHei"/>
              <a:buNone/>
              <a:defRPr sz="1275">
                <a:solidFill>
                  <a:srgbClr val="F5FBFF"/>
                </a:solidFill>
              </a:defRPr>
            </a:pPr>
            <a:r>
              <a:rPr sz="1275" b="0" i="0" u="none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以官方 COCOeval、TrackEval 與產品門檻驗證發布數字。</a:t>
            </a:r>
          </a:p>
        </p:txBody>
      </p:sp>
      <p:sp>
        <p:nvSpPr>
          <p:cNvPr id="790" name="Google Shape;790;p23">
            <a:extLst xmlns:a="http://schemas.openxmlformats.org/drawingml/2006/main">
              <a:ext uri="{FF2B5EF4-FFF2-40B4-BE49-F238E27FC236}">
                <a16:creationId xmlns:a16="http://schemas.microsoft.com/office/drawing/2014/main" id="{28E58655-B6D7-43CB-811F-91D948D4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325880"/>
            <a:ext cx="2743200" cy="3520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2700" cmpd="sng">
            <a:solidFill>
              <a:srgbClr val="12D6DF">
                <a:alpha val="8509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91" name="Google Shape;791;p23">
            <a:extLst xmlns:a="http://schemas.openxmlformats.org/drawingml/2006/main">
              <a:ext uri="{FF2B5EF4-FFF2-40B4-BE49-F238E27FC236}">
                <a16:creationId xmlns:a16="http://schemas.microsoft.com/office/drawing/2014/main" id="{4D1080C2-5C3F-407E-BEB8-BD1AD992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1527048"/>
            <a:ext cx="234086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400"/>
              <a:buFont typeface="Microsoft JhengHei"/>
              <a:buNone/>
            </a:pPr>
            <a:r>
              <a:rPr sz="19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近期：iOS 實機強化</a:t>
            </a:r>
          </a:p>
        </p:txBody>
      </p:sp>
      <p:sp>
        <p:nvSpPr>
          <p:cNvPr id="792" name="Google Shape;792;p23">
            <a:extLst xmlns:a="http://schemas.openxmlformats.org/drawingml/2006/main">
              <a:ext uri="{FF2B5EF4-FFF2-40B4-BE49-F238E27FC236}">
                <a16:creationId xmlns:a16="http://schemas.microsoft.com/office/drawing/2014/main" id="{4E7C8B7E-65F0-42AF-A34D-204C814E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1892808"/>
            <a:ext cx="56692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D6DF"/>
          </a:solidFill>
          <a:ln xmlns:a="http://schemas.openxmlformats.org/drawingml/2006/main" w="12700" cmpd="sng">
            <a:solidFill>
              <a:srgbClr val="12D6DF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93" name="Google Shape;793;p23">
            <a:extLst xmlns:a="http://schemas.openxmlformats.org/drawingml/2006/main">
              <a:ext uri="{FF2B5EF4-FFF2-40B4-BE49-F238E27FC236}">
                <a16:creationId xmlns:a16="http://schemas.microsoft.com/office/drawing/2014/main" id="{6CCFDBC5-9226-4AF9-BA7C-C5ED4C2B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0687" y="2103100"/>
            <a:ext cx="2462700" cy="260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350"/>
              <a:buFont typeface="Microsoft JhengHei"/>
              <a:buNone/>
              <a:defRPr sz="1275">
                <a:solidFill>
                  <a:srgbClr val="F5FBFF"/>
                </a:solidFill>
              </a:defRPr>
            </a:pPr>
            <a:r>
              <a:rPr sz="1275" b="0" i="0" u="none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擴充不同網路、不同 DockKit 裝置與長時間連線測試。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C0CA"/>
              </a:buClr>
              <a:buSzPts val="1350"/>
              <a:buFont typeface="Microsoft JhengHei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350"/>
              <a:buFont typeface="Microsoft JhengHei"/>
              <a:buNone/>
              <a:defRPr sz="1275">
                <a:solidFill>
                  <a:srgbClr val="F5FBFF"/>
                </a:solidFill>
              </a:defRPr>
            </a:pPr>
            <a:r>
              <a:rPr sz="1275" b="1" i="0" u="sng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強化 calibration、重連、背景切換與失效安全紀錄。</a:t>
            </a:r>
          </a:p>
        </p:txBody>
      </p:sp>
      <p:sp>
        <p:nvSpPr>
          <p:cNvPr id="794" name="Google Shape;794;p23">
            <a:extLst xmlns:a="http://schemas.openxmlformats.org/drawingml/2006/main">
              <a:ext uri="{FF2B5EF4-FFF2-40B4-BE49-F238E27FC236}">
                <a16:creationId xmlns:a16="http://schemas.microsoft.com/office/drawing/2014/main" id="{F282724B-BCBB-44AC-A933-6AE593CC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325880"/>
            <a:ext cx="2560320" cy="352044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2700" cmpd="sng">
            <a:solidFill>
              <a:srgbClr val="FFD166">
                <a:alpha val="8509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95" name="Google Shape;795;p23">
            <a:extLst xmlns:a="http://schemas.openxmlformats.org/drawingml/2006/main">
              <a:ext uri="{FF2B5EF4-FFF2-40B4-BE49-F238E27FC236}">
                <a16:creationId xmlns:a16="http://schemas.microsoft.com/office/drawing/2014/main" id="{A1663F5F-FAAC-4ACF-8CA4-47D9DF8D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527048"/>
            <a:ext cx="215798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400"/>
              <a:buFont typeface="Microsoft JhengHei"/>
              <a:buNone/>
            </a:pPr>
            <a:r>
              <a:rPr sz="19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中期：多機 AI 中控</a:t>
            </a:r>
          </a:p>
        </p:txBody>
      </p:sp>
      <p:sp>
        <p:nvSpPr>
          <p:cNvPr id="796" name="Google Shape;796;p23">
            <a:extLst xmlns:a="http://schemas.openxmlformats.org/drawingml/2006/main">
              <a:ext uri="{FF2B5EF4-FFF2-40B4-BE49-F238E27FC236}">
                <a16:creationId xmlns:a16="http://schemas.microsoft.com/office/drawing/2014/main" id="{2068CE5E-0A28-4993-9C81-B748B75C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892808"/>
            <a:ext cx="56692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12700" cmpd="sng">
            <a:solidFill>
              <a:srgbClr val="FFD166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97" name="Google Shape;797;p23">
            <a:extLst xmlns:a="http://schemas.openxmlformats.org/drawingml/2006/main">
              <a:ext uri="{FF2B5EF4-FFF2-40B4-BE49-F238E27FC236}">
                <a16:creationId xmlns:a16="http://schemas.microsoft.com/office/drawing/2014/main" id="{2860A351-62C8-4A01-B6EA-1737A58E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88" y="2103100"/>
            <a:ext cx="2321400" cy="260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350"/>
              <a:buFont typeface="Microsoft JhengHei"/>
              <a:buNone/>
              <a:defRPr sz="1275">
                <a:solidFill>
                  <a:srgbClr val="F5FBFF"/>
                </a:solidFill>
              </a:defRPr>
            </a:pPr>
            <a:r>
              <a:rPr sz="1275" b="0" i="0" u="none" cap="none">
                <a:solidFill>
                  <a:srgbClr val="F5FBFF"/>
                </a:solidFill>
                <a:latin typeface="Microsoft JhengHei"/>
                <a:ea typeface="Microsoft JhengHei"/>
                <a:cs typeface="Microsoft JhengHei"/>
              </a:rPr>
              <a:t>管理多支 iPhone、相機與雲台；整合跨機身份、機位狀態與導播輔助決策。</a:t>
            </a:r>
          </a:p>
        </p:txBody>
      </p:sp>
      <p:sp>
        <p:nvSpPr>
          <p:cNvPr id="798" name="Google Shape;798;p23">
            <a:extLst xmlns:a="http://schemas.openxmlformats.org/drawingml/2006/main">
              <a:ext uri="{FF2B5EF4-FFF2-40B4-BE49-F238E27FC236}">
                <a16:creationId xmlns:a16="http://schemas.microsoft.com/office/drawing/2014/main" id="{7A55D77A-DF9C-47BA-B4A9-CAC6FC3E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1325880"/>
            <a:ext cx="2423160" cy="352044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111922"/>
          </a:solidFill>
          <a:ln xmlns:a="http://schemas.openxmlformats.org/drawingml/2006/main" w="12700" cmpd="sng">
            <a:solidFill>
              <a:srgbClr val="4CE08A">
                <a:alpha val="8509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799" name="Google Shape;799;p23">
            <a:extLst xmlns:a="http://schemas.openxmlformats.org/drawingml/2006/main">
              <a:ext uri="{FF2B5EF4-FFF2-40B4-BE49-F238E27FC236}">
                <a16:creationId xmlns:a16="http://schemas.microsoft.com/office/drawing/2014/main" id="{64BC05E9-4E85-478F-8804-7AA53520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888" y="1527048"/>
            <a:ext cx="2020824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7FA"/>
              </a:buClr>
              <a:buSzPts val="1400"/>
              <a:buFont typeface="Microsoft JhengHei"/>
              <a:buNone/>
            </a:pPr>
            <a:r>
              <a:rPr sz="1900" b="1" i="0" u="none" cap="none">
                <a:solidFill>
                  <a:srgbClr val="F4F7FA"/>
                </a:solidFill>
                <a:latin typeface="Microsoft JhengHei"/>
                <a:ea typeface="Microsoft JhengHei"/>
                <a:cs typeface="Microsoft JhengHei"/>
              </a:rPr>
              <a:t>中長期：場景拓展</a:t>
            </a:r>
          </a:p>
        </p:txBody>
      </p:sp>
      <p:sp>
        <p:nvSpPr>
          <p:cNvPr id="800" name="Google Shape;800;p23">
            <a:extLst xmlns:a="http://schemas.openxmlformats.org/drawingml/2006/main">
              <a:ext uri="{FF2B5EF4-FFF2-40B4-BE49-F238E27FC236}">
                <a16:creationId xmlns:a16="http://schemas.microsoft.com/office/drawing/2014/main" id="{C9272E8D-6C48-43C2-AC1B-2CD094CF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888" y="1892808"/>
            <a:ext cx="566928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E08A"/>
          </a:solidFill>
          <a:ln xmlns:a="http://schemas.openxmlformats.org/drawingml/2006/main" w="12700" cmpd="sng">
            <a:solidFill>
              <a:srgbClr val="4CE08A">
                <a:alpha val="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801" name="Google Shape;801;p23">
            <a:extLst xmlns:a="http://schemas.openxmlformats.org/drawingml/2006/main">
              <a:ext uri="{FF2B5EF4-FFF2-40B4-BE49-F238E27FC236}">
                <a16:creationId xmlns:a16="http://schemas.microsoft.com/office/drawing/2014/main" id="{63A8D318-1A6F-4C7B-8CFC-81DE384C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0001" y="2103100"/>
            <a:ext cx="2157900" cy="260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8C2CC"/>
              </a:buClr>
              <a:buSzPts val="1350"/>
              <a:buFont typeface="Microsoft JhengHei"/>
              <a:buNone/>
            </a:pPr>
            <a:r>
              <a:rPr sz="1450" b="0" i="0" u="none" cap="non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</a:rPr>
              <a:t>由賽車延伸到運動、拍賣與活動紀錄；依場景建立 framing profile、資料集與驗收門檻。</a:t>
            </a:r>
          </a:p>
        </p:txBody>
      </p:sp>
      <p:sp>
        <p:nvSpPr>
          <p:cNvPr id="802" name="Google Shape;802;p23">
            <a:extLst xmlns:a="http://schemas.openxmlformats.org/drawingml/2006/main">
              <a:ext uri="{FF2B5EF4-FFF2-40B4-BE49-F238E27FC236}">
                <a16:creationId xmlns:a16="http://schemas.microsoft.com/office/drawing/2014/main" id="{8720CFB0-3064-4783-B54D-B038A2EC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94960"/>
            <a:ext cx="8549640" cy="566928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12700" cmpd="sng">
            <a:solidFill>
              <a:srgbClr val="FF4D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</a:p>
        </p:txBody>
      </p:sp>
      <p:sp>
        <p:nvSpPr>
          <p:cNvPr id="803" name="Google Shape;803;p23">
            <a:extLst xmlns:a="http://schemas.openxmlformats.org/drawingml/2006/main">
              <a:ext uri="{FF2B5EF4-FFF2-40B4-BE49-F238E27FC236}">
                <a16:creationId xmlns:a16="http://schemas.microsoft.com/office/drawing/2014/main" id="{E757CDE4-7A1B-4979-B6D9-0078F416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486400"/>
            <a:ext cx="82753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7FB"/>
              </a:buClr>
              <a:buSzPts val="1725"/>
              <a:buFont typeface="Microsoft JhengHei"/>
              <a:buNone/>
            </a:pPr>
            <a:r>
              <a:rPr sz="1769" b="1" i="0" u="sng" cap="none">
                <a:solidFill>
                  <a:srgbClr val="FF4D00"/>
                </a:solidFill>
                <a:latin typeface="Microsoft JhengHei"/>
                <a:ea typeface="Microsoft JhengHei"/>
                <a:cs typeface="Microsoft JhengHei"/>
              </a:rPr>
              <a:t>目標：從可靠的單機閉環，擴展成可量測、可稽核、可調度的多機 AI 拍攝平台。</a:t>
            </a:r>
          </a:p>
        </p:txBody>
      </p:sp>
      <p:sp>
        <p:nvSpPr>
          <p:cNvPr id="804" name="Google Shape;804;p23">
            <a:extLst xmlns:a="http://schemas.openxmlformats.org/drawingml/2006/main">
              <a:ext uri="{FF2B5EF4-FFF2-40B4-BE49-F238E27FC236}">
                <a16:creationId xmlns:a16="http://schemas.microsoft.com/office/drawing/2014/main" id="{2396B386-2F46-462D-94BD-483AD140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932688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17E"/>
              </a:buClr>
              <a:buSzPts val="580"/>
              <a:buFont typeface="Microsoft JhengHei"/>
              <a:buNone/>
            </a:pPr>
            <a:r>
              <a:rPr sz="580" b="0" i="0" u="none" cap="none">
                <a:solidFill>
                  <a:srgbClr val="66717E"/>
                </a:solidFill>
                <a:latin typeface="Microsoft JhengHei"/>
                <a:ea typeface="Microsoft JhengHei"/>
                <a:cs typeface="Microsoft JhengHei"/>
              </a:rPr>
              <a:t>現況依據：AI Vision Director V2.3 README 與架構文件；Roadmap 項目不列為現行功能。</a:t>
            </a:r>
          </a:p>
        </p:txBody>
      </p:sp>
      <p:sp>
        <p:nvSpPr>
          <p:cNvPr id="805" name="Google Shape;805;p23">
            <a:extLst xmlns:a="http://schemas.openxmlformats.org/drawingml/2006/main">
              <a:ext uri="{FF2B5EF4-FFF2-40B4-BE49-F238E27FC236}">
                <a16:creationId xmlns:a16="http://schemas.microsoft.com/office/drawing/2014/main" id="{831403C4-9C62-48B4-AC61-861E6AB9657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1168" y="6519672"/>
            <a:ext cx="8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8A99"/>
              </a:buClr>
              <a:buSzPts val="700"/>
              <a:buFont typeface="Arial"/>
              <a:buNone/>
            </a:pPr>
            <a:fld id="{00000000-1234-1234-1234-123412341234}" type="slidenum">
              <a:rPr sz="700" b="0">
                <a:solidFill>
                  <a:srgbClr val="7C8A99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844205028"/>
      </p:ext>
    </p:extLst>
  </p:cSld>
</p:sld>
</file>

<file path=ppt/slides/slide2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f75619b784642e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1" name="Google Shape;811;p24">
            <a:extLst xmlns:a="http://schemas.openxmlformats.org/drawingml/2006/main">
              <a:ext uri="{FF2B5EF4-FFF2-40B4-BE49-F238E27FC236}">
                <a16:creationId xmlns:a16="http://schemas.microsoft.com/office/drawing/2014/main" id="{76FFB8D1-CBCD-4DBE-8911-D19EC15C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142" y="56956"/>
            <a:ext cx="10465407" cy="6405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sz="1800" b="1" i="0">
                <a:latin typeface="Arial"/>
                <a:ea typeface="Arial"/>
                <a:cs typeface="Arial"/>
              </a:rPr>
              <a:t>AI VISION DIRECTOR</a:t>
            </a:r>
          </a:p>
        </p:txBody>
      </p:sp>
      <p:cxnSp>
        <p:nvCxnSpPr>
          <p:cNvPr id="829" name="Google Shape;812;p24"/>
          <p:cNvCxnSpPr/>
          <p:nvPr/>
        </p:nvCxnSpPr>
        <p:spPr>
          <a:xfrm xmlns:a="http://schemas.openxmlformats.org/drawingml/2006/main" rot="10800000">
            <a:off x="6095850" y="-6095850"/>
            <a:ext cx="0" cy="12191700"/>
          </a:xfrm>
          <a:prstGeom xmlns:a="http://schemas.openxmlformats.org/drawingml/2006/main" prst="straightConnector1">
            <a:avLst/>
          </a:prstGeom>
          <a:ln xmlns:a="http://schemas.openxmlformats.org/drawingml/2006/main" w="16500" cap="flat">
            <a:solidFill>
              <a:srgbClr val="FF4D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30" name="Google Shape;813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8c32bd82cb402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6777038"/>
            <a:ext cx="12192000" cy="14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14" name="Google Shape;814;p24">
            <a:extLst xmlns:a="http://schemas.openxmlformats.org/drawingml/2006/main">
              <a:ext uri="{FF2B5EF4-FFF2-40B4-BE49-F238E27FC236}">
                <a16:creationId xmlns:a16="http://schemas.microsoft.com/office/drawing/2014/main" id="{0FC29556-CA65-4510-BBEE-B7333C2E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1" i="0" u="none" cap="none">
                <a:solidFill>
                  <a:srgbClr val="EEF7FA"/>
                </a:solidFill>
                <a:latin typeface="Arial"/>
                <a:ea typeface="Arial"/>
                <a:cs typeface="Arial"/>
              </a:rPr>
              <a:t>感謝您的聆聽</a:t>
            </a:r>
          </a:p>
        </p:txBody>
      </p:sp>
      <p:sp>
        <p:nvSpPr>
          <p:cNvPr id="815" name="Google Shape;815;p24">
            <a:extLst xmlns:a="http://schemas.openxmlformats.org/drawingml/2006/main">
              <a:ext uri="{FF2B5EF4-FFF2-40B4-BE49-F238E27FC236}">
                <a16:creationId xmlns:a16="http://schemas.microsoft.com/office/drawing/2014/main" id="{5631A97C-616E-499D-A29A-EDC2F99B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i="0" u="none" cap="none">
                <a:solidFill>
                  <a:srgbClr val="12D6DF"/>
                </a:solidFill>
                <a:latin typeface="Arial"/>
                <a:ea typeface="Arial"/>
                <a:cs typeface="Arial"/>
              </a:rPr>
              <a:t>DESKTOP AI × IPHONE CAMERA × DOCKKIT CONTROL</a:t>
            </a:r>
          </a:p>
        </p:txBody>
      </p:sp>
      <p:sp>
        <p:nvSpPr>
          <p:cNvPr id="816" name="Google Shape;816;p24">
            <a:extLst xmlns:a="http://schemas.openxmlformats.org/drawingml/2006/main">
              <a:ext uri="{FF2B5EF4-FFF2-40B4-BE49-F238E27FC236}">
                <a16:creationId xmlns:a16="http://schemas.microsoft.com/office/drawing/2014/main" id="{D4C5B9B3-6CF5-4331-97F3-F0925D89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9525000" cy="4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1" i="0" u="none" cap="none">
                <a:solidFill>
                  <a:srgbClr val="FF5B1A"/>
                </a:solidFill>
                <a:latin typeface="Play"/>
                <a:ea typeface="Play"/>
                <a:cs typeface="Play"/>
              </a:rPr>
              <a:t>AI Vision Director Desktop V2.3</a:t>
            </a:r>
          </a:p>
        </p:txBody>
      </p:sp>
      <p:sp>
        <p:nvSpPr>
          <p:cNvPr id="817" name="Google Shape;817;p24">
            <a:extLst xmlns:a="http://schemas.openxmlformats.org/drawingml/2006/main">
              <a:ext uri="{FF2B5EF4-FFF2-40B4-BE49-F238E27FC236}">
                <a16:creationId xmlns:a16="http://schemas.microsoft.com/office/drawing/2014/main" id="{77184AE4-C844-4A43-9504-0F5CC419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6519672"/>
            <a:ext cx="1737300" cy="16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0" i="0" u="none" cap="none">
                <a:solidFill>
                  <a:srgbClr val="7C8A99"/>
                </a:solidFill>
                <a:latin typeface="Arial"/>
                <a:ea typeface="Arial"/>
                <a:cs typeface="Arial"/>
              </a:rPr>
              <a:t>Desktop V2.3 · iOS V2.2</a:t>
            </a:r>
          </a:p>
        </p:txBody>
      </p:sp>
    </p:spTree>
    <p:extLst>
      <p:ext uri="{BB962C8B-B14F-4D97-AF65-F5344CB8AC3E}">
        <p14:creationId xmlns:p14="http://schemas.microsoft.com/office/powerpoint/2010/main" val="118222132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5ED1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2026-07-28T08:55:08.7880000Z</dcterms:created>
  <dcterms:modified xsi:type="dcterms:W3CDTF">2026-07-28T08:55:08.7880000Z</dcterms:modified>
</coreProperties>
</file>